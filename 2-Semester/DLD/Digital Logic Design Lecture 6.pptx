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9" r:id="rId3"/>
    <p:sldId id="257" r:id="rId4"/>
    <p:sldId id="258"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smtClean="0"/>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43AFB53E-DBDE-4D04-9D7D-D0E42A5F676C}" type="datetimeFigureOut">
              <a:rPr lang="en-US" smtClean="0"/>
              <a:t>3/23/2025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BA91E8-8C32-418F-8E61-54D9B4CF29AA}"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789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3AFB53E-DBDE-4D04-9D7D-D0E42A5F676C}" type="datetimeFigureOut">
              <a:rPr lang="en-US" smtClean="0"/>
              <a:t>3/23/2025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BA91E8-8C32-418F-8E61-54D9B4CF29AA}" type="slidenum">
              <a:rPr lang="en-US" smtClean="0"/>
              <a:t>‹#›</a:t>
            </a:fld>
            <a:endParaRPr lang="en-US"/>
          </a:p>
        </p:txBody>
      </p:sp>
    </p:spTree>
    <p:extLst>
      <p:ext uri="{BB962C8B-B14F-4D97-AF65-F5344CB8AC3E}">
        <p14:creationId xmlns:p14="http://schemas.microsoft.com/office/powerpoint/2010/main" val="13681768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smtClean="0"/>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3AFB53E-DBDE-4D04-9D7D-D0E42A5F676C}" type="datetimeFigureOut">
              <a:rPr lang="en-US" smtClean="0"/>
              <a:t>3/23/2025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BA91E8-8C32-418F-8E61-54D9B4CF29AA}"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51118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3AFB53E-DBDE-4D04-9D7D-D0E42A5F676C}" type="datetimeFigureOut">
              <a:rPr lang="en-US" smtClean="0"/>
              <a:t>3/23/2025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3BA91E8-8C32-418F-8E61-54D9B4CF29AA}" type="slidenum">
              <a:rPr lang="en-US" smtClean="0"/>
              <a:t>‹#›</a:t>
            </a:fld>
            <a:endParaRPr lang="en-US"/>
          </a:p>
        </p:txBody>
      </p:sp>
    </p:spTree>
    <p:extLst>
      <p:ext uri="{BB962C8B-B14F-4D97-AF65-F5344CB8AC3E}">
        <p14:creationId xmlns:p14="http://schemas.microsoft.com/office/powerpoint/2010/main" val="24282205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smtClean="0"/>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3AFB53E-DBDE-4D04-9D7D-D0E42A5F676C}" type="datetimeFigureOut">
              <a:rPr lang="en-US" smtClean="0"/>
              <a:t>3/23/2025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3BA91E8-8C32-418F-8E61-54D9B4CF29AA}" type="slidenum">
              <a:rPr lang="en-US" smtClean="0"/>
              <a:t>‹#›</a:t>
            </a:fld>
            <a:endParaRPr lang="en-US"/>
          </a:p>
        </p:txBody>
      </p:sp>
    </p:spTree>
    <p:extLst>
      <p:ext uri="{BB962C8B-B14F-4D97-AF65-F5344CB8AC3E}">
        <p14:creationId xmlns:p14="http://schemas.microsoft.com/office/powerpoint/2010/main" val="9222506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43AFB53E-DBDE-4D04-9D7D-D0E42A5F676C}" type="datetimeFigureOut">
              <a:rPr lang="en-US" smtClean="0"/>
              <a:t>3/23/2025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3BA91E8-8C32-418F-8E61-54D9B4CF29AA}" type="slidenum">
              <a:rPr lang="en-US" smtClean="0"/>
              <a:t>‹#›</a:t>
            </a:fld>
            <a:endParaRPr lang="en-US"/>
          </a:p>
        </p:txBody>
      </p:sp>
    </p:spTree>
    <p:extLst>
      <p:ext uri="{BB962C8B-B14F-4D97-AF65-F5344CB8AC3E}">
        <p14:creationId xmlns:p14="http://schemas.microsoft.com/office/powerpoint/2010/main" val="24540414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3AFB53E-DBDE-4D04-9D7D-D0E42A5F676C}" type="datetimeFigureOut">
              <a:rPr lang="en-US" smtClean="0"/>
              <a:t>3/23/2025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3BA91E8-8C32-418F-8E61-54D9B4CF29AA}" type="slidenum">
              <a:rPr lang="en-US" smtClean="0"/>
              <a:t>‹#›</a:t>
            </a:fld>
            <a:endParaRPr lang="en-US"/>
          </a:p>
        </p:txBody>
      </p:sp>
    </p:spTree>
    <p:extLst>
      <p:ext uri="{BB962C8B-B14F-4D97-AF65-F5344CB8AC3E}">
        <p14:creationId xmlns:p14="http://schemas.microsoft.com/office/powerpoint/2010/main" val="8869950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smtClean="0"/>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3AFB53E-DBDE-4D04-9D7D-D0E42A5F676C}" type="datetimeFigureOut">
              <a:rPr lang="en-US" smtClean="0"/>
              <a:t>3/23/2025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3BA91E8-8C32-418F-8E61-54D9B4CF29AA}" type="slidenum">
              <a:rPr lang="en-US" smtClean="0"/>
              <a:t>‹#›</a:t>
            </a:fld>
            <a:endParaRPr lang="en-US"/>
          </a:p>
        </p:txBody>
      </p:sp>
    </p:spTree>
    <p:extLst>
      <p:ext uri="{BB962C8B-B14F-4D97-AF65-F5344CB8AC3E}">
        <p14:creationId xmlns:p14="http://schemas.microsoft.com/office/powerpoint/2010/main" val="11598583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3AFB53E-DBDE-4D04-9D7D-D0E42A5F676C}" type="datetimeFigureOut">
              <a:rPr lang="en-US" smtClean="0"/>
              <a:t>3/23/2025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3BA91E8-8C32-418F-8E61-54D9B4CF29AA}"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35126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3AFB53E-DBDE-4D04-9D7D-D0E42A5F676C}" type="datetimeFigureOut">
              <a:rPr lang="en-US" smtClean="0"/>
              <a:t>3/23/2025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BA91E8-8C32-418F-8E61-54D9B4CF29AA}" type="slidenum">
              <a:rPr lang="en-US" smtClean="0"/>
              <a:t>‹#›</a:t>
            </a:fld>
            <a:endParaRPr lang="en-US"/>
          </a:p>
        </p:txBody>
      </p:sp>
    </p:spTree>
    <p:extLst>
      <p:ext uri="{BB962C8B-B14F-4D97-AF65-F5344CB8AC3E}">
        <p14:creationId xmlns:p14="http://schemas.microsoft.com/office/powerpoint/2010/main" val="17433249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3AFB53E-DBDE-4D04-9D7D-D0E42A5F676C}" type="datetimeFigureOut">
              <a:rPr lang="en-US" smtClean="0"/>
              <a:t>3/23/2025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BA91E8-8C32-418F-8E61-54D9B4CF29AA}" type="slidenum">
              <a:rPr lang="en-US" smtClean="0"/>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2955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43AFB53E-DBDE-4D04-9D7D-D0E42A5F676C}" type="datetimeFigureOut">
              <a:rPr lang="en-US" smtClean="0"/>
              <a:t>3/23/2025</a:t>
            </a:fld>
            <a:endParaRPr 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73BA91E8-8C32-418F-8E61-54D9B4CF29AA}" type="slidenum">
              <a:rPr lang="en-US" smtClean="0"/>
              <a:t>‹#›</a:t>
            </a:fld>
            <a:endParaRPr lang="en-US"/>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764084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Digital logic design</a:t>
            </a:r>
            <a:endParaRPr lang="en-US" dirty="0"/>
          </a:p>
        </p:txBody>
      </p:sp>
      <p:sp>
        <p:nvSpPr>
          <p:cNvPr id="3" name="Subtitle 2"/>
          <p:cNvSpPr>
            <a:spLocks noGrp="1"/>
          </p:cNvSpPr>
          <p:nvPr>
            <p:ph type="subTitle" idx="1"/>
          </p:nvPr>
        </p:nvSpPr>
        <p:spPr/>
        <p:txBody>
          <a:bodyPr/>
          <a:lstStyle/>
          <a:p>
            <a:r>
              <a:rPr lang="en-US" dirty="0" smtClean="0"/>
              <a:t>Lecture 06</a:t>
            </a:r>
            <a:endParaRPr lang="en-US" dirty="0"/>
          </a:p>
        </p:txBody>
      </p:sp>
    </p:spTree>
    <p:extLst>
      <p:ext uri="{BB962C8B-B14F-4D97-AF65-F5344CB8AC3E}">
        <p14:creationId xmlns:p14="http://schemas.microsoft.com/office/powerpoint/2010/main" val="15840040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Constructing a Truth Table for a Logic Circuit</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r>
                  <a:rPr lang="en-US" dirty="0" smtClean="0"/>
                  <a:t>Once the Boolean expression for a given logic circuit has been determined, a truth table that shows the output for all possible values of the input variables can be developed. The procedure requires that you evaluate the Boolean expression for all possible combinations of values for the input variables. In the case of the circuit in Fig., </a:t>
                </a:r>
                <a:r>
                  <a:rPr lang="en-US" dirty="0"/>
                  <a:t>there are four input variables (A, B, C, and D) and therefore sixteen </a:t>
                </a:r>
                <a:r>
                  <a:rPr lang="en-US" dirty="0" smtClean="0"/>
                  <a:t>(</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4</m:t>
                        </m:r>
                      </m:sup>
                    </m:sSup>
                    <m:r>
                      <a:rPr lang="en-US" b="0" i="1" smtClean="0">
                        <a:latin typeface="Cambria Math" panose="02040503050406030204" pitchFamily="18" charset="0"/>
                      </a:rPr>
                      <m:t>=16</m:t>
                    </m:r>
                  </m:oMath>
                </a14:m>
                <a:r>
                  <a:rPr lang="en-US" dirty="0"/>
                  <a:t>) combinations of values are possible</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313" t="-1818"/>
                </a:stretch>
              </a:blipFill>
            </p:spPr>
            <p:txBody>
              <a:bodyPr/>
              <a:lstStyle/>
              <a:p>
                <a:r>
                  <a:rPr lang="en-US">
                    <a:noFill/>
                  </a:rPr>
                  <a:t> </a:t>
                </a:r>
              </a:p>
            </p:txBody>
          </p:sp>
        </mc:Fallback>
      </mc:AlternateContent>
    </p:spTree>
    <p:extLst>
      <p:ext uri="{BB962C8B-B14F-4D97-AF65-F5344CB8AC3E}">
        <p14:creationId xmlns:p14="http://schemas.microsoft.com/office/powerpoint/2010/main" val="22318504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Putting the Results in Truth Table format </a:t>
            </a:r>
          </a:p>
        </p:txBody>
      </p:sp>
      <p:sp>
        <p:nvSpPr>
          <p:cNvPr id="3" name="Content Placeholder 2"/>
          <p:cNvSpPr>
            <a:spLocks noGrp="1"/>
          </p:cNvSpPr>
          <p:nvPr>
            <p:ph idx="1"/>
          </p:nvPr>
        </p:nvSpPr>
        <p:spPr/>
        <p:txBody>
          <a:bodyPr/>
          <a:lstStyle/>
          <a:p>
            <a:r>
              <a:rPr lang="en-US" dirty="0"/>
              <a:t>The first step is to list the sixteen input variable combinations of 1s and 0s in a binary sequence as shown in </a:t>
            </a:r>
            <a:r>
              <a:rPr lang="en-US" dirty="0" smtClean="0"/>
              <a:t>Table. </a:t>
            </a:r>
            <a:r>
              <a:rPr lang="en-US" dirty="0"/>
              <a:t>Next, place a 1 in the output column for each combination of input variables that was determined in the evaluation. Finally, place a 0 in the output column for all other combinations of input variables. These results are shown in the truth table in </a:t>
            </a:r>
            <a:r>
              <a:rPr lang="en-US" dirty="0" smtClean="0"/>
              <a:t>Table.</a:t>
            </a:r>
            <a:endParaRPr lang="en-US" dirty="0"/>
          </a:p>
        </p:txBody>
      </p:sp>
    </p:spTree>
    <p:extLst>
      <p:ext uri="{BB962C8B-B14F-4D97-AF65-F5344CB8AC3E}">
        <p14:creationId xmlns:p14="http://schemas.microsoft.com/office/powerpoint/2010/main" val="31614394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8474970" y="1912512"/>
            <a:ext cx="2686050" cy="3667125"/>
          </a:xfrm>
          <a:prstGeom prst="rect">
            <a:avLst/>
          </a:prstGeom>
        </p:spPr>
      </p:pic>
      <p:pic>
        <p:nvPicPr>
          <p:cNvPr id="9" name="Picture 8"/>
          <p:cNvPicPr>
            <a:picLocks noChangeAspect="1"/>
          </p:cNvPicPr>
          <p:nvPr/>
        </p:nvPicPr>
        <p:blipFill>
          <a:blip r:embed="rId3"/>
          <a:stretch>
            <a:fillRect/>
          </a:stretch>
        </p:blipFill>
        <p:spPr>
          <a:xfrm>
            <a:off x="1863547" y="2535394"/>
            <a:ext cx="4781550" cy="1581150"/>
          </a:xfrm>
          <a:prstGeom prst="rect">
            <a:avLst/>
          </a:prstGeom>
        </p:spPr>
      </p:pic>
    </p:spTree>
    <p:extLst>
      <p:ext uri="{BB962C8B-B14F-4D97-AF65-F5344CB8AC3E}">
        <p14:creationId xmlns:p14="http://schemas.microsoft.com/office/powerpoint/2010/main" val="197412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Determine the simplified Boolean expression, </a:t>
            </a:r>
            <a:r>
              <a:rPr lang="en-US" dirty="0" err="1" smtClean="0"/>
              <a:t>truthtable</a:t>
            </a:r>
            <a:r>
              <a:rPr lang="en-US" dirty="0" smtClean="0"/>
              <a:t> and logic diagram</a:t>
            </a:r>
            <a:endParaRPr lang="en-US" dirty="0"/>
          </a:p>
        </p:txBody>
      </p:sp>
    </p:spTree>
    <p:extLst>
      <p:ext uri="{BB962C8B-B14F-4D97-AF65-F5344CB8AC3E}">
        <p14:creationId xmlns:p14="http://schemas.microsoft.com/office/powerpoint/2010/main" val="25312346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Integrated Circuits “IC” </a:t>
            </a:r>
          </a:p>
        </p:txBody>
      </p:sp>
      <p:sp>
        <p:nvSpPr>
          <p:cNvPr id="3" name="Content Placeholder 2"/>
          <p:cNvSpPr>
            <a:spLocks noGrp="1"/>
          </p:cNvSpPr>
          <p:nvPr>
            <p:ph idx="1"/>
          </p:nvPr>
        </p:nvSpPr>
        <p:spPr/>
        <p:txBody>
          <a:bodyPr>
            <a:normAutofit fontScale="92500" lnSpcReduction="10000"/>
          </a:bodyPr>
          <a:lstStyle/>
          <a:p>
            <a:r>
              <a:rPr lang="en-US" dirty="0" smtClean="0"/>
              <a:t>- </a:t>
            </a:r>
            <a:r>
              <a:rPr lang="en-US" dirty="0"/>
              <a:t>It’s a small silicon semiconductor, called a chip, containing the electronic components for the digital gates. The gates are interconnected inside the chip to form the required circuit. </a:t>
            </a:r>
            <a:endParaRPr lang="en-US" dirty="0" smtClean="0"/>
          </a:p>
          <a:p>
            <a:r>
              <a:rPr lang="en-US" b="1" dirty="0" smtClean="0"/>
              <a:t>Levels </a:t>
            </a:r>
            <a:r>
              <a:rPr lang="en-US" b="1" dirty="0"/>
              <a:t>of </a:t>
            </a:r>
            <a:r>
              <a:rPr lang="en-US" b="1" dirty="0" smtClean="0"/>
              <a:t>Integration</a:t>
            </a:r>
          </a:p>
          <a:p>
            <a:r>
              <a:rPr lang="en-US" b="1" dirty="0" smtClean="0"/>
              <a:t> </a:t>
            </a:r>
            <a:r>
              <a:rPr lang="en-US" dirty="0"/>
              <a:t>- Small-scale Integration (SSI): contains several independent gates in a single package. The number of gates is usually fewer than 10. </a:t>
            </a:r>
            <a:endParaRPr lang="en-US" dirty="0" smtClean="0"/>
          </a:p>
          <a:p>
            <a:r>
              <a:rPr lang="en-US" dirty="0" smtClean="0"/>
              <a:t>- </a:t>
            </a:r>
            <a:r>
              <a:rPr lang="en-US" dirty="0"/>
              <a:t>Medium-scale Integration (MSI): have a complexity between 10 and 100 gates in a single package. They perform specific digital operations such as decoders, adders, and multiplexers. </a:t>
            </a:r>
            <a:endParaRPr lang="en-US" dirty="0" smtClean="0"/>
          </a:p>
          <a:p>
            <a:r>
              <a:rPr lang="en-US" dirty="0" smtClean="0"/>
              <a:t>- </a:t>
            </a:r>
            <a:r>
              <a:rPr lang="en-US" dirty="0"/>
              <a:t>Large-scale Integration (LSI): contains between 100 and 1000s gates in a single package. The number of gates is usually fewer than 10. They include processors, memory chips, and programmable logic devices</a:t>
            </a:r>
            <a:r>
              <a:rPr lang="en-US" dirty="0" smtClean="0"/>
              <a:t>.</a:t>
            </a:r>
          </a:p>
          <a:p>
            <a:r>
              <a:rPr lang="en-US" dirty="0" smtClean="0"/>
              <a:t> </a:t>
            </a:r>
            <a:r>
              <a:rPr lang="en-US" dirty="0"/>
              <a:t>- Very Large-scale Integration (VLSI): contains thousands of gates in a single package. Examples are large memory arrays and complex microcomputer chips. </a:t>
            </a:r>
          </a:p>
        </p:txBody>
      </p:sp>
    </p:spTree>
    <p:extLst>
      <p:ext uri="{BB962C8B-B14F-4D97-AF65-F5344CB8AC3E}">
        <p14:creationId xmlns:p14="http://schemas.microsoft.com/office/powerpoint/2010/main" val="1610498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24128" y="965915"/>
            <a:ext cx="9720073" cy="5343445"/>
          </a:xfrm>
        </p:spPr>
        <p:txBody>
          <a:bodyPr/>
          <a:lstStyle/>
          <a:p>
            <a:r>
              <a:rPr lang="en-US" dirty="0"/>
              <a:t>Fan-in </a:t>
            </a:r>
            <a:endParaRPr lang="en-US" dirty="0" smtClean="0"/>
          </a:p>
          <a:p>
            <a:r>
              <a:rPr lang="en-US" dirty="0" smtClean="0"/>
              <a:t>Fan-in </a:t>
            </a:r>
            <a:r>
              <a:rPr lang="en-US" dirty="0"/>
              <a:t>is a term that defines the maximum number of digital inputs that a single logic gate can accept. Most transistor- transistor logic ( TTL ) gates have one or two inputs, although some have more than two. A typical logic gate has a fan- in of 1 or 2</a:t>
            </a:r>
            <a:r>
              <a:rPr lang="en-US" dirty="0" smtClean="0"/>
              <a:t>.</a:t>
            </a:r>
          </a:p>
          <a:p>
            <a:endParaRPr lang="en-US" dirty="0"/>
          </a:p>
          <a:p>
            <a:endParaRPr lang="en-US" dirty="0" smtClean="0"/>
          </a:p>
          <a:p>
            <a:r>
              <a:rPr lang="en-US" dirty="0"/>
              <a:t>Fan-out </a:t>
            </a:r>
            <a:endParaRPr lang="en-US" dirty="0" smtClean="0"/>
          </a:p>
          <a:p>
            <a:r>
              <a:rPr lang="en-US" dirty="0" smtClean="0"/>
              <a:t>Fan-out </a:t>
            </a:r>
            <a:r>
              <a:rPr lang="en-US" dirty="0"/>
              <a:t>is a term that defines the maximum number of digital inputs that the output of a single logic gate can feed. Most transistor-transistor logic ( TTL ) gates can feed up to 10 other digital gates or devices. Thus, a typical TTL gate has a fan-out of 10.</a:t>
            </a:r>
          </a:p>
        </p:txBody>
      </p:sp>
    </p:spTree>
    <p:extLst>
      <p:ext uri="{BB962C8B-B14F-4D97-AF65-F5344CB8AC3E}">
        <p14:creationId xmlns:p14="http://schemas.microsoft.com/office/powerpoint/2010/main" val="219444609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docProps/app.xml><?xml version="1.0" encoding="utf-8"?>
<Properties xmlns="http://schemas.openxmlformats.org/officeDocument/2006/extended-properties" xmlns:vt="http://schemas.openxmlformats.org/officeDocument/2006/docPropsVTypes">
  <Template>Integral</Template>
  <TotalTime>120</TotalTime>
  <Words>461</Words>
  <Application>Microsoft Office PowerPoint</Application>
  <PresentationFormat>Widescreen</PresentationFormat>
  <Paragraphs>20</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Cambria Math</vt:lpstr>
      <vt:lpstr>Tw Cen MT</vt:lpstr>
      <vt:lpstr>Tw Cen MT Condensed</vt:lpstr>
      <vt:lpstr>Wingdings 3</vt:lpstr>
      <vt:lpstr>Integral</vt:lpstr>
      <vt:lpstr>Digital logic design</vt:lpstr>
      <vt:lpstr>Constructing a Truth Table for a Logic Circuit</vt:lpstr>
      <vt:lpstr>Putting the Results in Truth Table format </vt:lpstr>
      <vt:lpstr>PowerPoint Presentation</vt:lpstr>
      <vt:lpstr>Determine the simplified Boolean expression, truthtable and logic diagram</vt:lpstr>
      <vt:lpstr>Integrated Circuits “IC” </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logic design</dc:title>
  <dc:creator>Microsoft account</dc:creator>
  <cp:lastModifiedBy>Microsoft account</cp:lastModifiedBy>
  <cp:revision>4</cp:revision>
  <dcterms:created xsi:type="dcterms:W3CDTF">2025-03-23T03:54:59Z</dcterms:created>
  <dcterms:modified xsi:type="dcterms:W3CDTF">2025-03-23T05:55:37Z</dcterms:modified>
</cp:coreProperties>
</file>