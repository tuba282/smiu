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 u="sng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 u="sng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 u="sng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 u="sng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1791" y="1740407"/>
            <a:ext cx="15240" cy="754380"/>
          </a:xfrm>
          <a:custGeom>
            <a:avLst/>
            <a:gdLst/>
            <a:ahLst/>
            <a:cxnLst/>
            <a:rect l="l" t="t" r="r" b="b"/>
            <a:pathLst>
              <a:path w="15240" h="754380">
                <a:moveTo>
                  <a:pt x="15239" y="754380"/>
                </a:moveTo>
                <a:lnTo>
                  <a:pt x="0" y="754380"/>
                </a:lnTo>
                <a:lnTo>
                  <a:pt x="0" y="0"/>
                </a:lnTo>
                <a:lnTo>
                  <a:pt x="15239" y="0"/>
                </a:lnTo>
                <a:lnTo>
                  <a:pt x="15239" y="754380"/>
                </a:lnTo>
                <a:close/>
              </a:path>
            </a:pathLst>
          </a:custGeom>
          <a:solidFill>
            <a:srgbClr val="1CAC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6574" y="1497610"/>
            <a:ext cx="7656486" cy="1157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 u="sng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9698" y="2809964"/>
            <a:ext cx="7884159" cy="2104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37719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911340" y="5401055"/>
            <a:ext cx="17145" cy="754380"/>
          </a:xfrm>
          <a:custGeom>
            <a:avLst/>
            <a:gdLst/>
            <a:ahLst/>
            <a:cxnLst/>
            <a:rect l="l" t="t" r="r" b="b"/>
            <a:pathLst>
              <a:path w="17145" h="754379">
                <a:moveTo>
                  <a:pt x="16764" y="754380"/>
                </a:moveTo>
                <a:lnTo>
                  <a:pt x="0" y="754380"/>
                </a:lnTo>
                <a:lnTo>
                  <a:pt x="0" y="0"/>
                </a:lnTo>
                <a:lnTo>
                  <a:pt x="16764" y="0"/>
                </a:lnTo>
                <a:lnTo>
                  <a:pt x="16764" y="754380"/>
                </a:lnTo>
                <a:close/>
              </a:path>
            </a:pathLst>
          </a:custGeom>
          <a:solidFill>
            <a:srgbClr val="138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96614" y="5342757"/>
            <a:ext cx="4608830" cy="65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100" b="1" spc="-355" dirty="0">
                <a:solidFill>
                  <a:srgbClr val="0C0C0C"/>
                </a:solidFill>
                <a:latin typeface="Trebuchet MS"/>
                <a:cs typeface="Trebuchet MS"/>
              </a:rPr>
              <a:t>DIGITAL</a:t>
            </a:r>
            <a:r>
              <a:rPr sz="4100" b="1" spc="30" dirty="0">
                <a:solidFill>
                  <a:srgbClr val="0C0C0C"/>
                </a:solidFill>
                <a:latin typeface="Trebuchet MS"/>
                <a:cs typeface="Trebuchet MS"/>
              </a:rPr>
              <a:t> </a:t>
            </a:r>
            <a:r>
              <a:rPr sz="4100" b="1" spc="-459" dirty="0">
                <a:solidFill>
                  <a:srgbClr val="0C0C0C"/>
                </a:solidFill>
                <a:latin typeface="Trebuchet MS"/>
                <a:cs typeface="Trebuchet MS"/>
              </a:rPr>
              <a:t>LOGIC</a:t>
            </a:r>
            <a:r>
              <a:rPr sz="4100" b="1" spc="-15" dirty="0">
                <a:solidFill>
                  <a:srgbClr val="0C0C0C"/>
                </a:solidFill>
                <a:latin typeface="Trebuchet MS"/>
                <a:cs typeface="Trebuchet MS"/>
              </a:rPr>
              <a:t> </a:t>
            </a:r>
            <a:r>
              <a:rPr sz="4100" b="1" spc="-370" dirty="0">
                <a:solidFill>
                  <a:srgbClr val="0C0C0C"/>
                </a:solidFill>
                <a:latin typeface="Trebuchet MS"/>
                <a:cs typeface="Trebuchet MS"/>
              </a:rPr>
              <a:t>DESIGN</a:t>
            </a:r>
            <a:endParaRPr sz="4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232" y="1371361"/>
            <a:ext cx="4836160" cy="398017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45"/>
              </a:spcBef>
            </a:pPr>
            <a:r>
              <a:rPr sz="1800" b="1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Course</a:t>
            </a:r>
            <a:r>
              <a:rPr sz="1800" b="1" u="sng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Assessment:</a:t>
            </a:r>
            <a:endParaRPr sz="1800">
              <a:latin typeface="Arial"/>
              <a:cs typeface="Arial"/>
            </a:endParaRPr>
          </a:p>
          <a:p>
            <a:pPr marL="804545">
              <a:lnSpc>
                <a:spcPct val="100000"/>
              </a:lnSpc>
              <a:spcBef>
                <a:spcPts val="944"/>
              </a:spcBef>
            </a:pPr>
            <a:r>
              <a:rPr sz="1800" dirty="0">
                <a:latin typeface="Arial MT"/>
                <a:cs typeface="Arial MT"/>
              </a:rPr>
              <a:t>Mid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Exam</a:t>
            </a:r>
            <a:endParaRPr sz="1800">
              <a:latin typeface="Arial MT"/>
              <a:cs typeface="Arial MT"/>
            </a:endParaRPr>
          </a:p>
          <a:p>
            <a:pPr marL="804545" marR="1958975">
              <a:lnSpc>
                <a:spcPct val="144200"/>
              </a:lnSpc>
              <a:spcBef>
                <a:spcPts val="5"/>
              </a:spcBef>
            </a:pPr>
            <a:r>
              <a:rPr sz="1800" spc="-125" dirty="0">
                <a:latin typeface="Arial MT"/>
                <a:cs typeface="Arial MT"/>
              </a:rPr>
              <a:t>Quizes</a:t>
            </a:r>
            <a:r>
              <a:rPr sz="1800" dirty="0">
                <a:latin typeface="Arial MT"/>
                <a:cs typeface="Arial MT"/>
              </a:rPr>
              <a:t> or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Presentation </a:t>
            </a:r>
            <a:r>
              <a:rPr sz="1800" spc="-185" dirty="0">
                <a:latin typeface="Arial MT"/>
                <a:cs typeface="Arial MT"/>
              </a:rPr>
              <a:t>Home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Assignment </a:t>
            </a:r>
            <a:r>
              <a:rPr sz="1800" spc="-10" dirty="0">
                <a:latin typeface="Arial MT"/>
                <a:cs typeface="Arial MT"/>
              </a:rPr>
              <a:t>Project</a:t>
            </a:r>
            <a:endParaRPr sz="1800">
              <a:latin typeface="Arial MT"/>
              <a:cs typeface="Arial MT"/>
            </a:endParaRPr>
          </a:p>
          <a:p>
            <a:pPr marL="804545">
              <a:lnSpc>
                <a:spcPct val="100000"/>
              </a:lnSpc>
              <a:spcBef>
                <a:spcPts val="965"/>
              </a:spcBef>
            </a:pPr>
            <a:r>
              <a:rPr sz="1800" spc="-105" dirty="0">
                <a:latin typeface="Arial MT"/>
                <a:cs typeface="Arial MT"/>
              </a:rPr>
              <a:t>Final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Exam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1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800" b="1" u="sng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Reference</a:t>
            </a:r>
            <a:r>
              <a:rPr sz="1800" b="1" u="sng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Books: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0"/>
              </a:spcBef>
            </a:pP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logic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Computer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Design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25" dirty="0">
                <a:latin typeface="Arial"/>
                <a:cs typeface="Arial"/>
              </a:rPr>
              <a:t>Morris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Mano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Fundamentals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spc="-145" dirty="0">
                <a:latin typeface="Arial"/>
                <a:cs typeface="Arial"/>
              </a:rPr>
              <a:t>Floyd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11</a:t>
            </a:r>
            <a:r>
              <a:rPr sz="1800" b="1" spc="-52" baseline="25462" dirty="0">
                <a:latin typeface="Arial"/>
                <a:cs typeface="Arial"/>
              </a:rPr>
              <a:t>th</a:t>
            </a:r>
            <a:r>
              <a:rPr sz="1800" b="1" spc="142" baseline="25462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Edition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821" y="1748987"/>
            <a:ext cx="2973070" cy="65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u="none" spc="-509" dirty="0">
                <a:latin typeface="Trebuchet MS"/>
                <a:cs typeface="Trebuchet MS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69" y="2152096"/>
            <a:ext cx="4081145" cy="149034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996950">
              <a:lnSpc>
                <a:spcPct val="100000"/>
              </a:lnSpc>
              <a:spcBef>
                <a:spcPts val="1170"/>
              </a:spcBef>
            </a:pPr>
            <a:r>
              <a:rPr sz="18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Digital</a:t>
            </a:r>
            <a:r>
              <a:rPr sz="1800" b="1" u="sng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Revolution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89900"/>
              </a:lnSpc>
              <a:spcBef>
                <a:spcPts val="1180"/>
              </a:spcBef>
            </a:pPr>
            <a:r>
              <a:rPr sz="1650" b="1" dirty="0">
                <a:solidFill>
                  <a:srgbClr val="111111"/>
                </a:solidFill>
                <a:latin typeface="Roboto Bk"/>
                <a:cs typeface="Roboto Bk"/>
              </a:rPr>
              <a:t>The</a:t>
            </a:r>
            <a:r>
              <a:rPr sz="1650" b="1" spc="-35" dirty="0">
                <a:solidFill>
                  <a:srgbClr val="111111"/>
                </a:solidFill>
                <a:latin typeface="Roboto Bk"/>
                <a:cs typeface="Roboto Bk"/>
              </a:rPr>
              <a:t> </a:t>
            </a:r>
            <a:r>
              <a:rPr sz="1650" b="1" spc="-25" dirty="0">
                <a:solidFill>
                  <a:srgbClr val="111111"/>
                </a:solidFill>
                <a:latin typeface="Roboto Bk"/>
                <a:cs typeface="Roboto Bk"/>
              </a:rPr>
              <a:t>digital revolution</a:t>
            </a:r>
            <a:r>
              <a:rPr sz="1650" b="1" spc="-55" dirty="0">
                <a:solidFill>
                  <a:srgbClr val="111111"/>
                </a:solidFill>
                <a:latin typeface="Roboto Bk"/>
                <a:cs typeface="Roboto Bk"/>
              </a:rPr>
              <a:t> </a:t>
            </a:r>
            <a:r>
              <a:rPr sz="1650" b="1" spc="-20" dirty="0">
                <a:solidFill>
                  <a:srgbClr val="111111"/>
                </a:solidFill>
                <a:latin typeface="Roboto Bk"/>
                <a:cs typeface="Roboto Bk"/>
              </a:rPr>
              <a:t>definition </a:t>
            </a:r>
            <a:r>
              <a:rPr sz="1650" b="1" dirty="0">
                <a:solidFill>
                  <a:srgbClr val="111111"/>
                </a:solidFill>
                <a:latin typeface="Roboto Bk"/>
                <a:cs typeface="Roboto Bk"/>
              </a:rPr>
              <a:t>refers</a:t>
            </a:r>
            <a:r>
              <a:rPr sz="1650" b="1" spc="-30" dirty="0">
                <a:solidFill>
                  <a:srgbClr val="111111"/>
                </a:solidFill>
                <a:latin typeface="Roboto Bk"/>
                <a:cs typeface="Roboto Bk"/>
              </a:rPr>
              <a:t> </a:t>
            </a:r>
            <a:r>
              <a:rPr sz="1650" b="1" spc="-25" dirty="0">
                <a:solidFill>
                  <a:srgbClr val="111111"/>
                </a:solidFill>
                <a:latin typeface="Roboto Bk"/>
                <a:cs typeface="Roboto Bk"/>
              </a:rPr>
              <a:t>to</a:t>
            </a:r>
            <a:r>
              <a:rPr sz="1650" b="1" spc="500" dirty="0">
                <a:solidFill>
                  <a:srgbClr val="111111"/>
                </a:solidFill>
                <a:latin typeface="Roboto Bk"/>
                <a:cs typeface="Roboto Bk"/>
              </a:rPr>
              <a:t> </a:t>
            </a:r>
            <a:r>
              <a:rPr sz="1650" b="1" dirty="0">
                <a:solidFill>
                  <a:srgbClr val="111111"/>
                </a:solidFill>
                <a:latin typeface="Roboto Bk"/>
                <a:cs typeface="Roboto Bk"/>
              </a:rPr>
              <a:t>the</a:t>
            </a:r>
            <a:r>
              <a:rPr sz="1650" b="1" spc="-20" dirty="0">
                <a:solidFill>
                  <a:srgbClr val="111111"/>
                </a:solidFill>
                <a:latin typeface="Roboto Bk"/>
                <a:cs typeface="Roboto Bk"/>
              </a:rPr>
              <a:t> </a:t>
            </a:r>
            <a:r>
              <a:rPr sz="1650" b="1" spc="-30" dirty="0">
                <a:solidFill>
                  <a:srgbClr val="111111"/>
                </a:solidFill>
                <a:latin typeface="Roboto"/>
                <a:cs typeface="Roboto"/>
              </a:rPr>
              <a:t>advancement</a:t>
            </a:r>
            <a:r>
              <a:rPr sz="1650" b="1" spc="-60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dirty="0">
                <a:solidFill>
                  <a:srgbClr val="111111"/>
                </a:solidFill>
                <a:latin typeface="Roboto"/>
                <a:cs typeface="Roboto"/>
              </a:rPr>
              <a:t>of</a:t>
            </a:r>
            <a:r>
              <a:rPr sz="1650" b="1" spc="-35" dirty="0">
                <a:solidFill>
                  <a:srgbClr val="111111"/>
                </a:solidFill>
                <a:latin typeface="Roboto"/>
                <a:cs typeface="Roboto"/>
              </a:rPr>
              <a:t> technology</a:t>
            </a:r>
            <a:r>
              <a:rPr sz="1650" b="1" spc="-70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dirty="0">
                <a:solidFill>
                  <a:srgbClr val="111111"/>
                </a:solidFill>
                <a:latin typeface="Roboto"/>
                <a:cs typeface="Roboto"/>
              </a:rPr>
              <a:t>from</a:t>
            </a:r>
            <a:r>
              <a:rPr sz="1650" b="1" spc="-80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111111"/>
                </a:solidFill>
                <a:latin typeface="Roboto"/>
                <a:cs typeface="Roboto"/>
              </a:rPr>
              <a:t>analog </a:t>
            </a:r>
            <a:r>
              <a:rPr sz="1650" b="1" spc="-25" dirty="0">
                <a:solidFill>
                  <a:srgbClr val="111111"/>
                </a:solidFill>
                <a:latin typeface="Roboto"/>
                <a:cs typeface="Roboto"/>
              </a:rPr>
              <a:t>devices</a:t>
            </a:r>
            <a:r>
              <a:rPr sz="1650" b="1" spc="-75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dirty="0">
                <a:solidFill>
                  <a:srgbClr val="111111"/>
                </a:solidFill>
                <a:latin typeface="Roboto"/>
                <a:cs typeface="Roboto"/>
              </a:rPr>
              <a:t>to</a:t>
            </a:r>
            <a:r>
              <a:rPr sz="1650" b="1" spc="-55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111111"/>
                </a:solidFill>
                <a:latin typeface="Roboto"/>
                <a:cs typeface="Roboto"/>
              </a:rPr>
              <a:t>the</a:t>
            </a:r>
            <a:r>
              <a:rPr sz="1650" b="1" spc="-55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spc="-35" dirty="0">
                <a:solidFill>
                  <a:srgbClr val="111111"/>
                </a:solidFill>
                <a:latin typeface="Roboto"/>
                <a:cs typeface="Roboto"/>
              </a:rPr>
              <a:t>digital</a:t>
            </a:r>
            <a:r>
              <a:rPr sz="1650" b="1" spc="-60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spc="-30" dirty="0">
                <a:solidFill>
                  <a:srgbClr val="111111"/>
                </a:solidFill>
                <a:latin typeface="Roboto"/>
                <a:cs typeface="Roboto"/>
              </a:rPr>
              <a:t>technologies</a:t>
            </a:r>
            <a:r>
              <a:rPr sz="1650" b="1" spc="-75" dirty="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111111"/>
                </a:solidFill>
                <a:latin typeface="Roboto"/>
                <a:cs typeface="Roboto"/>
              </a:rPr>
              <a:t>available today</a:t>
            </a:r>
            <a:r>
              <a:rPr sz="1650" b="1" spc="-10" dirty="0">
                <a:solidFill>
                  <a:srgbClr val="111111"/>
                </a:solidFill>
                <a:latin typeface="Roboto Bk"/>
                <a:cs typeface="Roboto Bk"/>
              </a:rPr>
              <a:t>.</a:t>
            </a:r>
            <a:endParaRPr sz="1650">
              <a:latin typeface="Roboto Bk"/>
              <a:cs typeface="Roboto B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8603" y="2049780"/>
            <a:ext cx="2357628" cy="13197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763" y="3740408"/>
            <a:ext cx="6388607" cy="2404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821" y="1748987"/>
            <a:ext cx="5360035" cy="65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590" dirty="0">
                <a:latin typeface="Trebuchet MS"/>
                <a:cs typeface="Trebuchet MS"/>
              </a:rPr>
              <a:t>ANALOGUE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-525" dirty="0">
                <a:latin typeface="Trebuchet MS"/>
                <a:cs typeface="Trebuchet MS"/>
              </a:rPr>
              <a:t>VERSUS</a:t>
            </a:r>
            <a:r>
              <a:rPr b="1" spc="-170" dirty="0">
                <a:latin typeface="Trebuchet MS"/>
                <a:cs typeface="Trebuchet MS"/>
              </a:rPr>
              <a:t> </a:t>
            </a:r>
            <a:r>
              <a:rPr b="1" spc="-430" dirty="0">
                <a:latin typeface="Trebuchet MS"/>
                <a:cs typeface="Trebuchet MS"/>
              </a:rPr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5200" y="2643889"/>
            <a:ext cx="8580755" cy="28511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800" spc="-130" dirty="0">
                <a:latin typeface="Arial MT"/>
                <a:cs typeface="Arial MT"/>
              </a:rPr>
              <a:t>Most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quantities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nature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can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measured</a:t>
            </a:r>
            <a:r>
              <a:rPr sz="1800" dirty="0">
                <a:latin typeface="Arial MT"/>
                <a:cs typeface="Arial MT"/>
              </a:rPr>
              <a:t> are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continuous.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Examples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include:</a:t>
            </a:r>
            <a:endParaRPr sz="1800">
              <a:latin typeface="Arial MT"/>
              <a:cs typeface="Arial MT"/>
            </a:endParaRPr>
          </a:p>
          <a:p>
            <a:pPr marL="12700" marR="144780" indent="144145">
              <a:lnSpc>
                <a:spcPct val="90800"/>
              </a:lnSpc>
              <a:spcBef>
                <a:spcPts val="1145"/>
              </a:spcBef>
              <a:buFont typeface="Arial MT"/>
              <a:buChar char="•"/>
              <a:tabLst>
                <a:tab pos="156845" algn="l"/>
              </a:tabLst>
            </a:pPr>
            <a:r>
              <a:rPr sz="1800" b="1" spc="-120" dirty="0">
                <a:latin typeface="Arial"/>
                <a:cs typeface="Arial"/>
              </a:rPr>
              <a:t>Intensity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light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35" dirty="0">
                <a:latin typeface="Arial"/>
                <a:cs typeface="Arial"/>
              </a:rPr>
              <a:t>during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14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90" dirty="0">
                <a:latin typeface="Arial"/>
                <a:cs typeface="Arial"/>
              </a:rPr>
              <a:t>day: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spc="-220" dirty="0">
                <a:latin typeface="Arial MT"/>
                <a:cs typeface="Arial MT"/>
              </a:rPr>
              <a:t>The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intensity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light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gradually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increases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as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0" dirty="0">
                <a:latin typeface="Arial MT"/>
                <a:cs typeface="Arial MT"/>
              </a:rPr>
              <a:t>sun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rises </a:t>
            </a:r>
            <a:r>
              <a:rPr sz="1800" spc="-85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morning;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 </a:t>
            </a:r>
            <a:r>
              <a:rPr sz="1800" spc="-135" dirty="0">
                <a:latin typeface="Arial MT"/>
                <a:cs typeface="Arial MT"/>
              </a:rPr>
              <a:t>remains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constant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throughout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then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gradually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decreases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as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250" dirty="0">
                <a:latin typeface="Arial MT"/>
                <a:cs typeface="Arial MT"/>
              </a:rPr>
              <a:t>sun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80" dirty="0">
                <a:latin typeface="Arial MT"/>
                <a:cs typeface="Arial MT"/>
              </a:rPr>
              <a:t>sets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until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becomes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completely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dark.</a:t>
            </a:r>
            <a:endParaRPr sz="1800">
              <a:latin typeface="Arial MT"/>
              <a:cs typeface="Arial MT"/>
            </a:endParaRPr>
          </a:p>
          <a:p>
            <a:pPr marL="12700" marR="5080" indent="144145" algn="just">
              <a:lnSpc>
                <a:spcPct val="90800"/>
              </a:lnSpc>
              <a:spcBef>
                <a:spcPts val="1150"/>
              </a:spcBef>
              <a:buFont typeface="Arial MT"/>
              <a:buChar char="•"/>
              <a:tabLst>
                <a:tab pos="156845" algn="l"/>
              </a:tabLst>
            </a:pPr>
            <a:r>
              <a:rPr sz="1800" b="1" spc="-185" dirty="0">
                <a:latin typeface="Arial"/>
                <a:cs typeface="Arial"/>
              </a:rPr>
              <a:t>Rise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and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fall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spc="-65" dirty="0">
                <a:latin typeface="Arial"/>
                <a:cs typeface="Arial"/>
              </a:rPr>
              <a:t>in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35" dirty="0">
                <a:latin typeface="Arial"/>
                <a:cs typeface="Arial"/>
              </a:rPr>
              <a:t>temperature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35" dirty="0">
                <a:latin typeface="Arial"/>
                <a:cs typeface="Arial"/>
              </a:rPr>
              <a:t>during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24-</a:t>
            </a:r>
            <a:r>
              <a:rPr sz="1800" b="1" spc="-165" dirty="0">
                <a:latin typeface="Arial"/>
                <a:cs typeface="Arial"/>
              </a:rPr>
              <a:t>hour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135" dirty="0">
                <a:latin typeface="Arial"/>
                <a:cs typeface="Arial"/>
              </a:rPr>
              <a:t>period: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spc="-250" dirty="0">
                <a:latin typeface="Arial MT"/>
                <a:cs typeface="Arial MT"/>
              </a:rPr>
              <a:t>The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temperature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also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rises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and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falls </a:t>
            </a:r>
            <a:r>
              <a:rPr sz="1800" spc="-65" dirty="0">
                <a:latin typeface="Arial MT"/>
                <a:cs typeface="Arial MT"/>
              </a:rPr>
              <a:t>with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passage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during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day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in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night.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50" dirty="0">
                <a:latin typeface="Arial MT"/>
                <a:cs typeface="Arial MT"/>
              </a:rPr>
              <a:t>The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change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temperature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is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never </a:t>
            </a:r>
            <a:r>
              <a:rPr sz="1800" spc="-25" dirty="0">
                <a:latin typeface="Arial MT"/>
                <a:cs typeface="Arial MT"/>
              </a:rPr>
              <a:t>abrupt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but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gradual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continuous.</a:t>
            </a:r>
            <a:endParaRPr sz="1800">
              <a:latin typeface="Arial MT"/>
              <a:cs typeface="Arial MT"/>
            </a:endParaRPr>
          </a:p>
          <a:p>
            <a:pPr marL="12700" marR="285750" indent="144145">
              <a:lnSpc>
                <a:spcPts val="1960"/>
              </a:lnSpc>
              <a:spcBef>
                <a:spcPts val="1190"/>
              </a:spcBef>
              <a:buFont typeface="Arial MT"/>
              <a:buChar char="•"/>
              <a:tabLst>
                <a:tab pos="156845" algn="l"/>
              </a:tabLst>
            </a:pPr>
            <a:r>
              <a:rPr sz="1800" b="1" spc="-125" dirty="0">
                <a:latin typeface="Arial"/>
                <a:cs typeface="Arial"/>
              </a:rPr>
              <a:t>Velocity</a:t>
            </a:r>
            <a:r>
              <a:rPr sz="1800" b="1" dirty="0">
                <a:latin typeface="Arial"/>
                <a:cs typeface="Arial"/>
              </a:rPr>
              <a:t> of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55" dirty="0">
                <a:latin typeface="Arial"/>
                <a:cs typeface="Arial"/>
              </a:rPr>
              <a:t>car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travelling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25" dirty="0">
                <a:latin typeface="Arial"/>
                <a:cs typeface="Arial"/>
              </a:rPr>
              <a:t>from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50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50" dirty="0">
                <a:latin typeface="Arial"/>
                <a:cs typeface="Arial"/>
              </a:rPr>
              <a:t>B: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spc="-220" dirty="0">
                <a:latin typeface="Arial MT"/>
                <a:cs typeface="Arial MT"/>
              </a:rPr>
              <a:t>The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velocity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5" dirty="0">
                <a:latin typeface="Arial MT"/>
                <a:cs typeface="Arial MT"/>
              </a:rPr>
              <a:t> car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travelling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one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city</a:t>
            </a:r>
            <a:r>
              <a:rPr sz="1800" spc="-25" dirty="0">
                <a:latin typeface="Arial MT"/>
                <a:cs typeface="Arial MT"/>
              </a:rPr>
              <a:t> to </a:t>
            </a:r>
            <a:r>
              <a:rPr sz="1800" spc="-90" dirty="0">
                <a:latin typeface="Arial MT"/>
                <a:cs typeface="Arial MT"/>
              </a:rPr>
              <a:t>another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varies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continuous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manner.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332" y="1531076"/>
            <a:ext cx="7965440" cy="5505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340"/>
              </a:spcBef>
            </a:pP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quantities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unlike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Analogue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quantities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</a:t>
            </a:r>
            <a:r>
              <a:rPr sz="1800" spc="-1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continuous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but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represent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quantities </a:t>
            </a:r>
            <a:r>
              <a:rPr sz="1800" spc="-135" dirty="0">
                <a:latin typeface="Arial MT"/>
                <a:cs typeface="Arial MT"/>
              </a:rPr>
              <a:t>measured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discrete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intervals.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3832" y="2382012"/>
            <a:ext cx="9433560" cy="3771900"/>
            <a:chOff x="283832" y="2382012"/>
            <a:chExt cx="9433560" cy="3771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832" y="2758981"/>
              <a:ext cx="4525383" cy="30886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0872" y="2382012"/>
              <a:ext cx="5026151" cy="3771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3655" marR="5080">
              <a:lnSpc>
                <a:spcPts val="3960"/>
              </a:lnSpc>
              <a:spcBef>
                <a:spcPts val="1060"/>
              </a:spcBef>
            </a:pPr>
            <a:r>
              <a:rPr b="1" u="none" spc="-570" dirty="0">
                <a:latin typeface="Trebuchet MS"/>
                <a:cs typeface="Trebuchet MS"/>
              </a:rPr>
              <a:t>ELECTRONIC</a:t>
            </a:r>
            <a:r>
              <a:rPr b="1" u="none" spc="-195" dirty="0">
                <a:latin typeface="Trebuchet MS"/>
                <a:cs typeface="Trebuchet MS"/>
              </a:rPr>
              <a:t> </a:t>
            </a:r>
            <a:r>
              <a:rPr b="1" u="none" spc="-495" dirty="0">
                <a:latin typeface="Trebuchet MS"/>
                <a:cs typeface="Trebuchet MS"/>
              </a:rPr>
              <a:t>PROCESSING</a:t>
            </a:r>
            <a:r>
              <a:rPr b="1" u="none" spc="-165" dirty="0">
                <a:latin typeface="Trebuchet MS"/>
                <a:cs typeface="Trebuchet MS"/>
              </a:rPr>
              <a:t> </a:t>
            </a:r>
            <a:r>
              <a:rPr b="1" u="none" spc="-795" dirty="0">
                <a:latin typeface="Trebuchet MS"/>
                <a:cs typeface="Trebuchet MS"/>
              </a:rPr>
              <a:t>OF </a:t>
            </a:r>
            <a:r>
              <a:rPr b="1" u="none" spc="-540" dirty="0">
                <a:latin typeface="Trebuchet MS"/>
                <a:cs typeface="Trebuchet MS"/>
              </a:rPr>
              <a:t>CONTINUOUS</a:t>
            </a:r>
            <a:r>
              <a:rPr b="1" u="none" spc="-170" dirty="0">
                <a:latin typeface="Trebuchet MS"/>
                <a:cs typeface="Trebuchet MS"/>
              </a:rPr>
              <a:t> </a:t>
            </a:r>
            <a:r>
              <a:rPr b="1" u="none" spc="-490" dirty="0">
                <a:latin typeface="Trebuchet MS"/>
                <a:cs typeface="Trebuchet MS"/>
              </a:rPr>
              <a:t>AND</a:t>
            </a:r>
            <a:r>
              <a:rPr b="1" u="none" spc="-150" dirty="0">
                <a:latin typeface="Trebuchet MS"/>
                <a:cs typeface="Trebuchet MS"/>
              </a:rPr>
              <a:t> </a:t>
            </a:r>
            <a:r>
              <a:rPr b="1" u="none" spc="-425" dirty="0">
                <a:latin typeface="Trebuchet MS"/>
                <a:cs typeface="Trebuchet MS"/>
              </a:rPr>
              <a:t>DIGITAL</a:t>
            </a:r>
            <a:r>
              <a:rPr b="1" u="none" spc="-125" dirty="0">
                <a:latin typeface="Trebuchet MS"/>
                <a:cs typeface="Trebuchet MS"/>
              </a:rPr>
              <a:t> </a:t>
            </a:r>
            <a:r>
              <a:rPr b="1" u="none" spc="-495" dirty="0">
                <a:latin typeface="Trebuchet MS"/>
                <a:cs typeface="Trebuchet MS"/>
              </a:rPr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698" y="2809964"/>
            <a:ext cx="1869439" cy="81534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latin typeface="Arial MT"/>
                <a:cs typeface="Arial MT"/>
              </a:rPr>
              <a:t>Analog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800" spc="-235" dirty="0">
                <a:latin typeface="Arial MT"/>
                <a:cs typeface="Arial MT"/>
              </a:rPr>
              <a:t>Uses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Analog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Signals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2475" y="3395101"/>
            <a:ext cx="4589634" cy="15088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332" y="1837786"/>
            <a:ext cx="8536940" cy="354076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5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spc="-235" dirty="0">
                <a:latin typeface="Arial MT"/>
                <a:cs typeface="Arial MT"/>
              </a:rPr>
              <a:t>Uses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Signal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90700"/>
              </a:lnSpc>
              <a:spcBef>
                <a:spcPts val="1150"/>
              </a:spcBef>
            </a:pP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90" dirty="0">
                <a:latin typeface="Arial MT"/>
                <a:cs typeface="Arial MT"/>
              </a:rPr>
              <a:t>Systems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Values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95" dirty="0">
                <a:latin typeface="Arial MT"/>
                <a:cs typeface="Arial MT"/>
              </a:rPr>
              <a:t>systems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designed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work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two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voltage </a:t>
            </a:r>
            <a:r>
              <a:rPr sz="1800" spc="-130" dirty="0">
                <a:latin typeface="Arial MT"/>
                <a:cs typeface="Arial MT"/>
              </a:rPr>
              <a:t>values.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+5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volts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represents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logic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high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state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logic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state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volts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represents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logic </a:t>
            </a:r>
            <a:r>
              <a:rPr sz="1800" spc="-65" dirty="0">
                <a:latin typeface="Arial MT"/>
                <a:cs typeface="Arial MT"/>
              </a:rPr>
              <a:t>low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state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logic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state.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15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90" dirty="0">
                <a:latin typeface="Arial MT"/>
                <a:cs typeface="Arial MT"/>
              </a:rPr>
              <a:t>Systems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which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two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voltage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values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two </a:t>
            </a:r>
            <a:r>
              <a:rPr sz="1800" spc="-120" dirty="0">
                <a:latin typeface="Arial MT"/>
                <a:cs typeface="Arial MT"/>
              </a:rPr>
              <a:t>states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can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easily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represent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any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two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values.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For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example,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Arial MT"/>
              <a:cs typeface="Arial MT"/>
            </a:endParaRPr>
          </a:p>
          <a:p>
            <a:pPr marL="1520825">
              <a:lnSpc>
                <a:spcPct val="100000"/>
              </a:lnSpc>
            </a:pPr>
            <a:r>
              <a:rPr sz="1450" spc="-170" dirty="0">
                <a:latin typeface="Arial MT"/>
                <a:cs typeface="Arial MT"/>
              </a:rPr>
              <a:t>The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-130" dirty="0">
                <a:latin typeface="Arial MT"/>
                <a:cs typeface="Arial MT"/>
              </a:rPr>
              <a:t>numbers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‘0’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spc="-30" dirty="0">
                <a:latin typeface="Arial MT"/>
                <a:cs typeface="Arial MT"/>
              </a:rPr>
              <a:t>and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25" dirty="0">
                <a:latin typeface="Arial MT"/>
                <a:cs typeface="Arial MT"/>
              </a:rPr>
              <a:t>‘1’</a:t>
            </a:r>
            <a:endParaRPr sz="1450">
              <a:latin typeface="Arial MT"/>
              <a:cs typeface="Arial MT"/>
            </a:endParaRPr>
          </a:p>
          <a:p>
            <a:pPr marL="1520825" marR="4580890">
              <a:lnSpc>
                <a:spcPct val="120700"/>
              </a:lnSpc>
            </a:pPr>
            <a:r>
              <a:rPr sz="1450" spc="-170" dirty="0">
                <a:latin typeface="Arial MT"/>
                <a:cs typeface="Arial MT"/>
              </a:rPr>
              <a:t>The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-60" dirty="0">
                <a:latin typeface="Arial MT"/>
                <a:cs typeface="Arial MT"/>
              </a:rPr>
              <a:t>state</a:t>
            </a:r>
            <a:r>
              <a:rPr sz="1450" spc="-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3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100" dirty="0">
                <a:latin typeface="Arial MT"/>
                <a:cs typeface="Arial MT"/>
              </a:rPr>
              <a:t>switch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-60" dirty="0">
                <a:latin typeface="Arial MT"/>
                <a:cs typeface="Arial MT"/>
              </a:rPr>
              <a:t>‘on’</a:t>
            </a:r>
            <a:r>
              <a:rPr sz="1450" dirty="0">
                <a:latin typeface="Arial MT"/>
                <a:cs typeface="Arial MT"/>
              </a:rPr>
              <a:t> or </a:t>
            </a:r>
            <a:r>
              <a:rPr sz="1450" spc="-20" dirty="0">
                <a:latin typeface="Arial MT"/>
                <a:cs typeface="Arial MT"/>
              </a:rPr>
              <a:t>‘off’ </a:t>
            </a:r>
            <a:r>
              <a:rPr sz="1450" spc="-170" dirty="0">
                <a:latin typeface="Arial MT"/>
                <a:cs typeface="Arial MT"/>
              </a:rPr>
              <a:t>The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-80" dirty="0">
                <a:latin typeface="Arial MT"/>
                <a:cs typeface="Arial MT"/>
              </a:rPr>
              <a:t>colour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-25" dirty="0">
                <a:latin typeface="Arial MT"/>
                <a:cs typeface="Arial MT"/>
              </a:rPr>
              <a:t>‘black’</a:t>
            </a:r>
            <a:r>
              <a:rPr sz="1450" spc="-35" dirty="0">
                <a:latin typeface="Arial MT"/>
                <a:cs typeface="Arial MT"/>
              </a:rPr>
              <a:t> and</a:t>
            </a:r>
            <a:r>
              <a:rPr sz="1450" spc="-10" dirty="0">
                <a:latin typeface="Arial MT"/>
                <a:cs typeface="Arial MT"/>
              </a:rPr>
              <a:t> ‘white’ </a:t>
            </a:r>
            <a:r>
              <a:rPr sz="1450" spc="-170" dirty="0">
                <a:latin typeface="Arial MT"/>
                <a:cs typeface="Arial MT"/>
              </a:rPr>
              <a:t>The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-60" dirty="0">
                <a:latin typeface="Arial MT"/>
                <a:cs typeface="Arial MT"/>
              </a:rPr>
              <a:t>temperature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spc="-35" dirty="0">
                <a:latin typeface="Arial MT"/>
                <a:cs typeface="Arial MT"/>
              </a:rPr>
              <a:t>‘hot’</a:t>
            </a:r>
            <a:r>
              <a:rPr sz="1450" spc="-25" dirty="0">
                <a:latin typeface="Arial MT"/>
                <a:cs typeface="Arial MT"/>
              </a:rPr>
              <a:t> </a:t>
            </a:r>
            <a:r>
              <a:rPr sz="1450" spc="-35" dirty="0">
                <a:latin typeface="Arial MT"/>
                <a:cs typeface="Arial MT"/>
              </a:rPr>
              <a:t>and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‘cold’ </a:t>
            </a:r>
            <a:r>
              <a:rPr sz="1450" spc="-125" dirty="0">
                <a:latin typeface="Arial MT"/>
                <a:cs typeface="Arial MT"/>
              </a:rPr>
              <a:t>An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-40" dirty="0">
                <a:latin typeface="Arial MT"/>
                <a:cs typeface="Arial MT"/>
              </a:rPr>
              <a:t>object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75" dirty="0">
                <a:latin typeface="Arial MT"/>
                <a:cs typeface="Arial MT"/>
              </a:rPr>
              <a:t>‘moving’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or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35" dirty="0">
                <a:latin typeface="Arial MT"/>
                <a:cs typeface="Arial MT"/>
              </a:rPr>
              <a:t>‘stationary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574" y="1503753"/>
            <a:ext cx="5920740" cy="65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u="none" spc="-515" dirty="0">
                <a:latin typeface="Trebuchet MS"/>
                <a:cs typeface="Trebuchet MS"/>
              </a:rPr>
              <a:t>BENEFITS</a:t>
            </a:r>
            <a:r>
              <a:rPr b="1" u="none" spc="-140" dirty="0">
                <a:latin typeface="Trebuchet MS"/>
                <a:cs typeface="Trebuchet MS"/>
              </a:rPr>
              <a:t> </a:t>
            </a:r>
            <a:r>
              <a:rPr b="1" u="none" spc="-770" dirty="0">
                <a:latin typeface="Trebuchet MS"/>
                <a:cs typeface="Trebuchet MS"/>
              </a:rPr>
              <a:t>OF</a:t>
            </a:r>
            <a:r>
              <a:rPr b="1" u="none" spc="-180" dirty="0">
                <a:latin typeface="Trebuchet MS"/>
                <a:cs typeface="Trebuchet MS"/>
              </a:rPr>
              <a:t> </a:t>
            </a:r>
            <a:r>
              <a:rPr b="1" u="none" spc="-425" dirty="0">
                <a:latin typeface="Trebuchet MS"/>
                <a:cs typeface="Trebuchet MS"/>
              </a:rPr>
              <a:t>DIGITAL</a:t>
            </a:r>
            <a:r>
              <a:rPr b="1" u="none" spc="-140" dirty="0">
                <a:latin typeface="Trebuchet MS"/>
                <a:cs typeface="Trebuchet MS"/>
              </a:rPr>
              <a:t> </a:t>
            </a:r>
            <a:r>
              <a:rPr b="1" u="none" spc="-525" dirty="0">
                <a:latin typeface="Trebuchet MS"/>
                <a:cs typeface="Trebuchet MS"/>
              </a:rPr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335" y="2238301"/>
            <a:ext cx="8595995" cy="35045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123189">
              <a:lnSpc>
                <a:spcPct val="69700"/>
              </a:lnSpc>
              <a:spcBef>
                <a:spcPts val="705"/>
              </a:spcBef>
            </a:pPr>
            <a:r>
              <a:rPr sz="1650" b="1" spc="-155" dirty="0">
                <a:latin typeface="Arial"/>
                <a:cs typeface="Arial"/>
              </a:rPr>
              <a:t>Storing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125" dirty="0">
                <a:latin typeface="Arial"/>
                <a:cs typeface="Arial"/>
              </a:rPr>
              <a:t>and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60" dirty="0">
                <a:latin typeface="Arial"/>
                <a:cs typeface="Arial"/>
              </a:rPr>
              <a:t>processing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80" dirty="0">
                <a:latin typeface="Arial"/>
                <a:cs typeface="Arial"/>
              </a:rPr>
              <a:t>data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90" dirty="0">
                <a:latin typeface="Arial"/>
                <a:cs typeface="Arial"/>
              </a:rPr>
              <a:t>in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135" dirty="0">
                <a:latin typeface="Arial"/>
                <a:cs typeface="Arial"/>
              </a:rPr>
              <a:t>the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80" dirty="0">
                <a:latin typeface="Arial"/>
                <a:cs typeface="Arial"/>
              </a:rPr>
              <a:t>digital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120" dirty="0">
                <a:latin typeface="Arial"/>
                <a:cs typeface="Arial"/>
              </a:rPr>
              <a:t>domain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30" dirty="0">
                <a:latin typeface="Arial"/>
                <a:cs typeface="Arial"/>
              </a:rPr>
              <a:t>is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140" dirty="0">
                <a:latin typeface="Arial"/>
                <a:cs typeface="Arial"/>
              </a:rPr>
              <a:t>more</a:t>
            </a:r>
            <a:r>
              <a:rPr sz="1650" b="1" spc="10" dirty="0">
                <a:latin typeface="Arial"/>
                <a:cs typeface="Arial"/>
              </a:rPr>
              <a:t> </a:t>
            </a:r>
            <a:r>
              <a:rPr sz="1650" b="1" spc="-105" dirty="0">
                <a:latin typeface="Arial"/>
                <a:cs typeface="Arial"/>
              </a:rPr>
              <a:t>efficient: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spc="-135" dirty="0">
                <a:latin typeface="Arial MT"/>
                <a:cs typeface="Arial MT"/>
              </a:rPr>
              <a:t>Computers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are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very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efficient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in </a:t>
            </a:r>
            <a:r>
              <a:rPr sz="1650" spc="-125" dirty="0">
                <a:latin typeface="Arial MT"/>
                <a:cs typeface="Arial MT"/>
              </a:rPr>
              <a:t>processing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65" dirty="0">
                <a:latin typeface="Arial MT"/>
                <a:cs typeface="Arial MT"/>
              </a:rPr>
              <a:t>massive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160" dirty="0">
                <a:latin typeface="Arial MT"/>
                <a:cs typeface="Arial MT"/>
              </a:rPr>
              <a:t>amounts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55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information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and</a:t>
            </a:r>
            <a:r>
              <a:rPr sz="1650" spc="1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data.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680"/>
              </a:lnSpc>
              <a:spcBef>
                <a:spcPts val="565"/>
              </a:spcBef>
            </a:pPr>
            <a:r>
              <a:rPr sz="1650" b="1" spc="-145" dirty="0">
                <a:latin typeface="Arial"/>
                <a:cs typeface="Arial"/>
              </a:rPr>
              <a:t>Transmission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of</a:t>
            </a:r>
            <a:r>
              <a:rPr sz="1650" b="1" spc="80" dirty="0">
                <a:latin typeface="Arial"/>
                <a:cs typeface="Arial"/>
              </a:rPr>
              <a:t> </a:t>
            </a:r>
            <a:r>
              <a:rPr sz="1650" b="1" spc="-85" dirty="0">
                <a:latin typeface="Arial"/>
                <a:cs typeface="Arial"/>
              </a:rPr>
              <a:t>data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spc="-60" dirty="0">
                <a:latin typeface="Arial"/>
                <a:cs typeface="Arial"/>
              </a:rPr>
              <a:t>in</a:t>
            </a:r>
            <a:r>
              <a:rPr sz="1650" b="1" dirty="0">
                <a:latin typeface="Arial"/>
                <a:cs typeface="Arial"/>
              </a:rPr>
              <a:t> </a:t>
            </a:r>
            <a:r>
              <a:rPr sz="1650" b="1" spc="-140" dirty="0">
                <a:latin typeface="Arial"/>
                <a:cs typeface="Arial"/>
              </a:rPr>
              <a:t>the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80" dirty="0">
                <a:latin typeface="Arial"/>
                <a:cs typeface="Arial"/>
              </a:rPr>
              <a:t>digital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20" dirty="0">
                <a:latin typeface="Arial"/>
                <a:cs typeface="Arial"/>
              </a:rPr>
              <a:t>form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30" dirty="0">
                <a:latin typeface="Arial"/>
                <a:cs typeface="Arial"/>
              </a:rPr>
              <a:t>is</a:t>
            </a:r>
            <a:r>
              <a:rPr sz="1650" b="1" spc="-25" dirty="0">
                <a:latin typeface="Arial"/>
                <a:cs typeface="Arial"/>
              </a:rPr>
              <a:t> </a:t>
            </a:r>
            <a:r>
              <a:rPr sz="1650" b="1" spc="-140" dirty="0">
                <a:latin typeface="Arial"/>
                <a:cs typeface="Arial"/>
              </a:rPr>
              <a:t>more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100" dirty="0">
                <a:latin typeface="Arial"/>
                <a:cs typeface="Arial"/>
              </a:rPr>
              <a:t>efficient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114" dirty="0">
                <a:latin typeface="Arial"/>
                <a:cs typeface="Arial"/>
              </a:rPr>
              <a:t>and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90" dirty="0">
                <a:latin typeface="Arial"/>
                <a:cs typeface="Arial"/>
              </a:rPr>
              <a:t>reliable: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spc="-80" dirty="0">
                <a:latin typeface="Arial MT"/>
                <a:cs typeface="Arial MT"/>
              </a:rPr>
              <a:t>Modern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information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70300"/>
              </a:lnSpc>
              <a:spcBef>
                <a:spcPts val="285"/>
              </a:spcBef>
            </a:pPr>
            <a:r>
              <a:rPr sz="1650" spc="-140" dirty="0">
                <a:latin typeface="Arial MT"/>
                <a:cs typeface="Arial MT"/>
              </a:rPr>
              <a:t>transmission</a:t>
            </a:r>
            <a:r>
              <a:rPr sz="1650" spc="-45" dirty="0">
                <a:latin typeface="Arial MT"/>
                <a:cs typeface="Arial MT"/>
              </a:rPr>
              <a:t> </a:t>
            </a:r>
            <a:r>
              <a:rPr sz="1650" spc="-130" dirty="0">
                <a:latin typeface="Arial MT"/>
                <a:cs typeface="Arial MT"/>
              </a:rPr>
              <a:t>techniques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are</a:t>
            </a:r>
            <a:r>
              <a:rPr sz="1650" spc="-35" dirty="0">
                <a:latin typeface="Arial MT"/>
                <a:cs typeface="Arial MT"/>
              </a:rPr>
              <a:t> relying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more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on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digital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140" dirty="0">
                <a:latin typeface="Arial MT"/>
                <a:cs typeface="Arial MT"/>
              </a:rPr>
              <a:t>transmission</a:t>
            </a:r>
            <a:r>
              <a:rPr sz="1650" spc="-45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due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to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0" dirty="0">
                <a:latin typeface="Arial MT"/>
                <a:cs typeface="Arial MT"/>
              </a:rPr>
              <a:t>its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reliability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as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it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is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70" dirty="0">
                <a:latin typeface="Arial MT"/>
                <a:cs typeface="Arial MT"/>
              </a:rPr>
              <a:t>less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prone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to </a:t>
            </a:r>
            <a:r>
              <a:rPr sz="1650" spc="-10" dirty="0">
                <a:latin typeface="Arial MT"/>
                <a:cs typeface="Arial MT"/>
              </a:rPr>
              <a:t>errors.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680"/>
              </a:lnSpc>
              <a:spcBef>
                <a:spcPts val="565"/>
              </a:spcBef>
            </a:pPr>
            <a:r>
              <a:rPr sz="1650" b="1" spc="-140" dirty="0">
                <a:latin typeface="Arial"/>
                <a:cs typeface="Arial"/>
              </a:rPr>
              <a:t>Detecting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114" dirty="0">
                <a:latin typeface="Arial"/>
                <a:cs typeface="Arial"/>
              </a:rPr>
              <a:t>and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45" dirty="0">
                <a:latin typeface="Arial"/>
                <a:cs typeface="Arial"/>
              </a:rPr>
              <a:t>Correcting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45" dirty="0">
                <a:latin typeface="Arial"/>
                <a:cs typeface="Arial"/>
              </a:rPr>
              <a:t>errors</a:t>
            </a:r>
            <a:r>
              <a:rPr sz="1650" b="1" spc="-5" dirty="0">
                <a:latin typeface="Arial"/>
                <a:cs typeface="Arial"/>
              </a:rPr>
              <a:t> </a:t>
            </a:r>
            <a:r>
              <a:rPr sz="1650" b="1" spc="-90" dirty="0">
                <a:latin typeface="Arial"/>
                <a:cs typeface="Arial"/>
              </a:rPr>
              <a:t>in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80" dirty="0">
                <a:latin typeface="Arial"/>
                <a:cs typeface="Arial"/>
              </a:rPr>
              <a:t>digital</a:t>
            </a:r>
            <a:r>
              <a:rPr sz="1650" b="1" dirty="0">
                <a:latin typeface="Arial"/>
                <a:cs typeface="Arial"/>
              </a:rPr>
              <a:t> </a:t>
            </a:r>
            <a:r>
              <a:rPr sz="1650" b="1" spc="-80" dirty="0">
                <a:latin typeface="Arial"/>
                <a:cs typeface="Arial"/>
              </a:rPr>
              <a:t>data</a:t>
            </a:r>
            <a:r>
              <a:rPr sz="1650" b="1" spc="-5" dirty="0">
                <a:latin typeface="Arial"/>
                <a:cs typeface="Arial"/>
              </a:rPr>
              <a:t> </a:t>
            </a:r>
            <a:r>
              <a:rPr sz="1650" b="1" spc="-130" dirty="0">
                <a:latin typeface="Arial"/>
                <a:cs typeface="Arial"/>
              </a:rPr>
              <a:t>is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120" dirty="0">
                <a:latin typeface="Arial"/>
                <a:cs typeface="Arial"/>
              </a:rPr>
              <a:t>easier:</a:t>
            </a:r>
            <a:r>
              <a:rPr sz="1650" b="1" spc="-5" dirty="0">
                <a:latin typeface="Arial"/>
                <a:cs typeface="Arial"/>
              </a:rPr>
              <a:t> </a:t>
            </a:r>
            <a:r>
              <a:rPr sz="1650" spc="-80" dirty="0">
                <a:latin typeface="Arial MT"/>
                <a:cs typeface="Arial MT"/>
              </a:rPr>
              <a:t>Coding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Theory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is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95" dirty="0">
                <a:latin typeface="Arial MT"/>
                <a:cs typeface="Arial MT"/>
              </a:rPr>
              <a:t>an</a:t>
            </a:r>
            <a:r>
              <a:rPr sz="1650" spc="1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area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30" dirty="0">
                <a:latin typeface="Arial MT"/>
                <a:cs typeface="Arial MT"/>
              </a:rPr>
              <a:t>which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deals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with</a:t>
            </a:r>
            <a:endParaRPr sz="1650">
              <a:latin typeface="Arial MT"/>
              <a:cs typeface="Arial MT"/>
            </a:endParaRPr>
          </a:p>
          <a:p>
            <a:pPr marL="12700" marR="173355">
              <a:lnSpc>
                <a:spcPct val="70300"/>
              </a:lnSpc>
              <a:spcBef>
                <a:spcPts val="290"/>
              </a:spcBef>
            </a:pPr>
            <a:r>
              <a:rPr sz="1650" spc="-105" dirty="0">
                <a:latin typeface="Arial MT"/>
                <a:cs typeface="Arial MT"/>
              </a:rPr>
              <a:t>implementing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digital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spc="-140" dirty="0">
                <a:latin typeface="Arial MT"/>
                <a:cs typeface="Arial MT"/>
              </a:rPr>
              <a:t>codes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55" dirty="0">
                <a:latin typeface="Arial MT"/>
                <a:cs typeface="Arial MT"/>
              </a:rPr>
              <a:t>that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allow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for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detection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and</a:t>
            </a:r>
            <a:r>
              <a:rPr sz="1650" spc="10" dirty="0">
                <a:latin typeface="Arial MT"/>
                <a:cs typeface="Arial MT"/>
              </a:rPr>
              <a:t> </a:t>
            </a:r>
            <a:r>
              <a:rPr sz="1650" spc="-90" dirty="0">
                <a:latin typeface="Arial MT"/>
                <a:cs typeface="Arial MT"/>
              </a:rPr>
              <a:t>correction</a:t>
            </a:r>
            <a:r>
              <a:rPr sz="1650" spc="-4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60" dirty="0">
                <a:latin typeface="Arial MT"/>
                <a:cs typeface="Arial MT"/>
              </a:rPr>
              <a:t> </a:t>
            </a:r>
            <a:r>
              <a:rPr sz="1650" spc="-100" dirty="0">
                <a:latin typeface="Arial MT"/>
                <a:cs typeface="Arial MT"/>
              </a:rPr>
              <a:t>multi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bit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95" dirty="0">
                <a:latin typeface="Arial MT"/>
                <a:cs typeface="Arial MT"/>
              </a:rPr>
              <a:t>errors.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155" dirty="0">
                <a:latin typeface="Arial MT"/>
                <a:cs typeface="Arial MT"/>
              </a:rPr>
              <a:t>In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Digital </a:t>
            </a:r>
            <a:r>
              <a:rPr sz="1650" spc="-120" dirty="0">
                <a:latin typeface="Arial MT"/>
                <a:cs typeface="Arial MT"/>
              </a:rPr>
              <a:t>Logic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35" dirty="0">
                <a:latin typeface="Arial MT"/>
                <a:cs typeface="Arial MT"/>
              </a:rPr>
              <a:t>Design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course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14" dirty="0">
                <a:latin typeface="Arial MT"/>
                <a:cs typeface="Arial MT"/>
              </a:rPr>
              <a:t>simple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method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to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detect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100" dirty="0">
                <a:latin typeface="Arial MT"/>
                <a:cs typeface="Arial MT"/>
              </a:rPr>
              <a:t>single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bit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90" dirty="0">
                <a:latin typeface="Arial MT"/>
                <a:cs typeface="Arial MT"/>
              </a:rPr>
              <a:t>errors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using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14" dirty="0">
                <a:latin typeface="Arial MT"/>
                <a:cs typeface="Arial MT"/>
              </a:rPr>
              <a:t>the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70" dirty="0">
                <a:latin typeface="Arial MT"/>
                <a:cs typeface="Arial MT"/>
              </a:rPr>
              <a:t>Parity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bit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considered.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685"/>
              </a:lnSpc>
              <a:spcBef>
                <a:spcPts val="550"/>
              </a:spcBef>
            </a:pPr>
            <a:r>
              <a:rPr sz="1650" b="1" spc="-85" dirty="0">
                <a:latin typeface="Arial"/>
                <a:cs typeface="Arial"/>
              </a:rPr>
              <a:t>Data</a:t>
            </a:r>
            <a:r>
              <a:rPr sz="1650" b="1" spc="-35" dirty="0">
                <a:latin typeface="Arial"/>
                <a:cs typeface="Arial"/>
              </a:rPr>
              <a:t> </a:t>
            </a:r>
            <a:r>
              <a:rPr sz="1650" b="1" spc="-150" dirty="0">
                <a:latin typeface="Arial"/>
                <a:cs typeface="Arial"/>
              </a:rPr>
              <a:t>can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spc="-145" dirty="0">
                <a:latin typeface="Arial"/>
                <a:cs typeface="Arial"/>
              </a:rPr>
              <a:t>be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spc="-85" dirty="0">
                <a:latin typeface="Arial"/>
                <a:cs typeface="Arial"/>
              </a:rPr>
              <a:t>easily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spc="-114" dirty="0">
                <a:latin typeface="Arial"/>
                <a:cs typeface="Arial"/>
              </a:rPr>
              <a:t>and</a:t>
            </a:r>
            <a:r>
              <a:rPr sz="1650" b="1" spc="-20" dirty="0">
                <a:latin typeface="Arial"/>
                <a:cs typeface="Arial"/>
              </a:rPr>
              <a:t> </a:t>
            </a:r>
            <a:r>
              <a:rPr sz="1650" b="1" spc="-125" dirty="0">
                <a:latin typeface="Arial"/>
                <a:cs typeface="Arial"/>
              </a:rPr>
              <a:t>precisely</a:t>
            </a:r>
            <a:r>
              <a:rPr sz="1650" b="1" spc="-5" dirty="0">
                <a:latin typeface="Arial"/>
                <a:cs typeface="Arial"/>
              </a:rPr>
              <a:t> </a:t>
            </a:r>
            <a:r>
              <a:rPr sz="1650" b="1" spc="-145" dirty="0">
                <a:latin typeface="Arial"/>
                <a:cs typeface="Arial"/>
              </a:rPr>
              <a:t>reproduced:</a:t>
            </a:r>
            <a:r>
              <a:rPr sz="1650" b="1" spc="-5" dirty="0">
                <a:latin typeface="Arial"/>
                <a:cs typeface="Arial"/>
              </a:rPr>
              <a:t> </a:t>
            </a:r>
            <a:r>
              <a:rPr sz="1650" spc="-204" dirty="0">
                <a:latin typeface="Arial MT"/>
                <a:cs typeface="Arial MT"/>
              </a:rPr>
              <a:t>The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picture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quality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65" dirty="0">
                <a:latin typeface="Arial MT"/>
                <a:cs typeface="Arial MT"/>
              </a:rPr>
              <a:t>and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55" dirty="0">
                <a:latin typeface="Arial MT"/>
                <a:cs typeface="Arial MT"/>
              </a:rPr>
              <a:t>sound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quality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4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digital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385"/>
              </a:lnSpc>
            </a:pPr>
            <a:r>
              <a:rPr sz="1650" spc="-105" dirty="0">
                <a:latin typeface="Arial MT"/>
                <a:cs typeface="Arial MT"/>
              </a:rPr>
              <a:t>videos</a:t>
            </a:r>
            <a:r>
              <a:rPr sz="1650" spc="-10" dirty="0">
                <a:latin typeface="Arial MT"/>
                <a:cs typeface="Arial MT"/>
              </a:rPr>
              <a:t> are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far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more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90" dirty="0">
                <a:latin typeface="Arial MT"/>
                <a:cs typeface="Arial MT"/>
              </a:rPr>
              <a:t>superior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30" dirty="0">
                <a:latin typeface="Arial MT"/>
                <a:cs typeface="Arial MT"/>
              </a:rPr>
              <a:t>to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those</a:t>
            </a:r>
            <a:r>
              <a:rPr sz="1650" dirty="0">
                <a:latin typeface="Arial MT"/>
                <a:cs typeface="Arial MT"/>
              </a:rPr>
              <a:t> of</a:t>
            </a:r>
            <a:r>
              <a:rPr sz="1650" spc="45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analogue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10" dirty="0">
                <a:latin typeface="Arial MT"/>
                <a:cs typeface="Arial MT"/>
              </a:rPr>
              <a:t>videos.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04" dirty="0">
                <a:latin typeface="Arial MT"/>
                <a:cs typeface="Arial MT"/>
              </a:rPr>
              <a:t>The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reason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being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that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digital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video</a:t>
            </a:r>
            <a:endParaRPr sz="1650">
              <a:latin typeface="Arial MT"/>
              <a:cs typeface="Arial MT"/>
            </a:endParaRPr>
          </a:p>
          <a:p>
            <a:pPr marL="12700" marR="824865">
              <a:lnSpc>
                <a:spcPct val="70300"/>
              </a:lnSpc>
              <a:spcBef>
                <a:spcPts val="290"/>
              </a:spcBef>
            </a:pPr>
            <a:r>
              <a:rPr sz="1650" spc="-85" dirty="0">
                <a:latin typeface="Arial MT"/>
                <a:cs typeface="Arial MT"/>
              </a:rPr>
              <a:t>stored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as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digital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numbers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130" dirty="0">
                <a:latin typeface="Arial MT"/>
                <a:cs typeface="Arial MT"/>
              </a:rPr>
              <a:t>can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exactly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reproduced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95" dirty="0">
                <a:latin typeface="Arial MT"/>
                <a:cs typeface="Arial MT"/>
              </a:rPr>
              <a:t>where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as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analogue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video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60" dirty="0">
                <a:latin typeface="Arial MT"/>
                <a:cs typeface="Arial MT"/>
              </a:rPr>
              <a:t>is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stored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as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a </a:t>
            </a:r>
            <a:r>
              <a:rPr sz="1650" spc="-155" dirty="0">
                <a:latin typeface="Arial MT"/>
                <a:cs typeface="Arial MT"/>
              </a:rPr>
              <a:t>continuous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signal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35" dirty="0">
                <a:latin typeface="Arial MT"/>
                <a:cs typeface="Arial MT"/>
              </a:rPr>
              <a:t>can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not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be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70" dirty="0">
                <a:latin typeface="Arial MT"/>
                <a:cs typeface="Arial MT"/>
              </a:rPr>
              <a:t>reproduced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70" dirty="0">
                <a:latin typeface="Arial MT"/>
                <a:cs typeface="Arial MT"/>
              </a:rPr>
              <a:t>with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65" dirty="0">
                <a:latin typeface="Arial MT"/>
                <a:cs typeface="Arial MT"/>
              </a:rPr>
              <a:t>exact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precision.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680"/>
              </a:lnSpc>
              <a:spcBef>
                <a:spcPts val="560"/>
              </a:spcBef>
            </a:pPr>
            <a:r>
              <a:rPr sz="1650" b="1" spc="-85" dirty="0">
                <a:latin typeface="Arial"/>
                <a:cs typeface="Arial"/>
              </a:rPr>
              <a:t>Digital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65" dirty="0">
                <a:latin typeface="Arial"/>
                <a:cs typeface="Arial"/>
              </a:rPr>
              <a:t>systems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90" dirty="0">
                <a:latin typeface="Arial"/>
                <a:cs typeface="Arial"/>
              </a:rPr>
              <a:t>are</a:t>
            </a:r>
            <a:r>
              <a:rPr sz="1650" b="1" spc="-10" dirty="0">
                <a:latin typeface="Arial"/>
                <a:cs typeface="Arial"/>
              </a:rPr>
              <a:t> </a:t>
            </a:r>
            <a:r>
              <a:rPr sz="1650" b="1" spc="-110" dirty="0">
                <a:latin typeface="Arial"/>
                <a:cs typeface="Arial"/>
              </a:rPr>
              <a:t>easy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40" dirty="0">
                <a:latin typeface="Arial"/>
                <a:cs typeface="Arial"/>
              </a:rPr>
              <a:t>to</a:t>
            </a:r>
            <a:r>
              <a:rPr sz="1650" b="1" dirty="0">
                <a:latin typeface="Arial"/>
                <a:cs typeface="Arial"/>
              </a:rPr>
              <a:t> </a:t>
            </a:r>
            <a:r>
              <a:rPr sz="1650" b="1" spc="-145" dirty="0">
                <a:latin typeface="Arial"/>
                <a:cs typeface="Arial"/>
              </a:rPr>
              <a:t>design</a:t>
            </a:r>
            <a:r>
              <a:rPr sz="1650" b="1" spc="5" dirty="0">
                <a:latin typeface="Arial"/>
                <a:cs typeface="Arial"/>
              </a:rPr>
              <a:t> </a:t>
            </a:r>
            <a:r>
              <a:rPr sz="1650" b="1" spc="-125" dirty="0">
                <a:latin typeface="Arial"/>
                <a:cs typeface="Arial"/>
              </a:rPr>
              <a:t>and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125" dirty="0">
                <a:latin typeface="Arial"/>
                <a:cs typeface="Arial"/>
              </a:rPr>
              <a:t>implement:</a:t>
            </a:r>
            <a:r>
              <a:rPr sz="1650" b="1" spc="20" dirty="0">
                <a:latin typeface="Arial"/>
                <a:cs typeface="Arial"/>
              </a:rPr>
              <a:t> </a:t>
            </a:r>
            <a:r>
              <a:rPr sz="1650" spc="-25" dirty="0">
                <a:latin typeface="Arial MT"/>
                <a:cs typeface="Arial MT"/>
              </a:rPr>
              <a:t>Digital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180" dirty="0">
                <a:latin typeface="Arial MT"/>
                <a:cs typeface="Arial MT"/>
              </a:rPr>
              <a:t>Systems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are </a:t>
            </a:r>
            <a:r>
              <a:rPr sz="1650" spc="-80" dirty="0">
                <a:latin typeface="Arial MT"/>
                <a:cs typeface="Arial MT"/>
              </a:rPr>
              <a:t>based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on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70" dirty="0">
                <a:latin typeface="Arial MT"/>
                <a:cs typeface="Arial MT"/>
              </a:rPr>
              <a:t>two</a:t>
            </a:r>
            <a:r>
              <a:rPr sz="1650" spc="5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state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Binary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ts val="1385"/>
              </a:lnSpc>
            </a:pPr>
            <a:r>
              <a:rPr sz="1650" spc="-114" dirty="0">
                <a:latin typeface="Arial MT"/>
                <a:cs typeface="Arial MT"/>
              </a:rPr>
              <a:t>Number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55" dirty="0">
                <a:latin typeface="Arial MT"/>
                <a:cs typeface="Arial MT"/>
              </a:rPr>
              <a:t>System.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25" dirty="0">
                <a:latin typeface="Arial MT"/>
                <a:cs typeface="Arial MT"/>
              </a:rPr>
              <a:t>Consequently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2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Digital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Circuitry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is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75" dirty="0">
                <a:latin typeface="Arial MT"/>
                <a:cs typeface="Arial MT"/>
              </a:rPr>
              <a:t>based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50" dirty="0">
                <a:latin typeface="Arial MT"/>
                <a:cs typeface="Arial MT"/>
              </a:rPr>
              <a:t>on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two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55" dirty="0">
                <a:latin typeface="Arial MT"/>
                <a:cs typeface="Arial MT"/>
              </a:rPr>
              <a:t>voltage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30" dirty="0">
                <a:latin typeface="Arial MT"/>
                <a:cs typeface="Arial MT"/>
              </a:rPr>
              <a:t>states,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performing</a:t>
            </a:r>
            <a:r>
              <a:rPr sz="1650" spc="-20" dirty="0">
                <a:latin typeface="Arial MT"/>
                <a:cs typeface="Arial MT"/>
              </a:rPr>
              <a:t> very</a:t>
            </a:r>
            <a:endParaRPr sz="1650">
              <a:latin typeface="Arial MT"/>
              <a:cs typeface="Arial MT"/>
            </a:endParaRPr>
          </a:p>
          <a:p>
            <a:pPr marL="12700" marR="463550">
              <a:lnSpc>
                <a:spcPct val="69700"/>
              </a:lnSpc>
              <a:spcBef>
                <a:spcPts val="305"/>
              </a:spcBef>
            </a:pPr>
            <a:r>
              <a:rPr sz="1650" spc="-114" dirty="0">
                <a:latin typeface="Arial MT"/>
                <a:cs typeface="Arial MT"/>
              </a:rPr>
              <a:t>simple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85" dirty="0">
                <a:latin typeface="Arial MT"/>
                <a:cs typeface="Arial MT"/>
              </a:rPr>
              <a:t>operations.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10" dirty="0">
                <a:latin typeface="Arial MT"/>
                <a:cs typeface="Arial MT"/>
              </a:rPr>
              <a:t>Complex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25" dirty="0">
                <a:latin typeface="Arial MT"/>
                <a:cs typeface="Arial MT"/>
              </a:rPr>
              <a:t>Microprocessors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are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implemented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145" dirty="0">
                <a:latin typeface="Arial MT"/>
                <a:cs typeface="Arial MT"/>
              </a:rPr>
              <a:t>using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114" dirty="0">
                <a:latin typeface="Arial MT"/>
                <a:cs typeface="Arial MT"/>
              </a:rPr>
              <a:t>simple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digital</a:t>
            </a:r>
            <a:r>
              <a:rPr sz="1650" spc="20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circuits.</a:t>
            </a:r>
            <a:r>
              <a:rPr sz="1650" spc="25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Several </a:t>
            </a:r>
            <a:r>
              <a:rPr sz="1650" spc="-114" dirty="0">
                <a:latin typeface="Arial MT"/>
                <a:cs typeface="Arial MT"/>
              </a:rPr>
              <a:t>simple</a:t>
            </a:r>
            <a:r>
              <a:rPr sz="1650" spc="-30" dirty="0">
                <a:latin typeface="Arial MT"/>
                <a:cs typeface="Arial MT"/>
              </a:rPr>
              <a:t> Digital</a:t>
            </a:r>
            <a:r>
              <a:rPr sz="1650" spc="-60" dirty="0">
                <a:latin typeface="Arial MT"/>
                <a:cs typeface="Arial MT"/>
              </a:rPr>
              <a:t> </a:t>
            </a:r>
            <a:r>
              <a:rPr sz="1650" spc="-185" dirty="0">
                <a:latin typeface="Arial MT"/>
                <a:cs typeface="Arial MT"/>
              </a:rPr>
              <a:t>Systems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will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be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55" dirty="0">
                <a:latin typeface="Arial MT"/>
                <a:cs typeface="Arial MT"/>
              </a:rPr>
              <a:t>discussed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10" dirty="0">
                <a:latin typeface="Arial MT"/>
                <a:cs typeface="Arial MT"/>
              </a:rPr>
              <a:t>in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spc="-105" dirty="0">
                <a:latin typeface="Arial MT"/>
                <a:cs typeface="Arial MT"/>
              </a:rPr>
              <a:t>the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Digital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120" dirty="0">
                <a:latin typeface="Arial MT"/>
                <a:cs typeface="Arial MT"/>
              </a:rPr>
              <a:t>Logic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course.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3655" marR="5080">
              <a:lnSpc>
                <a:spcPts val="3960"/>
              </a:lnSpc>
              <a:spcBef>
                <a:spcPts val="1060"/>
              </a:spcBef>
            </a:pPr>
            <a:r>
              <a:rPr u="none" spc="-775" dirty="0"/>
              <a:t>REPRESENTATION</a:t>
            </a:r>
            <a:r>
              <a:rPr u="none" spc="-345" dirty="0"/>
              <a:t> </a:t>
            </a:r>
            <a:r>
              <a:rPr u="none" spc="-810" dirty="0"/>
              <a:t>OF</a:t>
            </a:r>
            <a:r>
              <a:rPr u="none" spc="-285" dirty="0"/>
              <a:t> </a:t>
            </a:r>
            <a:r>
              <a:rPr u="none" spc="-630" dirty="0"/>
              <a:t>DIGITAL</a:t>
            </a:r>
            <a:r>
              <a:rPr u="none" spc="-325" dirty="0"/>
              <a:t> </a:t>
            </a:r>
            <a:r>
              <a:rPr u="none" spc="-685" dirty="0"/>
              <a:t>DESIGN</a:t>
            </a:r>
            <a:r>
              <a:rPr u="none" spc="-300" dirty="0"/>
              <a:t> </a:t>
            </a:r>
            <a:r>
              <a:rPr u="none" spc="-540" dirty="0"/>
              <a:t>IN </a:t>
            </a:r>
            <a:r>
              <a:rPr u="none" spc="-730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2604" y="2755392"/>
            <a:ext cx="7665720" cy="3695700"/>
            <a:chOff x="1022604" y="2755392"/>
            <a:chExt cx="7665720" cy="3695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056" y="2944368"/>
              <a:ext cx="7289292" cy="33192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2604" y="2755391"/>
              <a:ext cx="7665720" cy="3695700"/>
            </a:xfrm>
            <a:custGeom>
              <a:avLst/>
              <a:gdLst/>
              <a:ahLst/>
              <a:cxnLst/>
              <a:rect l="l" t="t" r="r" b="b"/>
              <a:pathLst>
                <a:path w="7665720" h="3695700">
                  <a:moveTo>
                    <a:pt x="7514844" y="151130"/>
                  </a:moveTo>
                  <a:lnTo>
                    <a:pt x="7476744" y="151130"/>
                  </a:lnTo>
                  <a:lnTo>
                    <a:pt x="7476744" y="189230"/>
                  </a:lnTo>
                  <a:lnTo>
                    <a:pt x="7476744" y="3507740"/>
                  </a:lnTo>
                  <a:lnTo>
                    <a:pt x="187452" y="3507740"/>
                  </a:lnTo>
                  <a:lnTo>
                    <a:pt x="187452" y="189230"/>
                  </a:lnTo>
                  <a:lnTo>
                    <a:pt x="7476744" y="189230"/>
                  </a:lnTo>
                  <a:lnTo>
                    <a:pt x="7476744" y="151130"/>
                  </a:lnTo>
                  <a:lnTo>
                    <a:pt x="150876" y="151130"/>
                  </a:lnTo>
                  <a:lnTo>
                    <a:pt x="150876" y="189230"/>
                  </a:lnTo>
                  <a:lnTo>
                    <a:pt x="150876" y="3507740"/>
                  </a:lnTo>
                  <a:lnTo>
                    <a:pt x="150876" y="3544570"/>
                  </a:lnTo>
                  <a:lnTo>
                    <a:pt x="7514844" y="3544570"/>
                  </a:lnTo>
                  <a:lnTo>
                    <a:pt x="7514844" y="3508260"/>
                  </a:lnTo>
                  <a:lnTo>
                    <a:pt x="7514844" y="3507740"/>
                  </a:lnTo>
                  <a:lnTo>
                    <a:pt x="7514844" y="189230"/>
                  </a:lnTo>
                  <a:lnTo>
                    <a:pt x="7514844" y="188976"/>
                  </a:lnTo>
                  <a:lnTo>
                    <a:pt x="7514844" y="151130"/>
                  </a:lnTo>
                  <a:close/>
                </a:path>
                <a:path w="7665720" h="3695700">
                  <a:moveTo>
                    <a:pt x="7665720" y="0"/>
                  </a:moveTo>
                  <a:lnTo>
                    <a:pt x="7552944" y="0"/>
                  </a:lnTo>
                  <a:lnTo>
                    <a:pt x="7552944" y="113030"/>
                  </a:lnTo>
                  <a:lnTo>
                    <a:pt x="7552944" y="3582670"/>
                  </a:lnTo>
                  <a:lnTo>
                    <a:pt x="112776" y="3582670"/>
                  </a:lnTo>
                  <a:lnTo>
                    <a:pt x="112776" y="113030"/>
                  </a:lnTo>
                  <a:lnTo>
                    <a:pt x="7552944" y="113030"/>
                  </a:lnTo>
                  <a:lnTo>
                    <a:pt x="7552944" y="0"/>
                  </a:lnTo>
                  <a:lnTo>
                    <a:pt x="0" y="0"/>
                  </a:lnTo>
                  <a:lnTo>
                    <a:pt x="0" y="113030"/>
                  </a:lnTo>
                  <a:lnTo>
                    <a:pt x="0" y="3582670"/>
                  </a:lnTo>
                  <a:lnTo>
                    <a:pt x="0" y="3695700"/>
                  </a:lnTo>
                  <a:lnTo>
                    <a:pt x="7665720" y="3695700"/>
                  </a:lnTo>
                  <a:lnTo>
                    <a:pt x="7665720" y="3582936"/>
                  </a:lnTo>
                  <a:lnTo>
                    <a:pt x="7665720" y="3582670"/>
                  </a:lnTo>
                  <a:lnTo>
                    <a:pt x="7665720" y="113030"/>
                  </a:lnTo>
                  <a:lnTo>
                    <a:pt x="7665720" y="112776"/>
                  </a:lnTo>
                  <a:lnTo>
                    <a:pt x="7665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9993" y="2983514"/>
            <a:ext cx="6500495" cy="86360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950" b="1" spc="-25" dirty="0">
                <a:latin typeface="Arial"/>
                <a:cs typeface="Arial"/>
              </a:rPr>
              <a:t>So,</a:t>
            </a:r>
            <a:endParaRPr sz="1950">
              <a:latin typeface="Arial"/>
              <a:cs typeface="Arial"/>
            </a:endParaRPr>
          </a:p>
          <a:p>
            <a:pPr marL="766445">
              <a:lnSpc>
                <a:spcPct val="100000"/>
              </a:lnSpc>
              <a:spcBef>
                <a:spcPts val="960"/>
              </a:spcBef>
            </a:pPr>
            <a:r>
              <a:rPr sz="1950" b="1" dirty="0">
                <a:latin typeface="Arial"/>
                <a:cs typeface="Arial"/>
              </a:rPr>
              <a:t>If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we</a:t>
            </a:r>
            <a:r>
              <a:rPr sz="1950" b="1" spc="-55" dirty="0">
                <a:latin typeface="Arial"/>
                <a:cs typeface="Arial"/>
              </a:rPr>
              <a:t> </a:t>
            </a:r>
            <a:r>
              <a:rPr sz="1950" b="1" spc="-95" dirty="0">
                <a:latin typeface="Arial"/>
                <a:cs typeface="Arial"/>
              </a:rPr>
              <a:t>are</a:t>
            </a:r>
            <a:r>
              <a:rPr sz="1950" b="1" spc="-35" dirty="0">
                <a:latin typeface="Arial"/>
                <a:cs typeface="Arial"/>
              </a:rPr>
              <a:t> </a:t>
            </a:r>
            <a:r>
              <a:rPr sz="1950" b="1" spc="-145" dirty="0">
                <a:latin typeface="Arial"/>
                <a:cs typeface="Arial"/>
              </a:rPr>
              <a:t>representing</a:t>
            </a:r>
            <a:r>
              <a:rPr sz="1950" b="1" spc="-25" dirty="0">
                <a:latin typeface="Arial"/>
                <a:cs typeface="Arial"/>
              </a:rPr>
              <a:t> </a:t>
            </a:r>
            <a:r>
              <a:rPr sz="1950" b="1" spc="-85" dirty="0">
                <a:latin typeface="Arial"/>
                <a:cs typeface="Arial"/>
              </a:rPr>
              <a:t>only</a:t>
            </a:r>
            <a:r>
              <a:rPr sz="1950" b="1" spc="-5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‘0’</a:t>
            </a:r>
            <a:r>
              <a:rPr sz="1950" b="1" spc="-40" dirty="0">
                <a:latin typeface="Arial"/>
                <a:cs typeface="Arial"/>
              </a:rPr>
              <a:t> </a:t>
            </a:r>
            <a:r>
              <a:rPr sz="1950" b="1" spc="-155" dirty="0">
                <a:latin typeface="Arial"/>
                <a:cs typeface="Arial"/>
              </a:rPr>
              <a:t>or</a:t>
            </a:r>
            <a:r>
              <a:rPr sz="1950" b="1" spc="-1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‘1’</a:t>
            </a:r>
            <a:r>
              <a:rPr sz="1950" b="1" spc="-55" dirty="0">
                <a:latin typeface="Arial"/>
                <a:cs typeface="Arial"/>
              </a:rPr>
              <a:t> </a:t>
            </a:r>
            <a:r>
              <a:rPr sz="1950" b="1" spc="-110" dirty="0">
                <a:latin typeface="Arial"/>
                <a:cs typeface="Arial"/>
              </a:rPr>
              <a:t>and</a:t>
            </a:r>
            <a:r>
              <a:rPr sz="1950" b="1" spc="-25" dirty="0">
                <a:latin typeface="Arial"/>
                <a:cs typeface="Arial"/>
              </a:rPr>
              <a:t> ‘ON’</a:t>
            </a:r>
            <a:r>
              <a:rPr sz="1950" b="1" spc="-60" dirty="0">
                <a:latin typeface="Arial"/>
                <a:cs typeface="Arial"/>
              </a:rPr>
              <a:t> </a:t>
            </a:r>
            <a:r>
              <a:rPr sz="1950" b="1" spc="-145" dirty="0">
                <a:latin typeface="Arial"/>
                <a:cs typeface="Arial"/>
              </a:rPr>
              <a:t>or</a:t>
            </a:r>
            <a:r>
              <a:rPr sz="1950" b="1" spc="-35" dirty="0">
                <a:latin typeface="Arial"/>
                <a:cs typeface="Arial"/>
              </a:rPr>
              <a:t> </a:t>
            </a:r>
            <a:r>
              <a:rPr sz="1950" b="1" spc="-45" dirty="0">
                <a:latin typeface="Arial"/>
                <a:cs typeface="Arial"/>
              </a:rPr>
              <a:t>‘OFF’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9993" y="4774101"/>
            <a:ext cx="6727190" cy="1163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0" dirty="0">
                <a:latin typeface="Arial"/>
                <a:cs typeface="Arial"/>
              </a:rPr>
              <a:t>But,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1950">
              <a:latin typeface="Arial"/>
              <a:cs typeface="Arial"/>
            </a:endParaRPr>
          </a:p>
          <a:p>
            <a:pPr marL="766445">
              <a:lnSpc>
                <a:spcPct val="100000"/>
              </a:lnSpc>
            </a:pPr>
            <a:r>
              <a:rPr sz="1950" b="1" spc="-105" dirty="0">
                <a:latin typeface="Arial"/>
                <a:cs typeface="Arial"/>
              </a:rPr>
              <a:t>Usually</a:t>
            </a:r>
            <a:r>
              <a:rPr sz="1950" b="1" dirty="0">
                <a:latin typeface="Arial"/>
                <a:cs typeface="Arial"/>
              </a:rPr>
              <a:t> </a:t>
            </a:r>
            <a:r>
              <a:rPr sz="1950" b="1" spc="-145" dirty="0">
                <a:latin typeface="Arial"/>
                <a:cs typeface="Arial"/>
              </a:rPr>
              <a:t>phenomenon</a:t>
            </a:r>
            <a:r>
              <a:rPr sz="1950" b="1" spc="-35" dirty="0">
                <a:latin typeface="Arial"/>
                <a:cs typeface="Arial"/>
              </a:rPr>
              <a:t> </a:t>
            </a:r>
            <a:r>
              <a:rPr sz="1950" b="1" spc="-135" dirty="0">
                <a:latin typeface="Arial"/>
                <a:cs typeface="Arial"/>
              </a:rPr>
              <a:t>around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spc="-204" dirty="0">
                <a:latin typeface="Arial"/>
                <a:cs typeface="Arial"/>
              </a:rPr>
              <a:t>us</a:t>
            </a:r>
            <a:r>
              <a:rPr sz="1950" b="1" spc="-10" dirty="0">
                <a:latin typeface="Arial"/>
                <a:cs typeface="Arial"/>
              </a:rPr>
              <a:t> </a:t>
            </a:r>
            <a:r>
              <a:rPr sz="1950" b="1" spc="-135" dirty="0">
                <a:latin typeface="Arial"/>
                <a:cs typeface="Arial"/>
              </a:rPr>
              <a:t>do</a:t>
            </a:r>
            <a:r>
              <a:rPr sz="1950" b="1" spc="-15" dirty="0">
                <a:latin typeface="Arial"/>
                <a:cs typeface="Arial"/>
              </a:rPr>
              <a:t> </a:t>
            </a:r>
            <a:r>
              <a:rPr sz="1950" b="1" spc="-145" dirty="0">
                <a:latin typeface="Arial"/>
                <a:cs typeface="Arial"/>
              </a:rPr>
              <a:t>not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spc="-210" dirty="0">
                <a:latin typeface="Arial"/>
                <a:cs typeface="Arial"/>
              </a:rPr>
              <a:t>occur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spc="-50" dirty="0">
                <a:latin typeface="Arial"/>
                <a:cs typeface="Arial"/>
              </a:rPr>
              <a:t>in</a:t>
            </a:r>
            <a:r>
              <a:rPr sz="1950" b="1" spc="5" dirty="0">
                <a:latin typeface="Arial"/>
                <a:cs typeface="Arial"/>
              </a:rPr>
              <a:t> </a:t>
            </a:r>
            <a:r>
              <a:rPr sz="1950" b="1" spc="-145" dirty="0">
                <a:latin typeface="Arial"/>
                <a:cs typeface="Arial"/>
              </a:rPr>
              <a:t>this</a:t>
            </a:r>
            <a:r>
              <a:rPr sz="1950" b="1" spc="-35" dirty="0">
                <a:latin typeface="Arial"/>
                <a:cs typeface="Arial"/>
              </a:rPr>
              <a:t> </a:t>
            </a:r>
            <a:r>
              <a:rPr sz="1950" b="1" spc="-25" dirty="0">
                <a:latin typeface="Arial"/>
                <a:cs typeface="Arial"/>
              </a:rPr>
              <a:t>way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1057656"/>
            <a:ext cx="2154936" cy="20436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8457" y="2212342"/>
            <a:ext cx="8406765" cy="7988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34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Digital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System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(computer)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capable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handling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different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types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information,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which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spc="-80" dirty="0">
                <a:latin typeface="Arial MT"/>
                <a:cs typeface="Arial MT"/>
              </a:rPr>
              <a:t>represented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in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form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Binary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Numbers.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2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different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types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information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15" dirty="0">
                <a:latin typeface="Arial MT"/>
                <a:cs typeface="Arial MT"/>
              </a:rPr>
              <a:t>use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 </a:t>
            </a:r>
            <a:r>
              <a:rPr sz="1800" spc="-95" dirty="0">
                <a:latin typeface="Arial MT"/>
                <a:cs typeface="Arial MT"/>
              </a:rPr>
              <a:t>standards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binary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457" y="3896349"/>
            <a:ext cx="8580120" cy="104838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ct val="90700"/>
              </a:lnSpc>
              <a:spcBef>
                <a:spcPts val="310"/>
              </a:spcBef>
            </a:pPr>
            <a:r>
              <a:rPr sz="1800" b="1" spc="-204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5" dirty="0">
                <a:latin typeface="Arial"/>
                <a:cs typeface="Arial"/>
              </a:rPr>
              <a:t>example,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spc="-145" dirty="0">
                <a:latin typeface="Arial MT"/>
                <a:cs typeface="Arial MT"/>
              </a:rPr>
              <a:t>computers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15" dirty="0">
                <a:latin typeface="Arial MT"/>
                <a:cs typeface="Arial MT"/>
              </a:rPr>
              <a:t>use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the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Binary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number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system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represent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numbers.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Characters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used </a:t>
            </a:r>
            <a:r>
              <a:rPr sz="1800" spc="-85" dirty="0">
                <a:latin typeface="Arial MT"/>
                <a:cs typeface="Arial MT"/>
              </a:rPr>
              <a:t>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writing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text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represented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through</a:t>
            </a:r>
            <a:r>
              <a:rPr sz="1800" spc="-10" dirty="0">
                <a:latin typeface="Arial MT"/>
                <a:cs typeface="Arial MT"/>
              </a:rPr>
              <a:t> yet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another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standard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known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as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ASCII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which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allows </a:t>
            </a:r>
            <a:r>
              <a:rPr sz="1800" spc="-75" dirty="0">
                <a:latin typeface="Arial MT"/>
                <a:cs typeface="Arial MT"/>
              </a:rPr>
              <a:t>alphabets,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punctuation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marks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numbers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represented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through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combination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0s </a:t>
            </a:r>
            <a:r>
              <a:rPr sz="1800" spc="-55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251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25"/>
              </a:spcBef>
            </a:pPr>
            <a:r>
              <a:rPr b="1" spc="-505" dirty="0">
                <a:latin typeface="Trebuchet MS"/>
                <a:cs typeface="Trebuchet MS"/>
              </a:rPr>
              <a:t>NUMBER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b="1" spc="-530" dirty="0">
                <a:latin typeface="Trebuchet MS"/>
                <a:cs typeface="Trebuchet MS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698" y="2928553"/>
            <a:ext cx="7713980" cy="26377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340"/>
              </a:spcBef>
            </a:pPr>
            <a:r>
              <a:rPr sz="1800" spc="-125" dirty="0">
                <a:latin typeface="Arial MT"/>
                <a:cs typeface="Arial MT"/>
              </a:rPr>
              <a:t>Number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95" dirty="0">
                <a:latin typeface="Arial MT"/>
                <a:cs typeface="Arial MT"/>
              </a:rPr>
              <a:t>systems</a:t>
            </a:r>
            <a:r>
              <a:rPr sz="1800" dirty="0">
                <a:latin typeface="Arial MT"/>
                <a:cs typeface="Arial MT"/>
              </a:rPr>
              <a:t> 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technique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represent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numbers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computer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 </a:t>
            </a:r>
            <a:r>
              <a:rPr sz="1800" spc="-95" dirty="0">
                <a:latin typeface="Arial MT"/>
                <a:cs typeface="Arial MT"/>
              </a:rPr>
              <a:t>architecture,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every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value</a:t>
            </a:r>
            <a:r>
              <a:rPr sz="1800" spc="-35" dirty="0">
                <a:latin typeface="Arial MT"/>
                <a:cs typeface="Arial MT"/>
              </a:rPr>
              <a:t> that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you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saving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getting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into/from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computer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memory </a:t>
            </a:r>
            <a:r>
              <a:rPr sz="1800" spc="-180" dirty="0">
                <a:latin typeface="Arial MT"/>
                <a:cs typeface="Arial MT"/>
              </a:rPr>
              <a:t>has</a:t>
            </a:r>
            <a:r>
              <a:rPr sz="1800" dirty="0">
                <a:latin typeface="Arial MT"/>
                <a:cs typeface="Arial MT"/>
              </a:rPr>
              <a:t> 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defined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number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20" dirty="0">
                <a:latin typeface="Arial MT"/>
                <a:cs typeface="Arial MT"/>
              </a:rPr>
              <a:t>Computer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80" dirty="0">
                <a:latin typeface="Arial MT"/>
                <a:cs typeface="Arial MT"/>
              </a:rPr>
              <a:t>architecture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supports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following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number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systems.</a:t>
            </a:r>
            <a:endParaRPr sz="1800">
              <a:latin typeface="Arial MT"/>
              <a:cs typeface="Arial MT"/>
            </a:endParaRPr>
          </a:p>
          <a:p>
            <a:pPr marL="440690">
              <a:lnSpc>
                <a:spcPct val="100000"/>
              </a:lnSpc>
              <a:spcBef>
                <a:spcPts val="220"/>
              </a:spcBef>
            </a:pPr>
            <a:r>
              <a:rPr sz="1450" b="1" spc="-95" dirty="0">
                <a:latin typeface="Arial"/>
                <a:cs typeface="Arial"/>
              </a:rPr>
              <a:t>Binary</a:t>
            </a:r>
            <a:r>
              <a:rPr sz="1450" b="1" spc="15" dirty="0">
                <a:latin typeface="Arial"/>
                <a:cs typeface="Arial"/>
              </a:rPr>
              <a:t> </a:t>
            </a:r>
            <a:r>
              <a:rPr sz="1450" b="1" spc="-120" dirty="0">
                <a:latin typeface="Arial"/>
                <a:cs typeface="Arial"/>
              </a:rPr>
              <a:t>number</a:t>
            </a:r>
            <a:r>
              <a:rPr sz="1450" b="1" spc="1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system</a:t>
            </a:r>
            <a:endParaRPr sz="1450">
              <a:latin typeface="Arial"/>
              <a:cs typeface="Arial"/>
            </a:endParaRPr>
          </a:p>
          <a:p>
            <a:pPr marL="440690" marR="5386070">
              <a:lnSpc>
                <a:spcPct val="120000"/>
              </a:lnSpc>
              <a:spcBef>
                <a:spcPts val="10"/>
              </a:spcBef>
            </a:pPr>
            <a:r>
              <a:rPr sz="1450" b="1" spc="-90" dirty="0">
                <a:latin typeface="Arial"/>
                <a:cs typeface="Arial"/>
              </a:rPr>
              <a:t>Octal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-114" dirty="0">
                <a:latin typeface="Arial"/>
                <a:cs typeface="Arial"/>
              </a:rPr>
              <a:t>number</a:t>
            </a:r>
            <a:r>
              <a:rPr sz="1450" b="1" spc="-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system </a:t>
            </a:r>
            <a:r>
              <a:rPr sz="1450" b="1" spc="-100" dirty="0">
                <a:latin typeface="Arial"/>
                <a:cs typeface="Arial"/>
              </a:rPr>
              <a:t>Decimal</a:t>
            </a:r>
            <a:r>
              <a:rPr sz="1450" b="1" spc="-5" dirty="0">
                <a:latin typeface="Arial"/>
                <a:cs typeface="Arial"/>
              </a:rPr>
              <a:t> </a:t>
            </a:r>
            <a:r>
              <a:rPr sz="1450" b="1" spc="-110" dirty="0">
                <a:latin typeface="Arial"/>
                <a:cs typeface="Arial"/>
              </a:rPr>
              <a:t>number</a:t>
            </a:r>
            <a:r>
              <a:rPr sz="1450" b="1" spc="-20" dirty="0">
                <a:latin typeface="Arial"/>
                <a:cs typeface="Arial"/>
              </a:rPr>
              <a:t> </a:t>
            </a:r>
            <a:r>
              <a:rPr sz="1450" b="1" spc="-105" dirty="0">
                <a:latin typeface="Arial"/>
                <a:cs typeface="Arial"/>
              </a:rPr>
              <a:t>system</a:t>
            </a:r>
            <a:endParaRPr sz="145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360"/>
              </a:spcBef>
            </a:pPr>
            <a:r>
              <a:rPr sz="1450" b="1" spc="-90" dirty="0">
                <a:latin typeface="Arial"/>
                <a:cs typeface="Arial"/>
              </a:rPr>
              <a:t>Hexadecimal</a:t>
            </a:r>
            <a:r>
              <a:rPr sz="1450" b="1" spc="-10" dirty="0">
                <a:latin typeface="Arial"/>
                <a:cs typeface="Arial"/>
              </a:rPr>
              <a:t> </a:t>
            </a:r>
            <a:r>
              <a:rPr sz="1450" b="1" spc="-70" dirty="0">
                <a:latin typeface="Arial"/>
                <a:cs typeface="Arial"/>
              </a:rPr>
              <a:t>(hex)</a:t>
            </a:r>
            <a:r>
              <a:rPr sz="1450" b="1" dirty="0">
                <a:latin typeface="Arial"/>
                <a:cs typeface="Arial"/>
              </a:rPr>
              <a:t> </a:t>
            </a:r>
            <a:r>
              <a:rPr sz="1450" b="1" spc="-120" dirty="0">
                <a:latin typeface="Arial"/>
                <a:cs typeface="Arial"/>
              </a:rPr>
              <a:t>number</a:t>
            </a:r>
            <a:r>
              <a:rPr sz="1450" b="1" spc="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system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612" y="1982724"/>
            <a:ext cx="6693407" cy="3581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251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25"/>
              </a:spcBef>
            </a:pPr>
            <a:r>
              <a:rPr b="1" u="none" spc="-400" dirty="0">
                <a:latin typeface="Trebuchet MS"/>
                <a:cs typeface="Trebuchet MS"/>
              </a:rPr>
              <a:t>BINARY</a:t>
            </a:r>
            <a:r>
              <a:rPr b="1" u="none" spc="-155" dirty="0">
                <a:latin typeface="Trebuchet MS"/>
                <a:cs typeface="Trebuchet MS"/>
              </a:rPr>
              <a:t> </a:t>
            </a:r>
            <a:r>
              <a:rPr b="1" u="none" spc="-490" dirty="0">
                <a:latin typeface="Trebuchet MS"/>
                <a:cs typeface="Trebuchet MS"/>
              </a:rPr>
              <a:t>INTERCONVERSION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82550" algn="ctr">
              <a:lnSpc>
                <a:spcPct val="100000"/>
              </a:lnSpc>
              <a:spcBef>
                <a:spcPts val="1045"/>
              </a:spcBef>
            </a:pPr>
            <a:r>
              <a:rPr spc="-185" dirty="0"/>
              <a:t>DECIMAL</a:t>
            </a:r>
            <a:r>
              <a:rPr spc="20" dirty="0"/>
              <a:t> </a:t>
            </a:r>
            <a:r>
              <a:rPr spc="-175" dirty="0"/>
              <a:t>TO</a:t>
            </a:r>
            <a:r>
              <a:rPr spc="15" dirty="0"/>
              <a:t> </a:t>
            </a:r>
            <a:r>
              <a:rPr spc="-10" dirty="0"/>
              <a:t>BINARY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b="0" u="none" spc="-125" dirty="0">
                <a:latin typeface="Arial MT"/>
                <a:cs typeface="Arial MT"/>
              </a:rPr>
              <a:t>Decimal</a:t>
            </a:r>
            <a:r>
              <a:rPr b="0" u="none" dirty="0">
                <a:latin typeface="Arial MT"/>
                <a:cs typeface="Arial MT"/>
              </a:rPr>
              <a:t> </a:t>
            </a:r>
            <a:r>
              <a:rPr b="0" u="none" spc="-125" dirty="0">
                <a:latin typeface="Arial MT"/>
                <a:cs typeface="Arial MT"/>
              </a:rPr>
              <a:t>Number</a:t>
            </a:r>
            <a:r>
              <a:rPr b="0" u="none" dirty="0">
                <a:latin typeface="Arial MT"/>
                <a:cs typeface="Arial MT"/>
              </a:rPr>
              <a:t> </a:t>
            </a:r>
            <a:r>
              <a:rPr b="0" u="none" spc="-175" dirty="0">
                <a:latin typeface="Arial MT"/>
                <a:cs typeface="Arial MT"/>
              </a:rPr>
              <a:t>System</a:t>
            </a:r>
            <a:r>
              <a:rPr b="0" u="none" spc="10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to</a:t>
            </a:r>
            <a:r>
              <a:rPr b="0" u="none" spc="-110" dirty="0">
                <a:latin typeface="Arial MT"/>
                <a:cs typeface="Arial MT"/>
              </a:rPr>
              <a:t> </a:t>
            </a:r>
            <a:r>
              <a:rPr b="0" u="none" spc="-80" dirty="0">
                <a:latin typeface="Arial MT"/>
                <a:cs typeface="Arial MT"/>
              </a:rPr>
              <a:t>Binary</a:t>
            </a:r>
            <a:r>
              <a:rPr b="0" u="none" spc="5" dirty="0">
                <a:latin typeface="Arial MT"/>
                <a:cs typeface="Arial MT"/>
              </a:rPr>
              <a:t> </a:t>
            </a:r>
            <a:r>
              <a:rPr b="0" u="none" spc="-145" dirty="0">
                <a:latin typeface="Arial MT"/>
                <a:cs typeface="Arial MT"/>
              </a:rPr>
              <a:t>number</a:t>
            </a:r>
            <a:r>
              <a:rPr b="0" u="none" spc="15" dirty="0">
                <a:latin typeface="Arial MT"/>
                <a:cs typeface="Arial MT"/>
              </a:rPr>
              <a:t> </a:t>
            </a:r>
            <a:r>
              <a:rPr b="0" u="none" spc="-150" dirty="0">
                <a:latin typeface="Arial MT"/>
                <a:cs typeface="Arial MT"/>
              </a:rPr>
              <a:t>system;</a:t>
            </a:r>
            <a:r>
              <a:rPr b="0" u="none" spc="5" dirty="0">
                <a:latin typeface="Arial MT"/>
                <a:cs typeface="Arial MT"/>
              </a:rPr>
              <a:t> </a:t>
            </a:r>
            <a:r>
              <a:rPr b="0" u="none" spc="-120" dirty="0">
                <a:latin typeface="Arial MT"/>
                <a:cs typeface="Arial MT"/>
              </a:rPr>
              <a:t>you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20" dirty="0">
                <a:latin typeface="Arial MT"/>
                <a:cs typeface="Arial MT"/>
              </a:rPr>
              <a:t>have</a:t>
            </a:r>
            <a:r>
              <a:rPr b="0" u="none" spc="5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to</a:t>
            </a:r>
            <a:r>
              <a:rPr b="0" u="none" spc="-15" dirty="0">
                <a:latin typeface="Arial MT"/>
                <a:cs typeface="Arial MT"/>
              </a:rPr>
              <a:t> </a:t>
            </a:r>
            <a:r>
              <a:rPr b="0" u="none" spc="-35" dirty="0">
                <a:latin typeface="Arial MT"/>
                <a:cs typeface="Arial MT"/>
              </a:rPr>
              <a:t>follow</a:t>
            </a:r>
            <a:r>
              <a:rPr b="0" u="none" spc="10" dirty="0">
                <a:latin typeface="Arial MT"/>
                <a:cs typeface="Arial MT"/>
              </a:rPr>
              <a:t> </a:t>
            </a:r>
            <a:r>
              <a:rPr b="0" u="none" spc="-135" dirty="0">
                <a:latin typeface="Arial MT"/>
                <a:cs typeface="Arial MT"/>
              </a:rPr>
              <a:t>just</a:t>
            </a:r>
            <a:r>
              <a:rPr b="0" u="none" spc="20" dirty="0">
                <a:latin typeface="Arial MT"/>
                <a:cs typeface="Arial MT"/>
              </a:rPr>
              <a:t> </a:t>
            </a:r>
            <a:r>
              <a:rPr b="0" u="none" spc="-80" dirty="0">
                <a:latin typeface="Arial MT"/>
                <a:cs typeface="Arial MT"/>
              </a:rPr>
              <a:t>two</a:t>
            </a:r>
            <a:r>
              <a:rPr b="0" u="none" spc="-35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steps:</a:t>
            </a:r>
          </a:p>
          <a:p>
            <a:pPr marL="12700" marR="5080" indent="1018540">
              <a:lnSpc>
                <a:spcPts val="1960"/>
              </a:lnSpc>
              <a:spcBef>
                <a:spcPts val="1195"/>
              </a:spcBef>
              <a:buAutoNum type="alphaUcParenR"/>
              <a:tabLst>
                <a:tab pos="1031240" algn="l"/>
              </a:tabLst>
            </a:pPr>
            <a:r>
              <a:rPr b="0" u="none" spc="-65" dirty="0">
                <a:latin typeface="Arial MT"/>
                <a:cs typeface="Arial MT"/>
              </a:rPr>
              <a:t>Divide</a:t>
            </a:r>
            <a:r>
              <a:rPr b="0" u="none" spc="-55" dirty="0">
                <a:latin typeface="Arial MT"/>
                <a:cs typeface="Arial MT"/>
              </a:rPr>
              <a:t> </a:t>
            </a:r>
            <a:r>
              <a:rPr b="0" u="none" spc="-105" dirty="0">
                <a:latin typeface="Arial MT"/>
                <a:cs typeface="Arial MT"/>
              </a:rPr>
              <a:t>the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120" dirty="0">
                <a:latin typeface="Arial MT"/>
                <a:cs typeface="Arial MT"/>
              </a:rPr>
              <a:t>Number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20" dirty="0">
                <a:latin typeface="Arial MT"/>
                <a:cs typeface="Arial MT"/>
              </a:rPr>
              <a:t>(Decimal</a:t>
            </a:r>
            <a:r>
              <a:rPr b="0" u="none" dirty="0">
                <a:latin typeface="Arial MT"/>
                <a:cs typeface="Arial MT"/>
              </a:rPr>
              <a:t> </a:t>
            </a:r>
            <a:r>
              <a:rPr b="0" u="none" spc="-125" dirty="0">
                <a:latin typeface="Arial MT"/>
                <a:cs typeface="Arial MT"/>
              </a:rPr>
              <a:t>Number)</a:t>
            </a:r>
            <a:r>
              <a:rPr b="0" u="none" dirty="0">
                <a:latin typeface="Arial MT"/>
                <a:cs typeface="Arial MT"/>
              </a:rPr>
              <a:t> by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00" dirty="0">
                <a:latin typeface="Arial MT"/>
                <a:cs typeface="Arial MT"/>
              </a:rPr>
              <a:t>the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05" dirty="0">
                <a:latin typeface="Arial MT"/>
                <a:cs typeface="Arial MT"/>
              </a:rPr>
              <a:t>base</a:t>
            </a:r>
            <a:r>
              <a:rPr b="0" u="none" dirty="0">
                <a:latin typeface="Arial MT"/>
                <a:cs typeface="Arial MT"/>
              </a:rPr>
              <a:t> of</a:t>
            </a:r>
            <a:r>
              <a:rPr b="0" u="none" spc="35" dirty="0">
                <a:latin typeface="Arial MT"/>
                <a:cs typeface="Arial MT"/>
              </a:rPr>
              <a:t> </a:t>
            </a:r>
            <a:r>
              <a:rPr b="0" u="none" spc="-20" dirty="0">
                <a:latin typeface="Arial MT"/>
                <a:cs typeface="Arial MT"/>
              </a:rPr>
              <a:t>target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05" dirty="0">
                <a:latin typeface="Arial MT"/>
                <a:cs typeface="Arial MT"/>
              </a:rPr>
              <a:t>base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system </a:t>
            </a:r>
            <a:r>
              <a:rPr b="0" u="none" spc="-105" dirty="0">
                <a:latin typeface="Arial MT"/>
                <a:cs typeface="Arial MT"/>
              </a:rPr>
              <a:t>(in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135" dirty="0">
                <a:latin typeface="Arial MT"/>
                <a:cs typeface="Arial MT"/>
              </a:rPr>
              <a:t>which</a:t>
            </a:r>
            <a:r>
              <a:rPr b="0" u="none" spc="10" dirty="0">
                <a:latin typeface="Arial MT"/>
                <a:cs typeface="Arial MT"/>
              </a:rPr>
              <a:t> </a:t>
            </a:r>
            <a:r>
              <a:rPr b="0" u="none" spc="-120" dirty="0">
                <a:latin typeface="Arial MT"/>
                <a:cs typeface="Arial MT"/>
              </a:rPr>
              <a:t>you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spc="-95" dirty="0">
                <a:latin typeface="Arial MT"/>
                <a:cs typeface="Arial MT"/>
              </a:rPr>
              <a:t>want</a:t>
            </a:r>
            <a:r>
              <a:rPr b="0" u="none" spc="-30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to</a:t>
            </a:r>
            <a:r>
              <a:rPr b="0" u="none" spc="-125" dirty="0">
                <a:latin typeface="Arial MT"/>
                <a:cs typeface="Arial MT"/>
              </a:rPr>
              <a:t> </a:t>
            </a:r>
            <a:r>
              <a:rPr b="0" u="none" spc="-105" dirty="0">
                <a:latin typeface="Arial MT"/>
                <a:cs typeface="Arial MT"/>
              </a:rPr>
              <a:t>convert</a:t>
            </a:r>
            <a:r>
              <a:rPr b="0" u="none" spc="-15" dirty="0">
                <a:latin typeface="Arial MT"/>
                <a:cs typeface="Arial MT"/>
              </a:rPr>
              <a:t> </a:t>
            </a:r>
            <a:r>
              <a:rPr b="0" u="none" spc="-105" dirty="0">
                <a:latin typeface="Arial MT"/>
                <a:cs typeface="Arial MT"/>
              </a:rPr>
              <a:t>the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140" dirty="0">
                <a:latin typeface="Arial MT"/>
                <a:cs typeface="Arial MT"/>
              </a:rPr>
              <a:t>number:</a:t>
            </a:r>
            <a:r>
              <a:rPr b="0" u="none" spc="5" dirty="0">
                <a:latin typeface="Arial MT"/>
                <a:cs typeface="Arial MT"/>
              </a:rPr>
              <a:t> </a:t>
            </a:r>
            <a:r>
              <a:rPr b="0" u="none" spc="-80" dirty="0">
                <a:latin typeface="Arial MT"/>
                <a:cs typeface="Arial MT"/>
              </a:rPr>
              <a:t>Binary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spc="-80" dirty="0">
                <a:latin typeface="Arial MT"/>
                <a:cs typeface="Arial MT"/>
              </a:rPr>
              <a:t>(2),</a:t>
            </a:r>
            <a:r>
              <a:rPr b="0" u="none" spc="-25" dirty="0">
                <a:latin typeface="Arial MT"/>
                <a:cs typeface="Arial MT"/>
              </a:rPr>
              <a:t> </a:t>
            </a:r>
            <a:r>
              <a:rPr b="0" u="none" spc="-55" dirty="0">
                <a:latin typeface="Arial MT"/>
                <a:cs typeface="Arial MT"/>
              </a:rPr>
              <a:t>octal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spc="-60" dirty="0">
                <a:latin typeface="Arial MT"/>
                <a:cs typeface="Arial MT"/>
              </a:rPr>
              <a:t>(8)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spc="-55" dirty="0">
                <a:latin typeface="Arial MT"/>
                <a:cs typeface="Arial MT"/>
              </a:rPr>
              <a:t>and</a:t>
            </a:r>
            <a:r>
              <a:rPr b="0" u="none" spc="-30" dirty="0">
                <a:latin typeface="Arial MT"/>
                <a:cs typeface="Arial MT"/>
              </a:rPr>
              <a:t> </a:t>
            </a:r>
            <a:r>
              <a:rPr b="0" u="none" spc="-90" dirty="0">
                <a:latin typeface="Arial MT"/>
                <a:cs typeface="Arial MT"/>
              </a:rPr>
              <a:t>Hexadecimal</a:t>
            </a:r>
            <a:r>
              <a:rPr b="0" u="none" spc="-30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(16)).</a:t>
            </a:r>
          </a:p>
          <a:p>
            <a:pPr marL="12700" marR="154305" indent="995680">
              <a:lnSpc>
                <a:spcPts val="1960"/>
              </a:lnSpc>
              <a:spcBef>
                <a:spcPts val="1155"/>
              </a:spcBef>
              <a:buAutoNum type="alphaUcParenR"/>
              <a:tabLst>
                <a:tab pos="1008380" algn="l"/>
              </a:tabLst>
            </a:pPr>
            <a:r>
              <a:rPr b="0" u="none" dirty="0">
                <a:latin typeface="Arial MT"/>
                <a:cs typeface="Arial MT"/>
              </a:rPr>
              <a:t>Write</a:t>
            </a:r>
            <a:r>
              <a:rPr b="0" u="none" spc="-70" dirty="0">
                <a:latin typeface="Arial MT"/>
                <a:cs typeface="Arial MT"/>
              </a:rPr>
              <a:t> </a:t>
            </a:r>
            <a:r>
              <a:rPr b="0" u="none" spc="-100" dirty="0">
                <a:latin typeface="Arial MT"/>
                <a:cs typeface="Arial MT"/>
              </a:rPr>
              <a:t>the</a:t>
            </a:r>
            <a:r>
              <a:rPr b="0" u="none" dirty="0">
                <a:latin typeface="Arial MT"/>
                <a:cs typeface="Arial MT"/>
              </a:rPr>
              <a:t> </a:t>
            </a:r>
            <a:r>
              <a:rPr b="0" u="none" spc="-85" dirty="0">
                <a:latin typeface="Arial MT"/>
                <a:cs typeface="Arial MT"/>
              </a:rPr>
              <a:t>remainder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spc="-80" dirty="0">
                <a:latin typeface="Arial MT"/>
                <a:cs typeface="Arial MT"/>
              </a:rPr>
              <a:t>from</a:t>
            </a:r>
            <a:r>
              <a:rPr b="0" u="none" spc="-35" dirty="0">
                <a:latin typeface="Arial MT"/>
                <a:cs typeface="Arial MT"/>
              </a:rPr>
              <a:t> </a:t>
            </a:r>
            <a:r>
              <a:rPr b="0" u="none" spc="-90" dirty="0">
                <a:latin typeface="Arial MT"/>
                <a:cs typeface="Arial MT"/>
              </a:rPr>
              <a:t>step</a:t>
            </a:r>
            <a:r>
              <a:rPr b="0" u="none" spc="-10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1</a:t>
            </a:r>
            <a:r>
              <a:rPr b="0" u="none" spc="-25" dirty="0">
                <a:latin typeface="Arial MT"/>
                <a:cs typeface="Arial MT"/>
              </a:rPr>
              <a:t> </a:t>
            </a:r>
            <a:r>
              <a:rPr b="0" u="none" spc="-165" dirty="0">
                <a:latin typeface="Arial MT"/>
                <a:cs typeface="Arial MT"/>
              </a:rPr>
              <a:t>as</a:t>
            </a:r>
            <a:r>
              <a:rPr b="0" u="none" dirty="0">
                <a:latin typeface="Arial MT"/>
                <a:cs typeface="Arial MT"/>
              </a:rPr>
              <a:t> a</a:t>
            </a:r>
            <a:r>
              <a:rPr b="0" u="none" spc="-5" dirty="0">
                <a:latin typeface="Arial MT"/>
                <a:cs typeface="Arial MT"/>
              </a:rPr>
              <a:t> </a:t>
            </a:r>
            <a:r>
              <a:rPr b="0" u="none" spc="-150" dirty="0">
                <a:latin typeface="Arial MT"/>
                <a:cs typeface="Arial MT"/>
              </a:rPr>
              <a:t>Least</a:t>
            </a:r>
            <a:r>
              <a:rPr b="0" u="none" spc="5" dirty="0">
                <a:latin typeface="Arial MT"/>
                <a:cs typeface="Arial MT"/>
              </a:rPr>
              <a:t> </a:t>
            </a:r>
            <a:r>
              <a:rPr b="0" u="none" spc="-70" dirty="0">
                <a:latin typeface="Arial MT"/>
                <a:cs typeface="Arial MT"/>
              </a:rPr>
              <a:t>Signification</a:t>
            </a:r>
            <a:r>
              <a:rPr b="0" u="none" spc="15" dirty="0">
                <a:latin typeface="Arial MT"/>
                <a:cs typeface="Arial MT"/>
              </a:rPr>
              <a:t> </a:t>
            </a:r>
            <a:r>
              <a:rPr b="0" u="none" spc="-100" dirty="0">
                <a:latin typeface="Arial MT"/>
                <a:cs typeface="Arial MT"/>
              </a:rPr>
              <a:t>Bit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235" dirty="0">
                <a:latin typeface="Arial MT"/>
                <a:cs typeface="Arial MT"/>
              </a:rPr>
              <a:t>(LSB)</a:t>
            </a:r>
            <a:r>
              <a:rPr b="0" u="none" spc="20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to</a:t>
            </a:r>
            <a:r>
              <a:rPr b="0" u="none" spc="-20" dirty="0">
                <a:latin typeface="Arial MT"/>
                <a:cs typeface="Arial MT"/>
              </a:rPr>
              <a:t> Step </a:t>
            </a:r>
            <a:r>
              <a:rPr b="0" u="none" spc="-65" dirty="0">
                <a:latin typeface="Arial MT"/>
                <a:cs typeface="Arial MT"/>
              </a:rPr>
              <a:t>last</a:t>
            </a:r>
            <a:r>
              <a:rPr b="0" u="none" spc="-45" dirty="0">
                <a:latin typeface="Arial MT"/>
                <a:cs typeface="Arial MT"/>
              </a:rPr>
              <a:t> </a:t>
            </a:r>
            <a:r>
              <a:rPr b="0" u="none" spc="-165" dirty="0">
                <a:latin typeface="Arial MT"/>
                <a:cs typeface="Arial MT"/>
              </a:rPr>
              <a:t>as</a:t>
            </a:r>
            <a:r>
              <a:rPr b="0" u="none" spc="15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a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135" dirty="0">
                <a:latin typeface="Arial MT"/>
                <a:cs typeface="Arial MT"/>
              </a:rPr>
              <a:t>Most</a:t>
            </a:r>
            <a:r>
              <a:rPr b="0" u="none" spc="10" dirty="0">
                <a:latin typeface="Arial MT"/>
                <a:cs typeface="Arial MT"/>
              </a:rPr>
              <a:t> </a:t>
            </a:r>
            <a:r>
              <a:rPr b="0" u="none" spc="-75" dirty="0">
                <a:latin typeface="Arial MT"/>
                <a:cs typeface="Arial MT"/>
              </a:rPr>
              <a:t>Significant</a:t>
            </a:r>
            <a:r>
              <a:rPr b="0" u="none" spc="30" dirty="0">
                <a:latin typeface="Arial MT"/>
                <a:cs typeface="Arial MT"/>
              </a:rPr>
              <a:t> </a:t>
            </a:r>
            <a:r>
              <a:rPr b="0" u="none" spc="-100" dirty="0">
                <a:latin typeface="Arial MT"/>
                <a:cs typeface="Arial MT"/>
              </a:rPr>
              <a:t>Bit</a:t>
            </a:r>
            <a:r>
              <a:rPr b="0" u="none" spc="-20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(MSB).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324" y="1674876"/>
            <a:ext cx="4216908" cy="46741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251" rIns="0" bIns="0" rtlCol="0">
            <a:spAutoFit/>
          </a:bodyPr>
          <a:lstStyle/>
          <a:p>
            <a:pPr marL="2887980">
              <a:lnSpc>
                <a:spcPct val="100000"/>
              </a:lnSpc>
              <a:spcBef>
                <a:spcPts val="125"/>
              </a:spcBef>
            </a:pPr>
            <a:r>
              <a:rPr b="1" spc="-540" dirty="0">
                <a:latin typeface="Trebuchet MS"/>
                <a:cs typeface="Trebuchet MS"/>
              </a:rPr>
              <a:t>QUESTIONS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95" y="2732532"/>
            <a:ext cx="8798051" cy="30114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332" y="1519345"/>
            <a:ext cx="8121015" cy="10636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504825" algn="ctr">
              <a:lnSpc>
                <a:spcPct val="100000"/>
              </a:lnSpc>
              <a:spcBef>
                <a:spcPts val="1045"/>
              </a:spcBef>
            </a:pPr>
            <a:r>
              <a:rPr sz="1800" b="1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BINARY</a:t>
            </a:r>
            <a:r>
              <a:rPr sz="1800" b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OTHER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960"/>
              </a:lnSpc>
              <a:spcBef>
                <a:spcPts val="1180"/>
              </a:spcBef>
            </a:pPr>
            <a:r>
              <a:rPr sz="1800" spc="-35" dirty="0">
                <a:latin typeface="Arial MT"/>
                <a:cs typeface="Arial MT"/>
              </a:rPr>
              <a:t>Multiply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with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70" dirty="0">
                <a:latin typeface="Arial MT"/>
                <a:cs typeface="Arial MT"/>
              </a:rPr>
              <a:t>2(with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place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value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exponent).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Eventually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multiplication </a:t>
            </a:r>
            <a:r>
              <a:rPr sz="1800" spc="-165" dirty="0">
                <a:latin typeface="Arial MT"/>
                <a:cs typeface="Arial MT"/>
              </a:rPr>
              <a:t>becomes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5" dirty="0">
                <a:latin typeface="Arial MT"/>
                <a:cs typeface="Arial MT"/>
              </a:rPr>
              <a:t>the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Decimal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9260" y="3140964"/>
            <a:ext cx="3058827" cy="27431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251" rIns="0" bIns="0" rtlCol="0">
            <a:spAutoFit/>
          </a:bodyPr>
          <a:lstStyle/>
          <a:p>
            <a:pPr marL="3066415">
              <a:lnSpc>
                <a:spcPct val="100000"/>
              </a:lnSpc>
              <a:spcBef>
                <a:spcPts val="125"/>
              </a:spcBef>
            </a:pPr>
            <a:r>
              <a:rPr spc="-735" dirty="0"/>
              <a:t>QUESTIONS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04" y="2453639"/>
            <a:ext cx="7373112" cy="36301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INTRODUCTION</vt:lpstr>
      <vt:lpstr>ANALOGUE VERSUS DIGITAL</vt:lpstr>
      <vt:lpstr>PowerPoint Presentation</vt:lpstr>
      <vt:lpstr>ELECTRONIC PROCESSING OF CONTINUOUS AND DIGITAL QUANTITIES</vt:lpstr>
      <vt:lpstr>PowerPoint Presentation</vt:lpstr>
      <vt:lpstr>BENEFITS OF DIGITAL SYSTEMS</vt:lpstr>
      <vt:lpstr>REPRESENTATION OF DIGITAL DESIGN IN SYSTEMS</vt:lpstr>
      <vt:lpstr>PowerPoint Presentation</vt:lpstr>
      <vt:lpstr>PowerPoint Presentation</vt:lpstr>
      <vt:lpstr>NUMBER SYSTEM</vt:lpstr>
      <vt:lpstr>PowerPoint Presentation</vt:lpstr>
      <vt:lpstr>BINARY INTERCONVERSION</vt:lpstr>
      <vt:lpstr>PowerPoint Presentation</vt:lpstr>
      <vt:lpstr>QUESTIONS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Digital Logic Design Lecture1</dc:title>
  <cp:lastModifiedBy>Aleena Batool</cp:lastModifiedBy>
  <cp:revision>1</cp:revision>
  <dcterms:created xsi:type="dcterms:W3CDTF">2026-02-18T09:33:57Z</dcterms:created>
  <dcterms:modified xsi:type="dcterms:W3CDTF">2026-02-18T09:41:30Z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2025-09-27T00:00:00Z</vt:filetime>
  </property>
  <property fmtid="{D5CDD505-2E9C-101B-9397-08002B2CF9AE}" pid="3" name="LastSaved">
    <vt:filetime>2026-02-18T00:00:00Z</vt:filetime>
  </property>
  <property fmtid="{D5CDD505-2E9C-101B-9397-08002B2CF9AE}" pid="4" name="Producer">
    <vt:lpwstr>Microsoft: Print To PDF</vt:lpwstr>
  </property>
</Properties>
</file>