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7" r:id="rId4"/>
    <p:sldId id="284" r:id="rId5"/>
    <p:sldId id="287" r:id="rId6"/>
    <p:sldId id="288" r:id="rId7"/>
    <p:sldId id="278" r:id="rId8"/>
    <p:sldId id="279" r:id="rId9"/>
    <p:sldId id="280" r:id="rId10"/>
    <p:sldId id="285" r:id="rId11"/>
    <p:sldId id="281" r:id="rId12"/>
    <p:sldId id="282" r:id="rId13"/>
    <p:sldId id="283" r:id="rId14"/>
    <p:sldId id="293" r:id="rId15"/>
    <p:sldId id="294" r:id="rId16"/>
    <p:sldId id="295" r:id="rId17"/>
    <p:sldId id="289" r:id="rId18"/>
    <p:sldId id="292" r:id="rId19"/>
    <p:sldId id="290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24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31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4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4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1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98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22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6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01BB923-EA06-425A-B917-686318EA28A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F058778-F8A2-4AD2-8D8A-86C48E716C9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procus.com/what-is-a-communication-system-and-its-basic-elements/" TargetMode="External"/><Relationship Id="rId2" Type="http://schemas.openxmlformats.org/officeDocument/2006/relationships/hyperlink" Target="https://www.elprocus.com/basic-elements-of-fiber-optic-communication-system-and-its-working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elprocus.com/gsm-based-vehicle-theft-control-syste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Lecture 11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Digital Logic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53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multiplexer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multiplexer (MUX) is a device that allows digital information from several sources to be routed onto a single line for transmission over that line to a common destination. The basic multiplexer has several data-input lines and a single output line. It also has data-select inputs, which permit digital data on any one of the inputs to be switched to the output line. Multiplexers are also known as data selectors.</a:t>
            </a:r>
          </a:p>
        </p:txBody>
      </p:sp>
    </p:spTree>
    <p:extLst>
      <p:ext uri="{BB962C8B-B14F-4D97-AF65-F5344CB8AC3E}">
        <p14:creationId xmlns:p14="http://schemas.microsoft.com/office/powerpoint/2010/main" val="222579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7" y="1581150"/>
            <a:ext cx="53435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37" y="1562100"/>
            <a:ext cx="54197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66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7992" y="1181667"/>
            <a:ext cx="93654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rgbClr val="20212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MUX:-</a:t>
            </a:r>
          </a:p>
          <a:p>
            <a:endParaRPr lang="en-GB" b="1" dirty="0" smtClean="0">
              <a:solidFill>
                <a:srgbClr val="20212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ogle Sans"/>
            </a:endParaRPr>
          </a:p>
          <a:p>
            <a:r>
              <a:rPr lang="en-GB" dirty="0" smtClean="0">
                <a:solidFill>
                  <a:srgbClr val="202124"/>
                </a:solidFill>
                <a:latin typeface="Google Sans"/>
              </a:rPr>
              <a:t>Multiplexer </a:t>
            </a:r>
            <a:r>
              <a:rPr lang="en-GB" dirty="0">
                <a:solidFill>
                  <a:srgbClr val="202124"/>
                </a:solidFill>
                <a:latin typeface="Google Sans"/>
              </a:rPr>
              <a:t>refers to a type of combinational circuit that accepts multiple inputs of data but provides only a single output.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048" y="2227163"/>
            <a:ext cx="3650296" cy="3078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992" y="2381996"/>
            <a:ext cx="4340477" cy="29239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7632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8814" y="1121281"/>
            <a:ext cx="982261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</a:rPr>
              <a:t>Applications of Multiplexers</a:t>
            </a:r>
          </a:p>
          <a:p>
            <a:pPr algn="just" fontAlgn="base"/>
            <a:r>
              <a:rPr lang="en-GB" dirty="0">
                <a:solidFill>
                  <a:srgbClr val="666666"/>
                </a:solidFill>
                <a:latin typeface="Arial" panose="020B0604020202020204" pitchFamily="34" charset="0"/>
              </a:rPr>
              <a:t>Multiplexers are used in various applications wherein multiple-data need to be transmitted by using a single line</a:t>
            </a:r>
            <a:r>
              <a:rPr lang="en-GB" dirty="0" smtClean="0">
                <a:solidFill>
                  <a:srgbClr val="666666"/>
                </a:solidFill>
                <a:latin typeface="Arial" panose="020B0604020202020204" pitchFamily="34" charset="0"/>
              </a:rPr>
              <a:t>.</a:t>
            </a:r>
          </a:p>
          <a:p>
            <a:pPr fontAlgn="base"/>
            <a:r>
              <a:rPr lang="en-GB" b="1" dirty="0"/>
              <a:t>Communication System</a:t>
            </a:r>
            <a:endParaRPr lang="en-GB" dirty="0"/>
          </a:p>
          <a:p>
            <a:pPr fontAlgn="base"/>
            <a:r>
              <a:rPr lang="en-GB" dirty="0"/>
              <a:t>A </a:t>
            </a:r>
            <a:r>
              <a:rPr lang="en-GB" dirty="0">
                <a:hlinkClick r:id="rId2"/>
              </a:rPr>
              <a:t>communication system</a:t>
            </a:r>
            <a:r>
              <a:rPr lang="en-GB" dirty="0"/>
              <a:t> has both a communication network and a transmission system. By using a multiplexer, the </a:t>
            </a:r>
            <a:r>
              <a:rPr lang="en-GB" dirty="0">
                <a:hlinkClick r:id="rId3"/>
              </a:rPr>
              <a:t>efficiency of the communication system</a:t>
            </a:r>
            <a:r>
              <a:rPr lang="en-GB" dirty="0"/>
              <a:t> can be increased by allowing the transmission of data, such as audio and video data from different channels through single lines or cables.</a:t>
            </a:r>
          </a:p>
          <a:p>
            <a:pPr fontAlgn="base"/>
            <a:r>
              <a:rPr lang="en-GB" b="1" dirty="0"/>
              <a:t>Computer Memory</a:t>
            </a:r>
            <a:endParaRPr lang="en-GB" dirty="0"/>
          </a:p>
          <a:p>
            <a:pPr fontAlgn="base"/>
            <a:r>
              <a:rPr lang="en-GB" dirty="0"/>
              <a:t>Multiplexers are used in computer memory to maintain a huge amount of memory in the computers, and also to reduce the number of copper lines required to connect the memory to other parts of the computer.</a:t>
            </a:r>
          </a:p>
          <a:p>
            <a:pPr fontAlgn="base"/>
            <a:r>
              <a:rPr lang="en-GB" b="1" dirty="0"/>
              <a:t>Telephone Network</a:t>
            </a:r>
            <a:endParaRPr lang="en-GB" dirty="0"/>
          </a:p>
          <a:p>
            <a:pPr fontAlgn="base"/>
            <a:r>
              <a:rPr lang="en-GB" dirty="0"/>
              <a:t>In telephone networks, multiple audio signals are integrated on a single line of transmission with the help of a multiplexer.</a:t>
            </a:r>
          </a:p>
          <a:p>
            <a:pPr fontAlgn="base"/>
            <a:r>
              <a:rPr lang="en-GB" b="1" dirty="0"/>
              <a:t>Transmission from the Computer System of a Satellite</a:t>
            </a:r>
            <a:endParaRPr lang="en-GB" dirty="0"/>
          </a:p>
          <a:p>
            <a:pPr fontAlgn="base"/>
            <a:r>
              <a:rPr lang="en-GB" dirty="0"/>
              <a:t>The multiplexer is used to transmit the data signals from the computer system of a spacecraft or a satellite to the ground system by </a:t>
            </a:r>
            <a:r>
              <a:rPr lang="en-GB" dirty="0">
                <a:hlinkClick r:id="rId4"/>
              </a:rPr>
              <a:t>using a GSM satellite</a:t>
            </a:r>
            <a:r>
              <a:rPr lang="en-GB" dirty="0"/>
              <a:t>.</a:t>
            </a:r>
          </a:p>
          <a:p>
            <a:pPr algn="just" fontAlgn="base"/>
            <a:endParaRPr lang="en-GB" b="0" i="0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12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311" y="759854"/>
            <a:ext cx="9720073" cy="5588143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smtClean="0"/>
              <a:t>Figure, </a:t>
            </a:r>
            <a:r>
              <a:rPr lang="en-US" dirty="0"/>
              <a:t>a 2-bit code on the data-select (S) inputs will allow the data on the selected data input to pass through to the data output. If a binary 0 (S1 = 0 and S0 = 0) is applied to the data-select lines, the data on input D0 appear on the data-output line. If a binary 1 (S1 = 0 and S0 = 1) is applied to the data-select lines, the data on input D1 appear on the data output. If a binary 2 (S1 = 1 and S0 = 0) is applied, the data on D2 appear on the output. If a binary 3 (S1 = 1 and S0 = 1) is applied, the data on D3 are switched to the output line. A summary of this operation is given </a:t>
            </a:r>
            <a:r>
              <a:rPr lang="en-US" dirty="0" smtClean="0"/>
              <a:t>in table.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05" y="3339653"/>
            <a:ext cx="45529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60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95459"/>
            <a:ext cx="9720073" cy="5613901"/>
          </a:xfrm>
        </p:spPr>
        <p:txBody>
          <a:bodyPr/>
          <a:lstStyle/>
          <a:p>
            <a:r>
              <a:rPr lang="en-US" dirty="0"/>
              <a:t>Now let’s look at the logic circuitry required to perform this multiplexing operation. The data output is equal to the state of the selected data input. You can therefore, derive a logic expression for the output in terms of the data input and the select inputs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51" y="2513124"/>
            <a:ext cx="80486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7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3291" y="784263"/>
            <a:ext cx="84270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implementation of this equation requires four 3-input AND gates, a 4-input OR gate, and two inverters to generate the complements of S1 and S0, as shown in </a:t>
            </a:r>
            <a:r>
              <a:rPr lang="en-US" dirty="0" smtClean="0"/>
              <a:t>Figure. </a:t>
            </a:r>
            <a:r>
              <a:rPr lang="en-US" dirty="0"/>
              <a:t>Because data can be selected from any one of the input lines, this circuit is also referred to as a data selector.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408" y="1984592"/>
            <a:ext cx="63150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68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412" y="1609725"/>
            <a:ext cx="63531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3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238" y="534205"/>
            <a:ext cx="96202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42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700087"/>
            <a:ext cx="9229725" cy="5457825"/>
          </a:xfrm>
          <a:prstGeom prst="rect">
            <a:avLst/>
          </a:prstGeom>
        </p:spPr>
      </p:pic>
      <p:sp>
        <p:nvSpPr>
          <p:cNvPr id="2" name="Curved Down Arrow 1"/>
          <p:cNvSpPr/>
          <p:nvPr/>
        </p:nvSpPr>
        <p:spPr>
          <a:xfrm>
            <a:off x="296214" y="249327"/>
            <a:ext cx="1493949" cy="151507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73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862012"/>
            <a:ext cx="733425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9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47" y="744157"/>
            <a:ext cx="5048250" cy="5086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897" y="744157"/>
            <a:ext cx="479107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0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987" y="1395412"/>
            <a:ext cx="40100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7" y="1633537"/>
            <a:ext cx="68675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0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4474" y="1152928"/>
            <a:ext cx="95983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b="1" dirty="0">
                <a:latin typeface="Arial" panose="020B0604020202020204" pitchFamily="34" charset="0"/>
              </a:rPr>
              <a:t>What is </a:t>
            </a:r>
            <a:r>
              <a:rPr lang="en-GB" b="1" dirty="0" smtClean="0">
                <a:latin typeface="Arial" panose="020B0604020202020204" pitchFamily="34" charset="0"/>
              </a:rPr>
              <a:t>De-multiplexer?</a:t>
            </a:r>
          </a:p>
          <a:p>
            <a:pPr algn="just" fontAlgn="base"/>
            <a:endParaRPr lang="en-GB" b="1" dirty="0">
              <a:latin typeface="Arial" panose="020B0604020202020204" pitchFamily="34" charset="0"/>
            </a:endParaRPr>
          </a:p>
          <a:p>
            <a:pPr algn="just" fontAlgn="base"/>
            <a:r>
              <a:rPr lang="en-GB" dirty="0">
                <a:latin typeface="Arial" panose="020B0604020202020204" pitchFamily="34" charset="0"/>
              </a:rPr>
              <a:t>De-multiplexer is also a device with one input and multiple output lines. It is used to send a signal to one of the many devices. The main difference between a multiplexer and a de-multiplexer is that a multiplexer takes two or more signals and encodes them on a wire, whereas a de-multiplexer does reverse to what the multiplexer does.</a:t>
            </a:r>
          </a:p>
          <a:p>
            <a:pPr fontAlgn="base"/>
            <a:r>
              <a:rPr lang="en-GB" dirty="0"/>
              <a:t/>
            </a:r>
            <a:br>
              <a:rPr lang="en-GB" dirty="0"/>
            </a:br>
            <a:r>
              <a:rPr lang="en-US" b="1" dirty="0"/>
              <a:t>Types of </a:t>
            </a:r>
            <a:r>
              <a:rPr lang="en-US" b="1" dirty="0" smtClean="0"/>
              <a:t>De-multiplexer</a:t>
            </a:r>
            <a:endParaRPr lang="en-US" b="1" dirty="0"/>
          </a:p>
          <a:p>
            <a:pPr fontAlgn="base"/>
            <a:r>
              <a:rPr lang="en-US" dirty="0" smtClean="0"/>
              <a:t>De-multiplexers </a:t>
            </a:r>
            <a:r>
              <a:rPr lang="en-US" dirty="0"/>
              <a:t>are classified into four types</a:t>
            </a:r>
          </a:p>
          <a:p>
            <a:pPr fontAlgn="base"/>
            <a:r>
              <a:rPr lang="en-US" dirty="0"/>
              <a:t>1-2 </a:t>
            </a:r>
            <a:r>
              <a:rPr lang="en-US" dirty="0" smtClean="0"/>
              <a:t>de-multiplexer</a:t>
            </a:r>
            <a:r>
              <a:rPr lang="en-US" dirty="0"/>
              <a:t>  (1 select line)</a:t>
            </a:r>
          </a:p>
          <a:p>
            <a:pPr fontAlgn="base"/>
            <a:r>
              <a:rPr lang="en-US" dirty="0"/>
              <a:t>1-4 </a:t>
            </a:r>
            <a:r>
              <a:rPr lang="en-US" dirty="0" smtClean="0"/>
              <a:t>de-multiplexer</a:t>
            </a:r>
            <a:r>
              <a:rPr lang="en-US" dirty="0"/>
              <a:t>  (2 select lines)</a:t>
            </a:r>
          </a:p>
          <a:p>
            <a:pPr fontAlgn="base"/>
            <a:r>
              <a:rPr lang="en-US" dirty="0"/>
              <a:t>1-8 </a:t>
            </a:r>
            <a:r>
              <a:rPr lang="en-US" dirty="0" smtClean="0"/>
              <a:t>de-multiplexer</a:t>
            </a:r>
            <a:r>
              <a:rPr lang="en-US" dirty="0"/>
              <a:t>  (3 select lines)</a:t>
            </a:r>
          </a:p>
          <a:p>
            <a:pPr fontAlgn="base"/>
            <a:r>
              <a:rPr lang="en-US" dirty="0"/>
              <a:t>1-16 </a:t>
            </a:r>
            <a:r>
              <a:rPr lang="en-US" dirty="0" smtClean="0"/>
              <a:t>de-multiplexer </a:t>
            </a:r>
            <a:r>
              <a:rPr lang="en-US" dirty="0"/>
              <a:t>(4 select lines)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502" y="2954755"/>
            <a:ext cx="4159025" cy="2738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58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62121" y="1350202"/>
                <a:ext cx="4624279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Implement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using decoder/</a:t>
                </a:r>
                <a:r>
                  <a:rPr lang="en-US" dirty="0" err="1" smtClean="0"/>
                  <a:t>demux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21" y="1350202"/>
                <a:ext cx="4624279" cy="369909"/>
              </a:xfrm>
              <a:prstGeom prst="rect">
                <a:avLst/>
              </a:prstGeom>
              <a:blipFill rotWithShape="0">
                <a:blip r:embed="rId2"/>
                <a:stretch>
                  <a:fillRect l="-1054" t="-6557" r="-52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639345" y="1741006"/>
                <a:ext cx="1572354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45" y="1741006"/>
                <a:ext cx="1572354" cy="369909"/>
              </a:xfrm>
              <a:prstGeom prst="rect">
                <a:avLst/>
              </a:prstGeom>
              <a:blipFill rotWithShape="0">
                <a:blip r:embed="rId3"/>
                <a:stretch>
                  <a:fillRect l="-1163" r="-12016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71977" y="2238750"/>
                <a:ext cx="3000117" cy="5545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977" y="2238750"/>
                <a:ext cx="3000117" cy="554575"/>
              </a:xfrm>
              <a:prstGeom prst="rect">
                <a:avLst/>
              </a:prstGeom>
              <a:blipFill rotWithShape="0">
                <a:blip r:embed="rId4"/>
                <a:stretch>
                  <a:fillRect l="-813" t="-1099" r="-6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994235" y="2674339"/>
                <a:ext cx="3355599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AB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35" y="2674339"/>
                <a:ext cx="3355599" cy="369909"/>
              </a:xfrm>
              <a:prstGeom prst="rect">
                <a:avLst/>
              </a:prstGeom>
              <a:blipFill rotWithShape="0">
                <a:blip r:embed="rId5"/>
                <a:stretch>
                  <a:fillRect r="-653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994235" y="3132003"/>
                <a:ext cx="2625270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AB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35" y="3132003"/>
                <a:ext cx="2625270" cy="369909"/>
              </a:xfrm>
              <a:prstGeom prst="rect">
                <a:avLst/>
              </a:prstGeom>
              <a:blipFill rotWithShape="0">
                <a:blip r:embed="rId6"/>
                <a:stretch>
                  <a:fillRect r="-997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194706" y="3697749"/>
                <a:ext cx="1477328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2,3,6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706" y="3697749"/>
                <a:ext cx="1477328" cy="67076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486400" y="3132003"/>
            <a:ext cx="1841679" cy="281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 X 8 DECODER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997003" y="4148473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997003" y="4483853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984124" y="4819234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28079" y="3302111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328079" y="3635376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28079" y="4020131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328079" y="4376708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328079" y="4774337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28079" y="5144438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328079" y="5477143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28079" y="5771210"/>
            <a:ext cx="502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96921" y="385474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696921" y="42197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684898" y="4576432"/>
            <a:ext cx="3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7830355" y="4020131"/>
            <a:ext cx="5409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815329" y="4376708"/>
            <a:ext cx="5409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815328" y="5477143"/>
            <a:ext cx="5409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s://tse3.mm.bing.net/th/id/OIP.hYiXmPyIzHgQYbowKufpGgHaEB?pid=Api&amp;P=0&amp;h=22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5"/>
          <a:stretch/>
        </p:blipFill>
        <p:spPr bwMode="auto">
          <a:xfrm>
            <a:off x="9478851" y="3889493"/>
            <a:ext cx="187923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Connector 29"/>
          <p:cNvCxnSpPr/>
          <p:nvPr/>
        </p:nvCxnSpPr>
        <p:spPr>
          <a:xfrm>
            <a:off x="8371268" y="4020131"/>
            <a:ext cx="1197735" cy="199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371268" y="4376708"/>
            <a:ext cx="1300766" cy="107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8326192" y="4735978"/>
            <a:ext cx="1242811" cy="741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599" y="-76755"/>
            <a:ext cx="1499746" cy="15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4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3321" y="982349"/>
            <a:ext cx="941717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000" b="1" u="sng" dirty="0">
                <a:latin typeface="Arial" panose="020B0604020202020204" pitchFamily="34" charset="0"/>
              </a:rPr>
              <a:t>Applications of </a:t>
            </a:r>
            <a:r>
              <a:rPr lang="en-GB" sz="2000" b="1" u="sng" dirty="0" smtClean="0">
                <a:latin typeface="Arial" panose="020B0604020202020204" pitchFamily="34" charset="0"/>
              </a:rPr>
              <a:t>De-multiplexer:-</a:t>
            </a:r>
            <a:endParaRPr lang="en-GB" sz="2000" b="1" u="sng" dirty="0">
              <a:latin typeface="Arial" panose="020B0604020202020204" pitchFamily="34" charset="0"/>
            </a:endParaRPr>
          </a:p>
          <a:p>
            <a:pPr algn="just" fontAlgn="base"/>
            <a:r>
              <a:rPr lang="en-GB" dirty="0" smtClean="0">
                <a:latin typeface="Arial" panose="020B0604020202020204" pitchFamily="34" charset="0"/>
              </a:rPr>
              <a:t>De-multiplexers </a:t>
            </a:r>
            <a:r>
              <a:rPr lang="en-GB" dirty="0">
                <a:latin typeface="Arial" panose="020B0604020202020204" pitchFamily="34" charset="0"/>
              </a:rPr>
              <a:t>are used to connect a single source to multiple destinations. These applications include the following:</a:t>
            </a:r>
          </a:p>
          <a:p>
            <a:pPr fontAlgn="base"/>
            <a:r>
              <a:rPr lang="en-GB" b="1" dirty="0">
                <a:latin typeface="inherit"/>
              </a:rPr>
              <a:t>Communication System</a:t>
            </a:r>
            <a:endParaRPr lang="en-GB" dirty="0">
              <a:latin typeface="Arial" panose="020B0604020202020204" pitchFamily="34" charset="0"/>
            </a:endParaRPr>
          </a:p>
          <a:p>
            <a:pPr algn="just" fontAlgn="base"/>
            <a:r>
              <a:rPr lang="en-GB" dirty="0">
                <a:latin typeface="Arial" panose="020B0604020202020204" pitchFamily="34" charset="0"/>
              </a:rPr>
              <a:t>Mux and </a:t>
            </a:r>
            <a:r>
              <a:rPr lang="en-GB" dirty="0" smtClean="0">
                <a:latin typeface="Arial" panose="020B0604020202020204" pitchFamily="34" charset="0"/>
              </a:rPr>
              <a:t>de-mux </a:t>
            </a:r>
            <a:r>
              <a:rPr lang="en-GB" dirty="0">
                <a:latin typeface="Arial" panose="020B0604020202020204" pitchFamily="34" charset="0"/>
              </a:rPr>
              <a:t>both are used in communication systems to carry out the process of data transmission. A De-multiplexer receives the output signals from the multiplexer and at the receiver end, it converts them back to the original form.</a:t>
            </a:r>
          </a:p>
          <a:p>
            <a:pPr fontAlgn="base"/>
            <a:r>
              <a:rPr lang="en-GB" b="1" dirty="0">
                <a:latin typeface="inherit"/>
              </a:rPr>
              <a:t>Arithmetic Logic Unit</a:t>
            </a:r>
            <a:endParaRPr lang="en-GB" dirty="0">
              <a:latin typeface="Arial" panose="020B0604020202020204" pitchFamily="34" charset="0"/>
            </a:endParaRPr>
          </a:p>
          <a:p>
            <a:pPr algn="just" fontAlgn="base"/>
            <a:r>
              <a:rPr lang="en-GB" dirty="0">
                <a:latin typeface="Arial" panose="020B0604020202020204" pitchFamily="34" charset="0"/>
              </a:rPr>
              <a:t>The output of the ALU is fed as an input to the De-multiplexer, and the output of the </a:t>
            </a:r>
            <a:r>
              <a:rPr lang="en-GB" dirty="0" smtClean="0">
                <a:latin typeface="Arial" panose="020B0604020202020204" pitchFamily="34" charset="0"/>
              </a:rPr>
              <a:t>de-multiplexer </a:t>
            </a:r>
            <a:r>
              <a:rPr lang="en-GB" dirty="0">
                <a:latin typeface="Arial" panose="020B0604020202020204" pitchFamily="34" charset="0"/>
              </a:rPr>
              <a:t>is connected to multiple registers. The output of the ALU can be stored in multiple registers.</a:t>
            </a:r>
          </a:p>
          <a:p>
            <a:pPr fontAlgn="base"/>
            <a:r>
              <a:rPr lang="en-GB" b="1" dirty="0">
                <a:latin typeface="inherit"/>
              </a:rPr>
              <a:t>Serial to Parallel Converter</a:t>
            </a:r>
            <a:endParaRPr lang="en-GB" dirty="0">
              <a:latin typeface="Arial" panose="020B0604020202020204" pitchFamily="34" charset="0"/>
            </a:endParaRPr>
          </a:p>
          <a:p>
            <a:pPr algn="just" fontAlgn="base"/>
            <a:r>
              <a:rPr lang="en-GB" dirty="0">
                <a:latin typeface="Arial" panose="020B0604020202020204" pitchFamily="34" charset="0"/>
              </a:rPr>
              <a:t>This converter is used to reconstruct parallel data. In this technique, serial data is given as an input to the De-multiplexer at a regular interval, and a counter is attached to the </a:t>
            </a:r>
            <a:r>
              <a:rPr lang="en-GB" dirty="0" smtClean="0">
                <a:latin typeface="Arial" panose="020B0604020202020204" pitchFamily="34" charset="0"/>
              </a:rPr>
              <a:t>de-multiplexer </a:t>
            </a:r>
            <a:r>
              <a:rPr lang="en-GB" dirty="0">
                <a:latin typeface="Arial" panose="020B0604020202020204" pitchFamily="34" charset="0"/>
              </a:rPr>
              <a:t>at the control input to detect the data signal at the output of the </a:t>
            </a:r>
            <a:r>
              <a:rPr lang="en-GB" dirty="0" smtClean="0">
                <a:latin typeface="Arial" panose="020B0604020202020204" pitchFamily="34" charset="0"/>
              </a:rPr>
              <a:t>de-multiplexer</a:t>
            </a:r>
            <a:r>
              <a:rPr lang="en-GB" dirty="0">
                <a:latin typeface="Arial" panose="020B0604020202020204" pitchFamily="34" charset="0"/>
              </a:rPr>
              <a:t>. When all data signals are stored, the output of the </a:t>
            </a:r>
            <a:r>
              <a:rPr lang="en-GB" dirty="0" smtClean="0">
                <a:latin typeface="Arial" panose="020B0604020202020204" pitchFamily="34" charset="0"/>
              </a:rPr>
              <a:t>de-mux </a:t>
            </a:r>
            <a:r>
              <a:rPr lang="en-GB" dirty="0">
                <a:latin typeface="Arial" panose="020B0604020202020204" pitchFamily="34" charset="0"/>
              </a:rPr>
              <a:t>can be read out in parallel.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59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408" y="1785667"/>
            <a:ext cx="8547421" cy="3905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423358" y="1112808"/>
            <a:ext cx="9100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 between MUX &amp; DE-MUX ?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890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1677</TotalTime>
  <Words>528</Words>
  <Application>Microsoft Office PowerPoint</Application>
  <PresentationFormat>Widescreen</PresentationFormat>
  <Paragraphs>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Cambria Math</vt:lpstr>
      <vt:lpstr>Google Sans</vt:lpstr>
      <vt:lpstr>inherit</vt:lpstr>
      <vt:lpstr>Tw Cen MT</vt:lpstr>
      <vt:lpstr>Tw Cen MT Condensed</vt:lpstr>
      <vt:lpstr>Wingdings 3</vt:lpstr>
      <vt:lpstr>Integral</vt:lpstr>
      <vt:lpstr>Lecture 11</vt:lpstr>
      <vt:lpstr>multiplexer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</dc:title>
  <dc:creator>Microsoft account</dc:creator>
  <cp:lastModifiedBy>Microsoft account</cp:lastModifiedBy>
  <cp:revision>24</cp:revision>
  <cp:lastPrinted>2025-12-23T04:12:28Z</cp:lastPrinted>
  <dcterms:created xsi:type="dcterms:W3CDTF">2025-03-04T12:22:30Z</dcterms:created>
  <dcterms:modified xsi:type="dcterms:W3CDTF">2025-12-23T08:54:20Z</dcterms:modified>
</cp:coreProperties>
</file>