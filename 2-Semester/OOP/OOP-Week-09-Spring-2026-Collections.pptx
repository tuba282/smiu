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2" r:id="rId3"/>
    <p:sldId id="269" r:id="rId4"/>
    <p:sldId id="258" r:id="rId5"/>
    <p:sldId id="270" r:id="rId6"/>
    <p:sldId id="271" r:id="rId7"/>
    <p:sldId id="263" r:id="rId8"/>
    <p:sldId id="261" r:id="rId9"/>
    <p:sldId id="262" r:id="rId10"/>
    <p:sldId id="267" r:id="rId11"/>
    <p:sldId id="268" r:id="rId12"/>
    <p:sldId id="273" r:id="rId13"/>
    <p:sldId id="274" r:id="rId14"/>
    <p:sldId id="26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14BE"/>
    <a:srgbClr val="1D0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BE8E6-645C-4121-9BCD-68DBE31334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E1A88A-DE1F-46BA-A67A-986A2558B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4F08E-EE35-4FA9-BAA5-149F53F6A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8DA4-35A2-4938-B15F-3B638DA028B5}" type="datetimeFigureOut">
              <a:rPr lang="en-US" smtClean="0"/>
              <a:t>22-Apr-2026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37626-732C-4A70-9E64-1ABF0FB54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A96E8-0BC5-44B2-93BF-AE2E761BB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94FA5-E0EC-4B31-A261-592750271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868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B3B6B-69F4-42A7-A05C-D4B2C230D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1DA80-A2D6-45C5-84B5-0C193E124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1BF6B-ED17-460F-A59C-6BE63C30F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8DA4-35A2-4938-B15F-3B638DA028B5}" type="datetimeFigureOut">
              <a:rPr lang="en-US" smtClean="0"/>
              <a:t>22-Apr-2026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C61B4-EFC0-476F-A08D-90A3925BE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244D1-3173-41A3-BE0B-509E9B39B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94FA5-E0EC-4B31-A261-592750271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00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71A25-B114-42C5-89AC-B74E52CA5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B1ED5-30E1-4D05-9B79-2EB6A7DED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30586-0576-4F64-8EB0-9BE5259FA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8DA4-35A2-4938-B15F-3B638DA028B5}" type="datetimeFigureOut">
              <a:rPr lang="en-US" smtClean="0"/>
              <a:t>22-Apr-2026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5AFB5-5FCB-4A03-A89F-CCEDD9482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B2037-F2CB-4844-9F1E-9C892A8DC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94FA5-E0EC-4B31-A261-592750271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367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62114-765C-435B-80BB-9C8D19D25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AB921-536E-4DB8-8EB4-72DE3DF8D1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B07D8-D355-46C6-BC9D-9125034187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174302-300A-4C56-8F3B-FBB09BD02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8DA4-35A2-4938-B15F-3B638DA028B5}" type="datetimeFigureOut">
              <a:rPr lang="en-US" smtClean="0"/>
              <a:t>22-Apr-2026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D8A78-BE72-427A-B323-816E5E4A1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CE6BD-EDF7-4142-BF9D-B62DC2A06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94FA5-E0EC-4B31-A261-592750271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227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03E4C-CA76-4D46-A2BA-C5EEAED08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22EC4-F7C3-4CC2-A51E-9783A22B2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0C47B2-3312-42AD-8B2B-5B0BE9C7E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970CD5-93D5-48CA-AFE0-F6087B8AEB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06EDC4-645B-49AF-B6F0-F413EFA2A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BFF8E7-BE61-4F8E-9388-8C1A66B80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8DA4-35A2-4938-B15F-3B638DA028B5}" type="datetimeFigureOut">
              <a:rPr lang="en-US" smtClean="0"/>
              <a:t>22-Apr-2026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C79A17-A306-43CE-96DD-0DF9C5809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D3DECE-86CA-4F04-8775-933BE5FD7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94FA5-E0EC-4B31-A261-592750271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931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5F100-1811-4529-A01C-812208AA4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732D22-F3E1-4B1F-8ABE-029062B34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8DA4-35A2-4938-B15F-3B638DA028B5}" type="datetimeFigureOut">
              <a:rPr lang="en-US" smtClean="0"/>
              <a:t>22-Apr-2026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5A5A4D-8BCC-42EA-9BAB-892CE22F0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0009C5-842A-4B99-9352-E849A93F7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94FA5-E0EC-4B31-A261-592750271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404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324342-2A4C-4A46-B0DC-626225F9F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8DA4-35A2-4938-B15F-3B638DA028B5}" type="datetimeFigureOut">
              <a:rPr lang="en-US" smtClean="0"/>
              <a:t>22-Apr-2026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73F1FA-E5DA-45C6-B3D4-155824AFC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7EECA-3788-42D0-8EF0-B0D4914C9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94FA5-E0EC-4B31-A261-592750271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041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E2BDA-8F9F-47F3-A929-70F5723C5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391CB-5C4D-461F-948E-D6424D244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A798D3-1860-4C58-A527-B2B05A348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D7DDA-AC69-445B-A323-CF238D480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8DA4-35A2-4938-B15F-3B638DA028B5}" type="datetimeFigureOut">
              <a:rPr lang="en-US" smtClean="0"/>
              <a:t>22-Apr-2026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837BAF-9EA8-4AF2-BD73-161B4172D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310CB-3294-4D01-87A4-8C13CD953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94FA5-E0EC-4B31-A261-592750271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898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945C9-2162-47CE-B374-D39AE4CB2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47D3E9-2711-479D-8966-1FF187880B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A820C8-B10C-4CB7-A268-B9A63B0CC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D03F9-5214-4B44-8DC7-08E2EF868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8DA4-35A2-4938-B15F-3B638DA028B5}" type="datetimeFigureOut">
              <a:rPr lang="en-US" smtClean="0"/>
              <a:t>22-Apr-2026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AA873-FF6C-4FDA-8E31-02A242033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A231A-821F-4D36-9277-923EDA455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94FA5-E0EC-4B31-A261-592750271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273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8A955-898B-45E4-A620-088E5DD8D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3D6A75-A627-43A2-AF16-10F387887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34503-5747-49D9-9090-03A38048F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8DA4-35A2-4938-B15F-3B638DA028B5}" type="datetimeFigureOut">
              <a:rPr lang="en-US" smtClean="0"/>
              <a:t>22-Apr-2026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D4E7E-D618-465B-83DE-E68FC1302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4670A-AF9C-4D2F-AAC4-98B419AA7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94FA5-E0EC-4B31-A261-592750271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13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85D97A-FBC9-4BDB-A5A7-9B3FA64779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89CDBC-5343-42AE-A42A-0234A357CB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5F051-D424-4C51-AD42-CF04AD7E7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8DA4-35A2-4938-B15F-3B638DA028B5}" type="datetimeFigureOut">
              <a:rPr lang="en-US" smtClean="0"/>
              <a:t>22-Apr-2026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EF090-0B6F-4FBE-9AC0-A42E16C06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94E9A-0C23-47F0-A33B-022C7B37D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94FA5-E0EC-4B31-A261-592750271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15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4BC99F-5B7F-460B-8394-3D942A085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C131F-12EB-4220-969A-09E069BEA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30913-1FC7-4D14-9279-9B8A4F342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68DA4-35A2-4938-B15F-3B638DA028B5}" type="datetimeFigureOut">
              <a:rPr lang="en-US" smtClean="0"/>
              <a:t>22-Apr-2026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5D443-D227-4F3C-86EB-54066E823F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A58E2-98BF-43F1-BCF7-3880A1815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D94FA5-E0EC-4B31-A261-592750271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33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dureka.co/blog/java-collections/" TargetMode="External"/><Relationship Id="rId2" Type="http://schemas.openxmlformats.org/officeDocument/2006/relationships/hyperlink" Target="https://onecompiler.com/jav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613FA-01BE-49BE-ACD2-E10698FED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0C501-724B-4DE5-A230-316F87615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9725"/>
            <a:ext cx="10515600" cy="4351338"/>
          </a:xfrm>
        </p:spPr>
        <p:txBody>
          <a:bodyPr/>
          <a:lstStyle/>
          <a:p>
            <a:pPr algn="just"/>
            <a:r>
              <a:rPr lang="en-US" dirty="0">
                <a:latin typeface="Arial Rounded MT Bold" panose="020F0704030504030204" pitchFamily="34" charset="0"/>
              </a:rPr>
              <a:t>In Java, collections are data structures that store and manipulate 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groups</a:t>
            </a:r>
            <a:r>
              <a:rPr lang="en-US" dirty="0">
                <a:latin typeface="Arial Rounded MT Bold" panose="020F0704030504030204" pitchFamily="34" charset="0"/>
              </a:rPr>
              <a:t> of objects. </a:t>
            </a:r>
          </a:p>
          <a:p>
            <a:pPr algn="just"/>
            <a:endParaRPr lang="en-US" dirty="0">
              <a:latin typeface="Arial Rounded MT Bold" panose="020F0704030504030204" pitchFamily="34" charset="0"/>
            </a:endParaRPr>
          </a:p>
          <a:p>
            <a:pPr algn="just"/>
            <a:r>
              <a:rPr lang="en-US" dirty="0">
                <a:latin typeface="Arial Rounded MT Bold" panose="020F0704030504030204" pitchFamily="34" charset="0"/>
              </a:rPr>
              <a:t>Java collections refer to a 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collection of individual objects </a:t>
            </a:r>
            <a:r>
              <a:rPr lang="en-US" dirty="0">
                <a:latin typeface="Arial Rounded MT Bold" panose="020F0704030504030204" pitchFamily="34" charset="0"/>
              </a:rPr>
              <a:t>that are represented as a 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single unit</a:t>
            </a:r>
            <a:r>
              <a:rPr lang="en-US" dirty="0">
                <a:latin typeface="Arial Rounded MT Bold" panose="020F0704030504030204" pitchFamily="34" charset="0"/>
              </a:rPr>
              <a:t>. </a:t>
            </a:r>
          </a:p>
          <a:p>
            <a:pPr algn="just"/>
            <a:endParaRPr lang="en-US" dirty="0">
              <a:latin typeface="Arial Rounded MT Bold" panose="020F0704030504030204" pitchFamily="34" charset="0"/>
            </a:endParaRPr>
          </a:p>
          <a:p>
            <a:pPr algn="just"/>
            <a:r>
              <a:rPr lang="en-US" dirty="0">
                <a:latin typeface="Arial Rounded MT Bold" panose="020F0704030504030204" pitchFamily="34" charset="0"/>
              </a:rPr>
              <a:t>You can perform all operations such as searching, sorting, insertion, manipulation, deletion, etc., on Java collections just like you do it on data.</a:t>
            </a:r>
          </a:p>
        </p:txBody>
      </p:sp>
    </p:spTree>
    <p:extLst>
      <p:ext uri="{BB962C8B-B14F-4D97-AF65-F5344CB8AC3E}">
        <p14:creationId xmlns:p14="http://schemas.microsoft.com/office/powerpoint/2010/main" val="3211780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A4C90-42F8-48BB-91A1-3109DFE3A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274C2-65FE-4C4F-AF98-B8432C379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ollection Object">
            <a:extLst>
              <a:ext uri="{FF2B5EF4-FFF2-40B4-BE49-F238E27FC236}">
                <a16:creationId xmlns:a16="http://schemas.microsoft.com/office/drawing/2014/main" id="{38FF1AC4-3A8E-4DA7-B909-BA614D66C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763" y="1830388"/>
            <a:ext cx="5324475" cy="378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0252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613FA-01BE-49BE-ACD2-E10698FED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0C501-724B-4DE5-A230-316F87615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9725"/>
            <a:ext cx="10515600" cy="4351338"/>
          </a:xfrm>
        </p:spPr>
        <p:txBody>
          <a:bodyPr/>
          <a:lstStyle/>
          <a:p>
            <a:pPr algn="just"/>
            <a:r>
              <a:rPr lang="en-US" dirty="0">
                <a:latin typeface="Arial Rounded MT Bold" panose="020F0704030504030204" pitchFamily="34" charset="0"/>
              </a:rPr>
              <a:t>They’re part of the 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Java Collections Framework </a:t>
            </a:r>
            <a:r>
              <a:rPr lang="en-US" dirty="0">
                <a:latin typeface="Arial Rounded MT Bold" panose="020F0704030504030204" pitchFamily="34" charset="0"/>
              </a:rPr>
              <a:t>(JCF), found in the </a:t>
            </a:r>
            <a:r>
              <a:rPr lang="en-US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java.util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>
                <a:latin typeface="Arial Rounded MT Bold" panose="020F0704030504030204" pitchFamily="34" charset="0"/>
              </a:rPr>
              <a:t>package, and provide ready-made classes and interfaces for handling dynamic data (unlike arrays, which have fixed size).</a:t>
            </a:r>
          </a:p>
        </p:txBody>
      </p:sp>
    </p:spTree>
    <p:extLst>
      <p:ext uri="{BB962C8B-B14F-4D97-AF65-F5344CB8AC3E}">
        <p14:creationId xmlns:p14="http://schemas.microsoft.com/office/powerpoint/2010/main" val="1047947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A7AC1-D976-4D87-8CD5-925C3CC24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E3A537-58FC-4A03-AA8C-A334D96A46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8816702"/>
              </p:ext>
            </p:extLst>
          </p:nvPr>
        </p:nvGraphicFramePr>
        <p:xfrm>
          <a:off x="838200" y="1598454"/>
          <a:ext cx="10515600" cy="4573746"/>
        </p:xfrm>
        <a:graphic>
          <a:graphicData uri="http://schemas.openxmlformats.org/drawingml/2006/table">
            <a:tbl>
              <a:tblPr/>
              <a:tblGrid>
                <a:gridCol w="2120900">
                  <a:extLst>
                    <a:ext uri="{9D8B030D-6E8A-4147-A177-3AD203B41FA5}">
                      <a16:colId xmlns:a16="http://schemas.microsoft.com/office/drawing/2014/main" val="2272353160"/>
                    </a:ext>
                  </a:extLst>
                </a:gridCol>
                <a:gridCol w="4889500">
                  <a:extLst>
                    <a:ext uri="{9D8B030D-6E8A-4147-A177-3AD203B41FA5}">
                      <a16:colId xmlns:a16="http://schemas.microsoft.com/office/drawing/2014/main" val="42270497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68669688"/>
                    </a:ext>
                  </a:extLst>
                </a:gridCol>
              </a:tblGrid>
              <a:tr h="43559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 Rounded MT Bold" panose="020F0704030504030204" pitchFamily="34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Common Implementations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3379442"/>
                  </a:ext>
                </a:extLst>
              </a:tr>
              <a:tr h="762291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Rounded MT Bold" panose="020F0704030504030204" pitchFamily="34" charset="0"/>
                        </a:rPr>
                        <a:t>Collection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 Rounded MT Bold" panose="020F0704030504030204" pitchFamily="34" charset="0"/>
                        </a:rPr>
                        <a:t>The root interface for all collections (except maps).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 Rounded MT Bold" panose="020F0704030504030204" pitchFamily="34" charset="0"/>
                        </a:rPr>
                        <a:t>ArrayList, HashSet, LinkedList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269275"/>
                  </a:ext>
                </a:extLst>
              </a:tr>
              <a:tr h="762291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Rounded MT Bold" panose="020F0704030504030204" pitchFamily="34" charset="0"/>
                        </a:rPr>
                        <a:t>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Rounded MT Bold" panose="020F0704030504030204" pitchFamily="34" charset="0"/>
                        </a:rPr>
                        <a:t>An 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ordered</a:t>
                      </a:r>
                      <a:r>
                        <a:rPr lang="en-US" dirty="0">
                          <a:latin typeface="Arial Rounded MT Bold" panose="020F0704030504030204" pitchFamily="34" charset="0"/>
                        </a:rPr>
                        <a:t> collection (sequence) that allows duplicates.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 Rounded MT Bold" panose="020F0704030504030204" pitchFamily="34" charset="0"/>
                        </a:rPr>
                        <a:t>ArrayList</a:t>
                      </a:r>
                      <a:r>
                        <a:rPr lang="en-US" dirty="0">
                          <a:latin typeface="Arial Rounded MT Bold" panose="020F0704030504030204" pitchFamily="34" charset="0"/>
                        </a:rPr>
                        <a:t>, LinkedList, Vector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662526"/>
                  </a:ext>
                </a:extLst>
              </a:tr>
              <a:tr h="762291">
                <a:tc>
                  <a:txBody>
                    <a:bodyPr/>
                    <a:lstStyle/>
                    <a:p>
                      <a:r>
                        <a:rPr lang="en-US">
                          <a:latin typeface="Arial Rounded MT Bold" panose="020F0704030504030204" pitchFamily="34" charset="0"/>
                        </a:rPr>
                        <a:t>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Rounded MT Bold" panose="020F0704030504030204" pitchFamily="34" charset="0"/>
                        </a:rPr>
                        <a:t>A collection that does </a:t>
                      </a:r>
                      <a:r>
                        <a:rPr lang="en-US" i="1" dirty="0">
                          <a:latin typeface="Arial Rounded MT Bold" panose="020F0704030504030204" pitchFamily="34" charset="0"/>
                        </a:rPr>
                        <a:t>not</a:t>
                      </a:r>
                      <a:r>
                        <a:rPr lang="en-US" dirty="0">
                          <a:latin typeface="Arial Rounded MT Bold" panose="020F0704030504030204" pitchFamily="34" charset="0"/>
                        </a:rPr>
                        <a:t> allow duplicates and is not 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ordered</a:t>
                      </a:r>
                      <a:r>
                        <a:rPr lang="en-US" dirty="0">
                          <a:latin typeface="Arial Rounded MT Bold" panose="020F0704030504030204" pitchFamily="34" charset="0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 Rounded MT Bold" panose="020F0704030504030204" pitchFamily="34" charset="0"/>
                        </a:rPr>
                        <a:t>HashSet, LinkedHashSet, TreeSet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0978060"/>
                  </a:ext>
                </a:extLst>
              </a:tr>
              <a:tr h="1088987">
                <a:tc>
                  <a:txBody>
                    <a:bodyPr/>
                    <a:lstStyle/>
                    <a:p>
                      <a:r>
                        <a:rPr lang="en-US">
                          <a:latin typeface="Arial Rounded MT Bold" panose="020F0704030504030204" pitchFamily="34" charset="0"/>
                        </a:rPr>
                        <a:t>Queue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Rounded MT Bold" panose="020F0704030504030204" pitchFamily="34" charset="0"/>
                        </a:rPr>
                        <a:t>A collection used to hold elements before processing, typically in FIFO 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order</a:t>
                      </a:r>
                      <a:r>
                        <a:rPr lang="en-US" dirty="0">
                          <a:latin typeface="Arial Rounded MT Bold" panose="020F0704030504030204" pitchFamily="34" charset="0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Rounded MT Bold" panose="020F0704030504030204" pitchFamily="34" charset="0"/>
                        </a:rPr>
                        <a:t>LinkedList, </a:t>
                      </a:r>
                      <a:r>
                        <a:rPr lang="en-US" dirty="0" err="1">
                          <a:latin typeface="Arial Rounded MT Bold" panose="020F0704030504030204" pitchFamily="34" charset="0"/>
                        </a:rPr>
                        <a:t>PriorityQueue</a:t>
                      </a:r>
                      <a:r>
                        <a:rPr lang="en-US" dirty="0">
                          <a:latin typeface="Arial Rounded MT Bold" panose="020F0704030504030204" pitchFamily="34" charset="0"/>
                        </a:rPr>
                        <a:t>, </a:t>
                      </a:r>
                      <a:r>
                        <a:rPr lang="en-US" dirty="0" err="1">
                          <a:latin typeface="Arial Rounded MT Bold" panose="020F0704030504030204" pitchFamily="34" charset="0"/>
                        </a:rPr>
                        <a:t>ArrayDeque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5955395"/>
                  </a:ext>
                </a:extLst>
              </a:tr>
              <a:tr h="762291">
                <a:tc>
                  <a:txBody>
                    <a:bodyPr/>
                    <a:lstStyle/>
                    <a:p>
                      <a:r>
                        <a:rPr lang="en-US">
                          <a:latin typeface="Arial Rounded MT Bold" panose="020F0704030504030204" pitchFamily="34" charset="0"/>
                        </a:rPr>
                        <a:t>Map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 Rounded MT Bold" panose="020F0704030504030204" pitchFamily="34" charset="0"/>
                        </a:rPr>
                        <a:t>Holds key-value pairs (not technically a subtype of Collection).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Rounded MT Bold" panose="020F0704030504030204" pitchFamily="34" charset="0"/>
                        </a:rPr>
                        <a:t>HashMap, </a:t>
                      </a:r>
                      <a:r>
                        <a:rPr lang="en-US" dirty="0" err="1">
                          <a:latin typeface="Arial Rounded MT Bold" panose="020F0704030504030204" pitchFamily="34" charset="0"/>
                        </a:rPr>
                        <a:t>TreeMap</a:t>
                      </a:r>
                      <a:r>
                        <a:rPr lang="en-US" dirty="0">
                          <a:latin typeface="Arial Rounded MT Bold" panose="020F0704030504030204" pitchFamily="34" charset="0"/>
                        </a:rPr>
                        <a:t>, </a:t>
                      </a:r>
                      <a:r>
                        <a:rPr lang="en-US" dirty="0" err="1">
                          <a:latin typeface="Arial Rounded MT Bold" panose="020F0704030504030204" pitchFamily="34" charset="0"/>
                        </a:rPr>
                        <a:t>LinkedHashMap</a:t>
                      </a:r>
                      <a:r>
                        <a:rPr lang="en-US" dirty="0">
                          <a:latin typeface="Arial Rounded MT Bold" panose="020F0704030504030204" pitchFamily="34" charset="0"/>
                        </a:rPr>
                        <a:t>, </a:t>
                      </a:r>
                      <a:r>
                        <a:rPr lang="en-US" dirty="0" err="1">
                          <a:latin typeface="Arial Rounded MT Bold" panose="020F0704030504030204" pitchFamily="34" charset="0"/>
                        </a:rPr>
                        <a:t>Hashtable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5541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1132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55F34-41FF-4469-B742-36591C694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7E10A-9642-48E2-8078-7003A2EFE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https://media.geeksforgeeks.org/wp-content/uploads/20201118214435/PriorityQueue.png">
            <a:extLst>
              <a:ext uri="{FF2B5EF4-FFF2-40B4-BE49-F238E27FC236}">
                <a16:creationId xmlns:a16="http://schemas.microsoft.com/office/drawing/2014/main" id="{11528D34-34F2-4AF9-8E84-360DFA54B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1847850"/>
            <a:ext cx="11068050" cy="499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4605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74D1B-78EB-4E6A-AEC8-6A06A7ABA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Collections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67BD02-C6FE-4183-8B6A-CF41FD25CC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4139179"/>
            <a:ext cx="12192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Rounded MT Bold" panose="020F0704030504030204" pitchFamily="34" charset="0"/>
              </a:rPr>
              <a:t>Map&lt;Integer, String&gt;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Arial Rounded MT Bold" panose="020F0704030504030204" pitchFamily="34" charset="0"/>
              </a:rPr>
              <a:t>ObjectName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Rounded MT Bold" panose="020F0704030504030204" pitchFamily="34" charset="0"/>
              </a:rPr>
              <a:t> </a:t>
            </a:r>
            <a:r>
              <a:rPr lang="en-US" altLang="en-US" dirty="0">
                <a:latin typeface="Arial Rounded MT Bold" panose="020F0704030504030204" pitchFamily="34" charset="0"/>
              </a:rPr>
              <a:t>new </a:t>
            </a:r>
            <a:r>
              <a:rPr lang="en-US" alt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HashMap&lt;&gt;()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 Rounded MT Bold" panose="020F07040305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6277D9-63A8-4ADB-B88B-52714E3087DE}"/>
              </a:ext>
            </a:extLst>
          </p:cNvPr>
          <p:cNvSpPr/>
          <p:nvPr/>
        </p:nvSpPr>
        <p:spPr>
          <a:xfrm>
            <a:off x="298484" y="1749326"/>
            <a:ext cx="87876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Map</a:t>
            </a:r>
            <a:r>
              <a:rPr lang="en-US" sz="2800" dirty="0">
                <a:latin typeface="Arial Rounded MT Bold" panose="020F0704030504030204" pitchFamily="34" charset="0"/>
              </a:rPr>
              <a:t> is a Java </a:t>
            </a:r>
            <a:r>
              <a:rPr lang="en-US" sz="28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interface</a:t>
            </a:r>
            <a:r>
              <a:rPr lang="en-US" sz="2800" dirty="0">
                <a:latin typeface="Arial Rounded MT Bold" panose="020F0704030504030204" pitchFamily="34" charset="0"/>
              </a:rPr>
              <a:t> from the </a:t>
            </a:r>
            <a:r>
              <a:rPr lang="en-US" sz="2800" dirty="0" err="1">
                <a:latin typeface="Arial Rounded MT Bold" panose="020F0704030504030204" pitchFamily="34" charset="0"/>
              </a:rPr>
              <a:t>java.util</a:t>
            </a:r>
            <a:r>
              <a:rPr lang="en-US" sz="2800" dirty="0">
                <a:latin typeface="Arial Rounded MT Bold" panose="020F0704030504030204" pitchFamily="34" charset="0"/>
              </a:rPr>
              <a:t> package.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51853C-59C2-4B2C-A827-631EE11266DE}"/>
              </a:ext>
            </a:extLst>
          </p:cNvPr>
          <p:cNvSpPr/>
          <p:nvPr/>
        </p:nvSpPr>
        <p:spPr>
          <a:xfrm>
            <a:off x="298484" y="2461558"/>
            <a:ext cx="95812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HashMap</a:t>
            </a:r>
            <a:r>
              <a:rPr lang="en-US" sz="2800" dirty="0">
                <a:latin typeface="Arial Rounded MT Bold" panose="020F0704030504030204" pitchFamily="34" charset="0"/>
              </a:rPr>
              <a:t> is a </a:t>
            </a:r>
            <a:r>
              <a:rPr lang="en-US" sz="28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class</a:t>
            </a:r>
            <a:r>
              <a:rPr lang="en-US" sz="2800" dirty="0">
                <a:latin typeface="Arial Rounded MT Bold" panose="020F0704030504030204" pitchFamily="34" charset="0"/>
              </a:rPr>
              <a:t> that implements the </a:t>
            </a:r>
            <a:r>
              <a:rPr lang="en-US" sz="28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Map</a:t>
            </a:r>
            <a:r>
              <a:rPr lang="en-US" sz="2800" dirty="0">
                <a:latin typeface="Arial Rounded MT Bold" panose="020F0704030504030204" pitchFamily="34" charset="0"/>
              </a:rPr>
              <a:t> interface.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CD639D-6DA1-49C4-B00E-AE438FF32D47}"/>
              </a:ext>
            </a:extLst>
          </p:cNvPr>
          <p:cNvSpPr/>
          <p:nvPr/>
        </p:nvSpPr>
        <p:spPr>
          <a:xfrm>
            <a:off x="2509576" y="4888946"/>
            <a:ext cx="19509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(Interface part) 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6BDA7E-9AE1-4935-AA19-BA44CF40B3A4}"/>
              </a:ext>
            </a:extLst>
          </p:cNvPr>
          <p:cNvSpPr/>
          <p:nvPr/>
        </p:nvSpPr>
        <p:spPr>
          <a:xfrm>
            <a:off x="8151561" y="4893747"/>
            <a:ext cx="26695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(Implementation part)</a:t>
            </a:r>
            <a:r>
              <a:rPr lang="en-US" altLang="en-US" dirty="0">
                <a:latin typeface="Arial Rounded MT Bold" panose="020F0704030504030204" pitchFamily="34" charset="0"/>
              </a:rPr>
              <a:t> 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D3AA0E83-6468-4A20-9B3A-FF7C3D398C10}"/>
              </a:ext>
            </a:extLst>
          </p:cNvPr>
          <p:cNvSpPr/>
          <p:nvPr/>
        </p:nvSpPr>
        <p:spPr>
          <a:xfrm rot="5400000">
            <a:off x="3204239" y="2984973"/>
            <a:ext cx="373324" cy="3581402"/>
          </a:xfrm>
          <a:prstGeom prst="righ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B144350F-DD91-4D06-8687-4A2DE0365E62}"/>
              </a:ext>
            </a:extLst>
          </p:cNvPr>
          <p:cNvSpPr/>
          <p:nvPr/>
        </p:nvSpPr>
        <p:spPr>
          <a:xfrm rot="5400000">
            <a:off x="9281188" y="3651724"/>
            <a:ext cx="373324" cy="2247900"/>
          </a:xfrm>
          <a:prstGeom prst="righ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29670AD-8003-4E53-9499-47CC89B12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875" y="3393481"/>
            <a:ext cx="2381250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75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0D8A4-92EE-4931-ADBA-224D9BCB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41D34-BC36-4FDE-852B-826CC586D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Java Collections : </a:t>
            </a:r>
            <a:r>
              <a:rPr lang="en-US" b="1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Interface</a:t>
            </a:r>
            <a:endParaRPr lang="en-US" dirty="0">
              <a:solidFill>
                <a:schemeClr val="accent1"/>
              </a:solidFill>
              <a:latin typeface="Arial Rounded MT Bold" panose="020F0704030504030204" pitchFamily="34" charset="0"/>
            </a:endParaRPr>
          </a:p>
          <a:p>
            <a:pPr lvl="1"/>
            <a:r>
              <a:rPr lang="en-US" sz="2800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Iterator interface</a:t>
            </a:r>
            <a:r>
              <a:rPr lang="en-US" sz="28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:</a:t>
            </a:r>
            <a:r>
              <a:rPr lang="en-US" sz="2800" dirty="0">
                <a:latin typeface="Arial Rounded MT Bold" panose="020F0704030504030204" pitchFamily="34" charset="0"/>
              </a:rPr>
              <a:t> Iterator is an interface that iterates the elements. It is used to traverse the list and modify the elements. Iterator interface has three methods which are mentioned below: </a:t>
            </a:r>
          </a:p>
          <a:p>
            <a:pPr lvl="2"/>
            <a:r>
              <a:rPr lang="en-US" sz="2400" b="1" dirty="0">
                <a:latin typeface="Arial Rounded MT Bold" panose="020F0704030504030204" pitchFamily="34" charset="0"/>
              </a:rPr>
              <a:t>public </a:t>
            </a:r>
            <a:r>
              <a:rPr lang="en-US" sz="2400" b="1" dirty="0" err="1">
                <a:latin typeface="Arial Rounded MT Bold" panose="020F0704030504030204" pitchFamily="34" charset="0"/>
              </a:rPr>
              <a:t>boolean</a:t>
            </a:r>
            <a:r>
              <a:rPr lang="en-US" sz="2400" b="1" dirty="0">
                <a:latin typeface="Arial Rounded MT Bold" panose="020F0704030504030204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hasNext</a:t>
            </a:r>
            <a:r>
              <a:rPr lang="en-US" sz="24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()</a:t>
            </a:r>
            <a:r>
              <a:rPr lang="en-US" sz="2400" dirty="0">
                <a:latin typeface="Arial Rounded MT Bold" panose="020F0704030504030204" pitchFamily="34" charset="0"/>
              </a:rPr>
              <a:t> – This method returns true if the iterator has more elements.</a:t>
            </a:r>
          </a:p>
          <a:p>
            <a:pPr lvl="2"/>
            <a:r>
              <a:rPr lang="en-US" sz="2400" b="1" dirty="0">
                <a:latin typeface="Arial Rounded MT Bold" panose="020F0704030504030204" pitchFamily="34" charset="0"/>
              </a:rPr>
              <a:t>public object </a:t>
            </a:r>
            <a:r>
              <a:rPr lang="en-US" sz="24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next()</a:t>
            </a:r>
            <a:r>
              <a:rPr lang="en-US" sz="2400" dirty="0">
                <a:latin typeface="Arial Rounded MT Bold" panose="020F0704030504030204" pitchFamily="34" charset="0"/>
              </a:rPr>
              <a:t> – It returns the element and moves the cursor pointer to the next element.</a:t>
            </a:r>
          </a:p>
          <a:p>
            <a:pPr lvl="2"/>
            <a:r>
              <a:rPr lang="en-US" sz="2400" b="1" dirty="0">
                <a:latin typeface="Arial Rounded MT Bold" panose="020F0704030504030204" pitchFamily="34" charset="0"/>
              </a:rPr>
              <a:t>public void </a:t>
            </a:r>
            <a:r>
              <a:rPr lang="en-US" sz="24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remove()</a:t>
            </a:r>
            <a:r>
              <a:rPr lang="en-US" sz="2400" dirty="0">
                <a:latin typeface="Arial Rounded MT Bold" panose="020F0704030504030204" pitchFamily="34" charset="0"/>
              </a:rPr>
              <a:t> – This method removes the last elements returned by the iterator. </a:t>
            </a:r>
          </a:p>
          <a:p>
            <a:endParaRPr lang="en-US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852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29EF5-127C-4E81-AD78-B51721CBF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D4715-E34D-4351-A6E2-FA825F04A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Arial Rounded MT Bold" panose="020F0704030504030204" pitchFamily="34" charset="0"/>
              </a:rPr>
              <a:t>In Java, a </a:t>
            </a:r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Vector</a:t>
            </a:r>
            <a:r>
              <a:rPr lang="en-US" dirty="0">
                <a:latin typeface="Arial Rounded MT Bold" panose="020F0704030504030204" pitchFamily="34" charset="0"/>
              </a:rPr>
              <a:t> is a legacy class from the Collection Framework that represents a dynamic array—it can grow or shrink as elements are added or removed. </a:t>
            </a:r>
          </a:p>
          <a:p>
            <a:pPr algn="just"/>
            <a:endParaRPr lang="en-US" dirty="0">
              <a:latin typeface="Arial Rounded MT Bold" panose="020F0704030504030204" pitchFamily="34" charset="0"/>
            </a:endParaRPr>
          </a:p>
          <a:p>
            <a:pPr algn="just"/>
            <a:r>
              <a:rPr lang="en-US" dirty="0">
                <a:latin typeface="Arial Rounded MT Bold" panose="020F0704030504030204" pitchFamily="34" charset="0"/>
              </a:rPr>
              <a:t>Unlike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ArrayList</a:t>
            </a:r>
            <a:r>
              <a:rPr lang="en-US" dirty="0">
                <a:latin typeface="Arial Rounded MT Bold" panose="020F0704030504030204" pitchFamily="34" charset="0"/>
              </a:rPr>
              <a:t>, it is synchronized (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thread-safe</a:t>
            </a:r>
            <a:r>
              <a:rPr lang="en-US" dirty="0">
                <a:latin typeface="Arial Rounded MT Bold" panose="020F0704030504030204" pitchFamily="34" charset="0"/>
              </a:rPr>
              <a:t>), which makes it useful in multi-threaded environments but less efficient in single-threaded contexts. </a:t>
            </a:r>
          </a:p>
          <a:p>
            <a:pPr algn="just"/>
            <a:endParaRPr lang="en-US" dirty="0">
              <a:latin typeface="Arial Rounded MT Bold" panose="020F0704030504030204" pitchFamily="34" charset="0"/>
            </a:endParaRPr>
          </a:p>
          <a:p>
            <a:pPr algn="just"/>
            <a:endParaRPr lang="en-US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63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29EF5-127C-4E81-AD78-B51721CBF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D4715-E34D-4351-A6E2-FA825F04A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Key Features of Vector</a:t>
            </a:r>
          </a:p>
          <a:p>
            <a:pPr lvl="1" algn="just"/>
            <a:r>
              <a:rPr lang="en-US" dirty="0">
                <a:latin typeface="Arial Rounded MT Bold" panose="020F0704030504030204" pitchFamily="34" charset="0"/>
              </a:rPr>
              <a:t>Package: </a:t>
            </a:r>
            <a:r>
              <a:rPr lang="en-US" dirty="0" err="1">
                <a:latin typeface="Arial Rounded MT Bold" panose="020F0704030504030204" pitchFamily="34" charset="0"/>
              </a:rPr>
              <a:t>java.util</a:t>
            </a:r>
            <a:endParaRPr lang="en-US" dirty="0">
              <a:latin typeface="Arial Rounded MT Bold" panose="020F0704030504030204" pitchFamily="34" charset="0"/>
            </a:endParaRPr>
          </a:p>
          <a:p>
            <a:pPr lvl="1" algn="just"/>
            <a:endParaRPr lang="en-US" dirty="0">
              <a:latin typeface="Arial Rounded MT Bold" panose="020F0704030504030204" pitchFamily="34" charset="0"/>
            </a:endParaRPr>
          </a:p>
          <a:p>
            <a:pPr lvl="1" algn="just"/>
            <a:r>
              <a:rPr lang="en-US" dirty="0">
                <a:latin typeface="Arial Rounded MT Bold" panose="020F0704030504030204" pitchFamily="34" charset="0"/>
              </a:rPr>
              <a:t>Implements: List, </a:t>
            </a:r>
            <a:r>
              <a:rPr lang="en-US" dirty="0" err="1">
                <a:latin typeface="Arial Rounded MT Bold" panose="020F0704030504030204" pitchFamily="34" charset="0"/>
              </a:rPr>
              <a:t>RandomAccess</a:t>
            </a:r>
            <a:r>
              <a:rPr lang="en-US" dirty="0">
                <a:latin typeface="Arial Rounded MT Bold" panose="020F0704030504030204" pitchFamily="34" charset="0"/>
              </a:rPr>
              <a:t>, Cloneable, Serializable</a:t>
            </a:r>
          </a:p>
          <a:p>
            <a:pPr lvl="1" algn="just"/>
            <a:endParaRPr lang="en-US" dirty="0">
              <a:latin typeface="Arial Rounded MT Bold" panose="020F0704030504030204" pitchFamily="34" charset="0"/>
            </a:endParaRPr>
          </a:p>
          <a:p>
            <a:pPr lvl="1" algn="just"/>
            <a:r>
              <a:rPr lang="en-US" dirty="0">
                <a:latin typeface="Arial Rounded MT Bold" panose="020F0704030504030204" pitchFamily="34" charset="0"/>
              </a:rPr>
              <a:t>Allows: Duplicates and null values</a:t>
            </a:r>
          </a:p>
          <a:p>
            <a:pPr lvl="1" algn="just"/>
            <a:endParaRPr lang="en-US" dirty="0">
              <a:latin typeface="Arial Rounded MT Bold" panose="020F0704030504030204" pitchFamily="34" charset="0"/>
            </a:endParaRPr>
          </a:p>
          <a:p>
            <a:pPr lvl="1" algn="just"/>
            <a:r>
              <a:rPr lang="en-US" dirty="0">
                <a:latin typeface="Arial Rounded MT Bold" panose="020F0704030504030204" pitchFamily="34" charset="0"/>
              </a:rPr>
              <a:t>Thread-safe: All methods are synchronized</a:t>
            </a:r>
          </a:p>
          <a:p>
            <a:pPr lvl="1" algn="just"/>
            <a:endParaRPr lang="en-US" dirty="0">
              <a:latin typeface="Arial Rounded MT Bold" panose="020F0704030504030204" pitchFamily="34" charset="0"/>
            </a:endParaRPr>
          </a:p>
          <a:p>
            <a:pPr lvl="1" algn="just"/>
            <a:r>
              <a:rPr lang="en-US" dirty="0">
                <a:latin typeface="Arial Rounded MT Bold" panose="020F0704030504030204" pitchFamily="34" charset="0"/>
              </a:rPr>
              <a:t>Preferred Alternative: Use </a:t>
            </a:r>
            <a:r>
              <a:rPr lang="en-US" dirty="0" err="1">
                <a:latin typeface="Arial Rounded MT Bold" panose="020F0704030504030204" pitchFamily="34" charset="0"/>
              </a:rPr>
              <a:t>ArrayList</a:t>
            </a:r>
            <a:r>
              <a:rPr lang="en-US" dirty="0">
                <a:latin typeface="Arial Rounded MT Bold" panose="020F0704030504030204" pitchFamily="34" charset="0"/>
              </a:rPr>
              <a:t> if synchronization is not required</a:t>
            </a:r>
          </a:p>
          <a:p>
            <a:pPr algn="just"/>
            <a:endParaRPr lang="en-US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090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3F58-2503-4CC1-AAF8-3DB26CBB6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8A65D-5A76-4AB1-B87B-CAA5660A0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Thread safety: </a:t>
            </a:r>
            <a:r>
              <a:rPr lang="en-US" dirty="0">
                <a:latin typeface="Arial Rounded MT Bold" panose="020F0704030504030204" pitchFamily="34" charset="0"/>
              </a:rPr>
              <a:t>If multiple threads try to modify the same Vector simultaneously, synchronization ensures that only one thread executes a method at a time, preventing data corruption.</a:t>
            </a:r>
          </a:p>
        </p:txBody>
      </p:sp>
      <p:pic>
        <p:nvPicPr>
          <p:cNvPr id="3075" name="Picture 3" descr="ArrayList vs Vector Java">
            <a:extLst>
              <a:ext uri="{FF2B5EF4-FFF2-40B4-BE49-F238E27FC236}">
                <a16:creationId xmlns:a16="http://schemas.microsoft.com/office/drawing/2014/main" id="{E383D665-3E23-46C2-B4F5-59429D68A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5213" y="3727450"/>
            <a:ext cx="4981575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776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F7B40-03BF-40AC-A3D2-12A3F50F7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7BC11-8DAC-4772-9E87-BDAABFFDD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Arial Rounded MT Bold" panose="020F0704030504030204" pitchFamily="34" charset="0"/>
              </a:rPr>
              <a:t>A thread in Java is essentially a lightweight unit of execution inside a program. Think of it as a mini-program running within your main program. Multiple threads can run concurrently, allowing Java applications to perform several tasks at the same time (parallelism).</a:t>
            </a:r>
          </a:p>
        </p:txBody>
      </p:sp>
    </p:spTree>
    <p:extLst>
      <p:ext uri="{BB962C8B-B14F-4D97-AF65-F5344CB8AC3E}">
        <p14:creationId xmlns:p14="http://schemas.microsoft.com/office/powerpoint/2010/main" val="3303488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F7B40-03BF-40AC-A3D2-12A3F50F7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7BC11-8DAC-4772-9E87-BDAABFFDD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Generics</a:t>
            </a:r>
            <a:r>
              <a:rPr lang="en-US" sz="2400" dirty="0">
                <a:latin typeface="Arial Rounded MT Bold" panose="020F0704030504030204" pitchFamily="34" charset="0"/>
              </a:rPr>
              <a:t> in Java as a way to pass different data types into classes, methods, or interfaces while keeping type safety.</a:t>
            </a:r>
          </a:p>
          <a:p>
            <a:pPr algn="just"/>
            <a:endParaRPr lang="en-US" sz="2400" dirty="0">
              <a:latin typeface="Arial Rounded MT Bold" panose="020F0704030504030204" pitchFamily="34" charset="0"/>
            </a:endParaRPr>
          </a:p>
          <a:p>
            <a:pPr algn="just"/>
            <a:r>
              <a:rPr lang="en-US" sz="2400" dirty="0">
                <a:latin typeface="Arial Rounded MT Bold" panose="020F0704030504030204" pitchFamily="34" charset="0"/>
              </a:rPr>
              <a:t>Instead of writing </a:t>
            </a:r>
            <a:r>
              <a:rPr lang="en-US" sz="2400" dirty="0">
                <a:solidFill>
                  <a:srgbClr val="0214BE"/>
                </a:solidFill>
                <a:latin typeface="Arial Rounded MT Bold" panose="020F0704030504030204" pitchFamily="34" charset="0"/>
              </a:rPr>
              <a:t>separate</a:t>
            </a:r>
            <a:r>
              <a:rPr lang="en-US" sz="2400" dirty="0">
                <a:latin typeface="Arial Rounded MT Bold" panose="020F0704030504030204" pitchFamily="34" charset="0"/>
              </a:rPr>
              <a:t> versions of a class or method for String, Integer, Double, etc., you write </a:t>
            </a:r>
            <a:r>
              <a:rPr lang="en-US" sz="2400" dirty="0">
                <a:solidFill>
                  <a:srgbClr val="0214BE"/>
                </a:solidFill>
                <a:latin typeface="Arial Rounded MT Bold" panose="020F0704030504030204" pitchFamily="34" charset="0"/>
              </a:rPr>
              <a:t>one generic </a:t>
            </a:r>
            <a:r>
              <a:rPr lang="en-US" sz="2400" dirty="0">
                <a:latin typeface="Arial Rounded MT Bold" panose="020F0704030504030204" pitchFamily="34" charset="0"/>
              </a:rPr>
              <a:t>version and then pass the (data) type when you use it, they mean </a:t>
            </a:r>
            <a:r>
              <a:rPr lang="en-US" sz="2400" dirty="0">
                <a:solidFill>
                  <a:srgbClr val="0214BE"/>
                </a:solidFill>
                <a:latin typeface="Arial Rounded MT Bold" panose="020F0704030504030204" pitchFamily="34" charset="0"/>
              </a:rPr>
              <a:t>parameterized</a:t>
            </a:r>
            <a:r>
              <a:rPr lang="en-US" sz="2400" dirty="0">
                <a:latin typeface="Arial Rounded MT Bold" panose="020F0704030504030204" pitchFamily="34" charset="0"/>
              </a:rPr>
              <a:t> types.</a:t>
            </a:r>
          </a:p>
        </p:txBody>
      </p:sp>
    </p:spTree>
    <p:extLst>
      <p:ext uri="{BB962C8B-B14F-4D97-AF65-F5344CB8AC3E}">
        <p14:creationId xmlns:p14="http://schemas.microsoft.com/office/powerpoint/2010/main" val="2630177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F6DEE-BC97-4FF8-B671-494030C4B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8B166-8FDF-4F64-ACCD-7BDE934BD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The method signature for a generic method in Java.">
            <a:extLst>
              <a:ext uri="{FF2B5EF4-FFF2-40B4-BE49-F238E27FC236}">
                <a16:creationId xmlns:a16="http://schemas.microsoft.com/office/drawing/2014/main" id="{53B29571-DE1E-4A47-8F5D-EB27F03F3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455" y="594014"/>
            <a:ext cx="8659091" cy="5593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4339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A7AC1-D976-4D87-8CD5-925C3CC24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E3A537-58FC-4A03-AA8C-A334D96A46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6965908"/>
              </p:ext>
            </p:extLst>
          </p:nvPr>
        </p:nvGraphicFramePr>
        <p:xfrm>
          <a:off x="838200" y="1598454"/>
          <a:ext cx="10515600" cy="5052551"/>
        </p:xfrm>
        <a:graphic>
          <a:graphicData uri="http://schemas.openxmlformats.org/drawingml/2006/table">
            <a:tbl>
              <a:tblPr/>
              <a:tblGrid>
                <a:gridCol w="6184900">
                  <a:extLst>
                    <a:ext uri="{9D8B030D-6E8A-4147-A177-3AD203B41FA5}">
                      <a16:colId xmlns:a16="http://schemas.microsoft.com/office/drawing/2014/main" val="227235316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42270497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686696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Rounded MT Bold" panose="020F0704030504030204" pitchFamily="34" charset="0"/>
                          <a:hlinkClick r:id="rId2"/>
                        </a:rPr>
                        <a:t>https://onecompiler.com/java</a:t>
                      </a:r>
                      <a:r>
                        <a:rPr lang="en-US" dirty="0">
                          <a:latin typeface="Arial Rounded MT Bold" panose="020F0704030504030204" pitchFamily="34" charset="0"/>
                        </a:rPr>
                        <a:t> </a:t>
                      </a:r>
                    </a:p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  <a:p>
                      <a:r>
                        <a:rPr lang="en-US" dirty="0">
                          <a:latin typeface="Arial Rounded MT Bold" panose="020F0704030504030204" pitchFamily="34" charset="0"/>
                          <a:hlinkClick r:id="rId3"/>
                        </a:rPr>
                        <a:t>https://www.edureka.co/blog/java-collections/</a:t>
                      </a:r>
                      <a:r>
                        <a:rPr lang="en-US" dirty="0">
                          <a:latin typeface="Arial Rounded MT Bold" panose="020F0704030504030204" pitchFamily="34" charset="0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3379442"/>
                  </a:ext>
                </a:extLst>
              </a:tr>
              <a:tr h="762291">
                <a:tc>
                  <a:txBody>
                    <a:bodyPr/>
                    <a:lstStyle/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269275"/>
                  </a:ext>
                </a:extLst>
              </a:tr>
              <a:tr h="762291">
                <a:tc>
                  <a:txBody>
                    <a:bodyPr/>
                    <a:lstStyle/>
                    <a:p>
                      <a:endParaRPr lang="en-US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662526"/>
                  </a:ext>
                </a:extLst>
              </a:tr>
              <a:tr h="762291">
                <a:tc>
                  <a:txBody>
                    <a:bodyPr/>
                    <a:lstStyle/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0978060"/>
                  </a:ext>
                </a:extLst>
              </a:tr>
              <a:tr h="1088987">
                <a:tc>
                  <a:txBody>
                    <a:bodyPr/>
                    <a:lstStyle/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5955395"/>
                  </a:ext>
                </a:extLst>
              </a:tr>
              <a:tr h="762291">
                <a:tc>
                  <a:txBody>
                    <a:bodyPr/>
                    <a:lstStyle/>
                    <a:p>
                      <a:endParaRPr lang="en-US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5541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1459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481</Words>
  <Application>Microsoft Office PowerPoint</Application>
  <PresentationFormat>Widescreen</PresentationFormat>
  <Paragraphs>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Rounded MT Bold</vt:lpstr>
      <vt:lpstr>Calibri</vt:lpstr>
      <vt:lpstr>Calibri Light</vt:lpstr>
      <vt:lpstr>Office Theme</vt:lpstr>
      <vt:lpstr>Collections</vt:lpstr>
      <vt:lpstr>Collections</vt:lpstr>
      <vt:lpstr>Collections</vt:lpstr>
      <vt:lpstr>Collections</vt:lpstr>
      <vt:lpstr>Collections</vt:lpstr>
      <vt:lpstr>Collections</vt:lpstr>
      <vt:lpstr>Collections</vt:lpstr>
      <vt:lpstr>Collections</vt:lpstr>
      <vt:lpstr>Collections</vt:lpstr>
      <vt:lpstr>Collections</vt:lpstr>
      <vt:lpstr>Collections</vt:lpstr>
      <vt:lpstr>Collections</vt:lpstr>
      <vt:lpstr>PowerPoint Presentation</vt:lpstr>
      <vt:lpstr>Collections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majid kaleem</dc:creator>
  <cp:lastModifiedBy>majid kaleem BUKC</cp:lastModifiedBy>
  <cp:revision>40</cp:revision>
  <dcterms:created xsi:type="dcterms:W3CDTF">2026-04-20T03:16:13Z</dcterms:created>
  <dcterms:modified xsi:type="dcterms:W3CDTF">2026-04-22T06:14:08Z</dcterms:modified>
</cp:coreProperties>
</file>