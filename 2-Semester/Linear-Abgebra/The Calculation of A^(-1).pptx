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3AB4F-ACB5-4B83-9E2A-E62833175DE7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811D2-B9F2-4270-9105-9A552F47A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947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3AB4F-ACB5-4B83-9E2A-E62833175DE7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811D2-B9F2-4270-9105-9A552F47A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272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3AB4F-ACB5-4B83-9E2A-E62833175DE7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811D2-B9F2-4270-9105-9A552F47A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52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3AB4F-ACB5-4B83-9E2A-E62833175DE7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811D2-B9F2-4270-9105-9A552F47A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647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3AB4F-ACB5-4B83-9E2A-E62833175DE7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811D2-B9F2-4270-9105-9A552F47A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837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3AB4F-ACB5-4B83-9E2A-E62833175DE7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811D2-B9F2-4270-9105-9A552F47A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356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3AB4F-ACB5-4B83-9E2A-E62833175DE7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811D2-B9F2-4270-9105-9A552F47A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221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3AB4F-ACB5-4B83-9E2A-E62833175DE7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811D2-B9F2-4270-9105-9A552F47A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995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3AB4F-ACB5-4B83-9E2A-E62833175DE7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811D2-B9F2-4270-9105-9A552F47A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545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3AB4F-ACB5-4B83-9E2A-E62833175DE7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811D2-B9F2-4270-9105-9A552F47A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866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3AB4F-ACB5-4B83-9E2A-E62833175DE7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811D2-B9F2-4270-9105-9A552F47A27A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297525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3AB4F-ACB5-4B83-9E2A-E62833175DE7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811D2-B9F2-4270-9105-9A552F47A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3244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3AB4F-ACB5-4B83-9E2A-E62833175DE7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811D2-B9F2-4270-9105-9A552F47A27A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291588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3AB4F-ACB5-4B83-9E2A-E62833175DE7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811D2-B9F2-4270-9105-9A552F47A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8730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3AB4F-ACB5-4B83-9E2A-E62833175DE7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811D2-B9F2-4270-9105-9A552F47A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940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3AB4F-ACB5-4B83-9E2A-E62833175DE7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811D2-B9F2-4270-9105-9A552F47A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892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33AB4F-ACB5-4B83-9E2A-E62833175DE7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B6811D2-B9F2-4270-9105-9A552F47A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306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ctr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Calculation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The Gauss–Jordan Method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trTitle"/>
              </p:nvPr>
            </p:nvSpPr>
            <p:spPr>
              <a:blipFill>
                <a:blip r:embed="rId2"/>
                <a:stretch>
                  <a:fillRect t="-4428" r="-5730" b="-199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24000" y="4245252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1343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Inverse of a Matrix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77333" y="1476103"/>
                <a:ext cx="9981957" cy="4565259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a square matrix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 inverse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satisfies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US" sz="2800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here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identity matrix.</a:t>
                </a:r>
              </a:p>
              <a:p>
                <a:pPr marL="0" indent="0">
                  <a:buNone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Gauss–Jordan Method is a systematic way to compute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we take it column by column, we get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3" y="1476103"/>
                <a:ext cx="9981957" cy="4565259"/>
              </a:xfrm>
              <a:blipFill>
                <a:blip r:embed="rId2"/>
                <a:stretch>
                  <a:fillRect l="-1099" t="-2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7296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 Matrix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 of a 3 × 3 matrix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−6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want to find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equation becomes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18" t="-15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8358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Systems of Equations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gives three systems of equations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All systems have the same coefficient matrix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Only the right-hand sides differ.</a:t>
                </a:r>
              </a:p>
              <a:p>
                <a:pPr marL="0" indent="0">
                  <a:buNone/>
                </a:pPr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18" t="-15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1283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Gauss–Jordan Method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Instead of solving each system separately: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Apply row operations to all systems simultaneously.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Continue elimination until the left side becomes the identity matrix.</a:t>
                </a:r>
              </a:p>
              <a:p>
                <a:pPr marL="0" indent="0">
                  <a:buNone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Steps:</a:t>
                </a:r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Create the augmented matrix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d>
                  </m:oMath>
                </a14:m>
                <a:endParaRPr lang="en-US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Perform row operations</a:t>
                </a:r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Transform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into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en-US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18" t="-1570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6938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Final Result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77334" y="1455195"/>
                <a:ext cx="8596668" cy="3880773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When the process is complete: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𝐼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Left side becomes Identity Matrix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Right side becomes Inverse Matrix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Key Points:</a:t>
                </a:r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Gauss–Jordan method finds the inverse of a matrix.</a:t>
                </a:r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Works only for square matrices.</a:t>
                </a:r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the matrix cannot be reduced to the identity matrix, the inverse does not exist.</a:t>
                </a:r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1455195"/>
                <a:ext cx="8596668" cy="3880773"/>
              </a:xfrm>
              <a:blipFill>
                <a:blip r:embed="rId2"/>
                <a:stretch>
                  <a:fillRect l="-1418" t="-1730" b="-254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9282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Finding the Inverse of a Matrix using the Gauss–Jordan Method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 1</a:t>
                </a:r>
              </a:p>
              <a:p>
                <a:pPr marL="0" indent="0">
                  <a:buNone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Find the inverse of matrix A by using the </a:t>
                </a:r>
                <a:r>
                  <a:rPr lang="en-US" sz="28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Guass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-Jordan Method starting with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sz="2800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18" t="-15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3447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0558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914401"/>
                <a:ext cx="10515600" cy="526256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Given matrix </a:t>
                </a:r>
                <a:b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b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find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we start with the augmented matrix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d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endParaRPr lang="en-US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1: 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Form Augmented Matrix</a:t>
                </a:r>
              </a:p>
              <a:p>
                <a:pPr marL="0" indent="0">
                  <a:buNone/>
                </a:pPr>
                <a:endParaRPr lang="en-US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914401"/>
                <a:ext cx="10515600" cy="5262562"/>
              </a:xfrm>
              <a:blipFill>
                <a:blip r:embed="rId2"/>
                <a:stretch>
                  <a:fillRect l="-1217" t="-1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74163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1971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77334" y="1089435"/>
                <a:ext cx="8596668" cy="3880773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2: Convert the augmented matrix into Reduced echelon form by using elementary row operations.</a:t>
                </a:r>
              </a:p>
              <a:p>
                <a:pPr marL="0" indent="0">
                  <a:buNone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Make zeros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elow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irst Pivot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1, 2, 2 |0, 1, 0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1, 1, 1|1, 0, 0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=(0, 1, 1|−1, 0, 0)</m:t>
                      </m:r>
                    </m:oMath>
                  </m:oMathPara>
                </a14:m>
                <a:endParaRPr lang="en-US" sz="2800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1, 2, 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3|0, 0, 1</m:t>
                          </m:r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1, 1, 1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|1, 0, 0</m:t>
                          </m:r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=(0, 1,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2|−1, 0, 1</m:t>
                      </m:r>
                      <m:r>
                        <a:rPr lang="en-US" sz="2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pt-BR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pt-BR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Result:</a:t>
                </a:r>
              </a:p>
              <a:p>
                <a:pPr marL="0" indent="0">
                  <a:buNone/>
                </a:pPr>
                <a:endParaRPr lang="pt-BR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1089435"/>
                <a:ext cx="8596668" cy="3880773"/>
              </a:xfrm>
              <a:blipFill>
                <a:blip r:embed="rId2"/>
                <a:stretch>
                  <a:fillRect l="-1418" t="-1730" b="-444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4074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599"/>
            <a:ext cx="8596668" cy="48768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.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Eliminate below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econd Pivot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Result: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18" t="-15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27811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.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77334" y="1520509"/>
                <a:ext cx="8596668" cy="3880773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Eliminate above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hird Pivot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pt-BR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Result:</a:t>
                </a:r>
                <a:endParaRPr lang="en-US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1520509"/>
                <a:ext cx="8596668" cy="3880773"/>
              </a:xfrm>
              <a:blipFill>
                <a:blip r:embed="rId2"/>
                <a:stretch>
                  <a:fillRect l="-1418" t="-15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47964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.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77334" y="1389881"/>
                <a:ext cx="8596668" cy="388077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Eliminate above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econd Pivot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Result: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1389881"/>
                <a:ext cx="8596668" cy="3880773"/>
              </a:xfrm>
              <a:blipFill>
                <a:blip r:embed="rId2"/>
                <a:stretch>
                  <a:fillRect l="-1418" t="-1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57206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.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Left side becomes the identity matrix.</a:t>
                </a:r>
              </a:p>
              <a:p>
                <a:pPr marL="0" indent="0">
                  <a:buNone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Therefore the inverse matrix 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Verify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en-US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18" t="-15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29012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.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 2</a:t>
                </a:r>
              </a:p>
              <a:p>
                <a:pPr marL="0" indent="0">
                  <a:buNone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Using the </a:t>
                </a:r>
                <a:r>
                  <a:rPr lang="en-US" sz="28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Guass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-Jordan Method, show that the matrix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mr>
                          <m:m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has no inverse. </a:t>
                </a:r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18" t="-15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66485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 for Matrix Inverse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77334" y="1611949"/>
                <a:ext cx="8596668" cy="3880773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square matrix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has an inverse if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p>
                            <m:sSup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800" dirty="0" smtClean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after performing Gauss–Jordan row operations.</a:t>
                </a:r>
              </a:p>
              <a:p>
                <a:pPr marL="0" indent="0">
                  <a:buNone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the left side cannot be reduced to the identity matrix, then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does not exist. </a:t>
                </a:r>
              </a:p>
              <a:p>
                <a:pPr marL="0" indent="0" algn="ctr">
                  <a:buNone/>
                </a:pPr>
                <a:endParaRPr lang="en-US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Such a matrix is called a singular matrix.</a:t>
                </a:r>
              </a:p>
              <a:p>
                <a:pPr marL="0" indent="0">
                  <a:buNone/>
                </a:pPr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1611949"/>
                <a:ext cx="8596668" cy="3880773"/>
              </a:xfrm>
              <a:blipFill>
                <a:blip r:embed="rId2"/>
                <a:stretch>
                  <a:fillRect l="-1418" t="-1570" b="-111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63967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.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77334" y="1572760"/>
                <a:ext cx="8596668" cy="388077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Form the Augmented 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Matrix</a:t>
                </a:r>
              </a:p>
              <a:p>
                <a:pPr marL="0" indent="0">
                  <a:buNone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Start with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</m:oMath>
                  </m:oMathPara>
                </a14:m>
                <a:endParaRPr lang="en-US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−3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−2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−2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−3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1572760"/>
                <a:ext cx="8596668" cy="3880773"/>
              </a:xfrm>
              <a:blipFill>
                <a:blip r:embed="rId2"/>
                <a:stretch>
                  <a:fillRect l="-1418" t="-1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88733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.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07963" y="1611949"/>
                <a:ext cx="8596668" cy="388077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Eliminate First Column</a:t>
                </a:r>
              </a:p>
              <a:p>
                <a:pPr marL="0" indent="0">
                  <a:buNone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Row operations:</a:t>
                </a:r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Result: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−3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−4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−12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−5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07963" y="1611949"/>
                <a:ext cx="8596668" cy="3880773"/>
              </a:xfrm>
              <a:blipFill>
                <a:blip r:embed="rId2"/>
                <a:stretch>
                  <a:fillRect l="-1489" t="-15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39985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.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Next operation: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Result: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−3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−4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−3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18" t="-15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34357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.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77334" y="1625012"/>
                <a:ext cx="8596668" cy="388077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third becomes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means the left side cannot becomes the identity matrix, because the identity matrix must be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But we obtained a row of zeros.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1625012"/>
                <a:ext cx="8596668" cy="3880773"/>
              </a:xfrm>
              <a:blipFill>
                <a:blip r:embed="rId2"/>
                <a:stretch>
                  <a:fillRect l="-1418" t="-1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15830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.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Since the matrix cannot be reduced to the identity matrix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does not exist.</a:t>
                </a:r>
              </a:p>
              <a:p>
                <a:pPr marL="0" indent="0">
                  <a:buNone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Therefore,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a singular matrix.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18" t="-15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940949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723</TotalTime>
  <Words>220</Words>
  <Application>Microsoft Office PowerPoint</Application>
  <PresentationFormat>Widescreen</PresentationFormat>
  <Paragraphs>123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Cambria Math</vt:lpstr>
      <vt:lpstr>Times New Roman</vt:lpstr>
      <vt:lpstr>Trebuchet MS</vt:lpstr>
      <vt:lpstr>Wingdings</vt:lpstr>
      <vt:lpstr>Wingdings 3</vt:lpstr>
      <vt:lpstr>Facet</vt:lpstr>
      <vt:lpstr>The Calculation of A^(-1): The Gauss–Jordan Method</vt:lpstr>
      <vt:lpstr>Inverse of a Matrix</vt:lpstr>
      <vt:lpstr>Example Matrix</vt:lpstr>
      <vt:lpstr>Systems of Equations</vt:lpstr>
      <vt:lpstr>Gauss–Jordan Method</vt:lpstr>
      <vt:lpstr>Final Result</vt:lpstr>
      <vt:lpstr>Finding the Inverse of a Matrix using the Gauss–Jordan Method</vt:lpstr>
      <vt:lpstr> </vt:lpstr>
      <vt:lpstr>.</vt:lpstr>
      <vt:lpstr>.</vt:lpstr>
      <vt:lpstr>.</vt:lpstr>
      <vt:lpstr>.</vt:lpstr>
      <vt:lpstr>.</vt:lpstr>
      <vt:lpstr>.</vt:lpstr>
      <vt:lpstr>Condition for Matrix Inverse</vt:lpstr>
      <vt:lpstr>.</vt:lpstr>
      <vt:lpstr>.</vt:lpstr>
      <vt:lpstr>.</vt:lpstr>
      <vt:lpstr>.</vt:lpstr>
      <vt:lpstr>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Calculation of A^(-1): The Gauss–Jordan Method</dc:title>
  <dc:creator>DELL</dc:creator>
  <cp:lastModifiedBy>DELL</cp:lastModifiedBy>
  <cp:revision>39</cp:revision>
  <dcterms:created xsi:type="dcterms:W3CDTF">2026-03-11T18:49:35Z</dcterms:created>
  <dcterms:modified xsi:type="dcterms:W3CDTF">2026-03-12T06:52:59Z</dcterms:modified>
</cp:coreProperties>
</file>