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4401" r:id="rId1"/>
  </p:sldMasterIdLst>
  <p:notesMasterIdLst>
    <p:notesMasterId r:id="rId66"/>
  </p:notesMasterIdLst>
  <p:sldIdLst>
    <p:sldId id="279" r:id="rId2"/>
    <p:sldId id="281" r:id="rId3"/>
    <p:sldId id="282" r:id="rId4"/>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11" r:id="rId31"/>
    <p:sldId id="312" r:id="rId32"/>
    <p:sldId id="313"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 id="326" r:id="rId46"/>
    <p:sldId id="327" r:id="rId47"/>
    <p:sldId id="328" r:id="rId48"/>
    <p:sldId id="329" r:id="rId49"/>
    <p:sldId id="330" r:id="rId50"/>
    <p:sldId id="331" r:id="rId51"/>
    <p:sldId id="332" r:id="rId52"/>
    <p:sldId id="333" r:id="rId53"/>
    <p:sldId id="334" r:id="rId54"/>
    <p:sldId id="335" r:id="rId55"/>
    <p:sldId id="336" r:id="rId56"/>
    <p:sldId id="337" r:id="rId57"/>
    <p:sldId id="338" r:id="rId58"/>
    <p:sldId id="339" r:id="rId59"/>
    <p:sldId id="340" r:id="rId60"/>
    <p:sldId id="341" r:id="rId61"/>
    <p:sldId id="342" r:id="rId62"/>
    <p:sldId id="343" r:id="rId63"/>
    <p:sldId id="344" r:id="rId64"/>
    <p:sldId id="345" r:id="rId65"/>
  </p:sldIdLst>
  <p:sldSz cx="9144000" cy="6858000" type="screen4x3"/>
  <p:notesSz cx="7315200" cy="9601200"/>
  <p:custDataLst>
    <p:tags r:id="rId67"/>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20" autoAdjust="0"/>
    <p:restoredTop sz="94524" autoAdjust="0"/>
  </p:normalViewPr>
  <p:slideViewPr>
    <p:cSldViewPr>
      <p:cViewPr varScale="1">
        <p:scale>
          <a:sx n="69" d="100"/>
          <a:sy n="69" d="100"/>
        </p:scale>
        <p:origin x="149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4" Type="http://schemas.openxmlformats.org/officeDocument/2006/relationships/image" Target="../media/image42.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5" Type="http://schemas.openxmlformats.org/officeDocument/2006/relationships/image" Target="../media/image62.wmf"/><Relationship Id="rId4" Type="http://schemas.openxmlformats.org/officeDocument/2006/relationships/image" Target="../media/image6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4" Type="http://schemas.openxmlformats.org/officeDocument/2006/relationships/image" Target="../media/image68.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 Id="rId4" Type="http://schemas.openxmlformats.org/officeDocument/2006/relationships/image" Target="../media/image72.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77.wmf"/><Relationship Id="rId4" Type="http://schemas.openxmlformats.org/officeDocument/2006/relationships/image" Target="../media/image7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83.wmf"/><Relationship Id="rId7" Type="http://schemas.openxmlformats.org/officeDocument/2006/relationships/image" Target="../media/image87.wmf"/><Relationship Id="rId2" Type="http://schemas.openxmlformats.org/officeDocument/2006/relationships/image" Target="../media/image70.wmf"/><Relationship Id="rId1" Type="http://schemas.openxmlformats.org/officeDocument/2006/relationships/image" Target="../media/image82.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84.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90.wmf"/><Relationship Id="rId7" Type="http://schemas.openxmlformats.org/officeDocument/2006/relationships/image" Target="../media/image94.wmf"/><Relationship Id="rId2" Type="http://schemas.openxmlformats.org/officeDocument/2006/relationships/image" Target="../media/image89.wmf"/><Relationship Id="rId1" Type="http://schemas.openxmlformats.org/officeDocument/2006/relationships/image" Target="../media/image88.wmf"/><Relationship Id="rId6" Type="http://schemas.openxmlformats.org/officeDocument/2006/relationships/image" Target="../media/image93.wmf"/><Relationship Id="rId11" Type="http://schemas.openxmlformats.org/officeDocument/2006/relationships/image" Target="../media/image97.wmf"/><Relationship Id="rId5" Type="http://schemas.openxmlformats.org/officeDocument/2006/relationships/image" Target="../media/image92.wmf"/><Relationship Id="rId10" Type="http://schemas.openxmlformats.org/officeDocument/2006/relationships/image" Target="../media/image70.wmf"/><Relationship Id="rId4" Type="http://schemas.openxmlformats.org/officeDocument/2006/relationships/image" Target="../media/image91.wmf"/><Relationship Id="rId9" Type="http://schemas.openxmlformats.org/officeDocument/2006/relationships/image" Target="../media/image96.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 Id="rId5" Type="http://schemas.openxmlformats.org/officeDocument/2006/relationships/image" Target="../media/image119.wmf"/><Relationship Id="rId4" Type="http://schemas.openxmlformats.org/officeDocument/2006/relationships/image" Target="../media/image118.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 Id="rId4" Type="http://schemas.openxmlformats.org/officeDocument/2006/relationships/image" Target="../media/image128.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30.wmf"/><Relationship Id="rId1" Type="http://schemas.openxmlformats.org/officeDocument/2006/relationships/image" Target="../media/image12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 Id="rId4" Type="http://schemas.openxmlformats.org/officeDocument/2006/relationships/image" Target="../media/image134.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 Id="rId5" Type="http://schemas.openxmlformats.org/officeDocument/2006/relationships/image" Target="../media/image140.wmf"/><Relationship Id="rId4" Type="http://schemas.openxmlformats.org/officeDocument/2006/relationships/image" Target="../media/image139.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 Id="rId4" Type="http://schemas.openxmlformats.org/officeDocument/2006/relationships/image" Target="../media/image144.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45.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48.wmf"/><Relationship Id="rId7" Type="http://schemas.openxmlformats.org/officeDocument/2006/relationships/image" Target="../media/image152.wmf"/><Relationship Id="rId2" Type="http://schemas.openxmlformats.org/officeDocument/2006/relationships/image" Target="../media/image147.wmf"/><Relationship Id="rId1" Type="http://schemas.openxmlformats.org/officeDocument/2006/relationships/image" Target="../media/image146.wmf"/><Relationship Id="rId6" Type="http://schemas.openxmlformats.org/officeDocument/2006/relationships/image" Target="../media/image151.wmf"/><Relationship Id="rId5" Type="http://schemas.openxmlformats.org/officeDocument/2006/relationships/image" Target="../media/image150.wmf"/><Relationship Id="rId4" Type="http://schemas.openxmlformats.org/officeDocument/2006/relationships/image" Target="../media/image1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atin typeface="Arial" charset="0"/>
              </a:defRPr>
            </a:lvl1pPr>
          </a:lstStyle>
          <a:p>
            <a:pPr>
              <a:defRPr/>
            </a:pPr>
            <a:endParaRPr lang="en-US"/>
          </a:p>
        </p:txBody>
      </p:sp>
      <p:sp>
        <p:nvSpPr>
          <p:cNvPr id="3075"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atin typeface="Arial" charset="0"/>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078"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atin typeface="Arial" charset="0"/>
              </a:defRPr>
            </a:lvl1pPr>
          </a:lstStyle>
          <a:p>
            <a:pPr>
              <a:defRPr/>
            </a:pPr>
            <a:fld id="{7BFED887-2464-406C-86C5-2B2B2DA4131F}" type="slidenum">
              <a:rPr lang="en-US"/>
              <a:pPr>
                <a:defRPr/>
              </a:pPr>
              <a:t>‹#›</a:t>
            </a:fld>
            <a:endParaRPr lang="en-US"/>
          </a:p>
        </p:txBody>
      </p:sp>
    </p:spTree>
    <p:extLst>
      <p:ext uri="{BB962C8B-B14F-4D97-AF65-F5344CB8AC3E}">
        <p14:creationId xmlns:p14="http://schemas.microsoft.com/office/powerpoint/2010/main" val="305587299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smtClean="0"/>
          </a:p>
        </p:txBody>
      </p:sp>
      <p:sp>
        <p:nvSpPr>
          <p:cNvPr id="39940" name="Slide Number Placeholder 3"/>
          <p:cNvSpPr>
            <a:spLocks noGrp="1"/>
          </p:cNvSpPr>
          <p:nvPr>
            <p:ph type="sldNum" sz="quarter" idx="5"/>
          </p:nvPr>
        </p:nvSpPr>
        <p:spPr>
          <a:noFill/>
        </p:spPr>
        <p:txBody>
          <a:bodyPr/>
          <a:lstStyle/>
          <a:p>
            <a:fld id="{8D0B851D-A415-4931-8D97-9778FFC33BC8}" type="slidenum">
              <a:rPr lang="en-US" smtClean="0"/>
              <a:pPr/>
              <a:t>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CB680D7-3F2B-4DBD-9698-0009DAC04A92}" type="slidenum">
              <a:rPr lang="en-US"/>
              <a:pPr eaLnBrk="1" hangingPunct="1"/>
              <a:t>30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F7F5B0F-11EA-400C-92B6-6723DA58E1A6}" type="slidenum">
              <a:rPr lang="en-US" altLang="en-US"/>
              <a:pPr eaLnBrk="1" hangingPunct="1"/>
              <a:t>31</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45B798B-AAAF-4C27-8C85-4A4EAE035A82}" type="slidenum">
              <a:rPr lang="en-US"/>
              <a:pPr eaLnBrk="1" hangingPunct="1"/>
              <a:t>32</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A7ED551-F904-49D4-A6CF-CDAA2C8EE90E}" type="slidenum">
              <a:rPr lang="en-US"/>
              <a:pPr eaLnBrk="1" hangingPunct="1"/>
              <a:t>33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A3E1C0D-921C-456D-B878-607541257E2A}" type="slidenum">
              <a:rPr lang="en-US"/>
              <a:pPr eaLnBrk="1" hangingPunct="1"/>
              <a:t>34</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78553F57-8CC6-4FA7-B0C2-DB2551A8DC42}" type="slidenum">
              <a:rPr lang="en-US"/>
              <a:pPr eaLnBrk="1" hangingPunct="1"/>
              <a:t>35</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4DCB7D2-92EA-4DAB-8F58-1FBC302B7FCB}" type="slidenum">
              <a:rPr lang="en-US"/>
              <a:pPr eaLnBrk="1" hangingPunct="1"/>
              <a:t>36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D4E6498-FF4C-4428-99F3-57A585BB4992}" type="slidenum">
              <a:rPr lang="en-US"/>
              <a:pPr eaLnBrk="1" hangingPunct="1"/>
              <a:t>37</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4975898-E88E-4EAF-9CF0-88EDE0B6E1B2}" type="slidenum">
              <a:rPr lang="en-US"/>
              <a:pPr eaLnBrk="1" hangingPunct="1"/>
              <a:t>40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7A7434E-EF7E-4CC3-AEDE-43CCCD9D56FD}" type="slidenum">
              <a:rPr lang="en-US"/>
              <a:pPr eaLnBrk="1" hangingPunct="1"/>
              <a:t>48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207B44C-C5EA-497E-B783-D191F4EB6158}" type="slidenum">
              <a:rPr lang="en-US"/>
              <a:pPr eaLnBrk="1" hangingPunct="1"/>
              <a:t>49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pPr>
              <a:defRPr/>
            </a:pPr>
            <a:endParaRPr lang="en-US"/>
          </a:p>
        </p:txBody>
      </p:sp>
      <p:sp>
        <p:nvSpPr>
          <p:cNvPr id="19" name="Footer Placeholder 18"/>
          <p:cNvSpPr>
            <a:spLocks noGrp="1"/>
          </p:cNvSpPr>
          <p:nvPr>
            <p:ph type="ftr" sz="quarter" idx="11"/>
          </p:nvPr>
        </p:nvSpPr>
        <p:spPr/>
        <p:txBody>
          <a:bodyPr/>
          <a:lstStyle/>
          <a:p>
            <a:pPr>
              <a:defRPr/>
            </a:pPr>
            <a:r>
              <a:rPr lang="en-US" smtClean="0"/>
              <a:t>http://numericalmethods.eng.usf.edu</a:t>
            </a:r>
          </a:p>
          <a:p>
            <a:pPr>
              <a:defRPr/>
            </a:pPr>
            <a:endParaRPr lang="en-US"/>
          </a:p>
        </p:txBody>
      </p:sp>
      <p:sp>
        <p:nvSpPr>
          <p:cNvPr id="27" name="Slide Number Placeholder 26"/>
          <p:cNvSpPr>
            <a:spLocks noGrp="1"/>
          </p:cNvSpPr>
          <p:nvPr>
            <p:ph type="sldNum" sz="quarter" idx="12"/>
          </p:nvPr>
        </p:nvSpPr>
        <p:spPr/>
        <p:txBody>
          <a:bodyPr/>
          <a:lstStyle/>
          <a:p>
            <a:pPr>
              <a:defRPr/>
            </a:pPr>
            <a:fld id="{416035DD-0191-4515-97B3-2341E0F7D47E}"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FB49AFF-6286-4E3A-8A08-AD3D2703F32B}"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0D38123-6B0F-4F15-927C-C7C06820991B}"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DAE557F-7341-4249-ADC4-A1A365C9E566}"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C886C05B-43D8-467C-8DE6-92421CAF0AAA}"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DCD20A3-3C7A-427E-BD49-3019872F060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90CC752-75EE-405E-9A43-BAA36ABB499D}"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15133AA7-4015-4E10-AD80-63FBC07524BF}"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8077200" y="6356350"/>
            <a:ext cx="609600" cy="365125"/>
          </a:xfrm>
        </p:spPr>
        <p:txBody>
          <a:bodyPr/>
          <a:lstStyle/>
          <a:p>
            <a:pPr>
              <a:defRPr/>
            </a:pPr>
            <a:fld id="{A0867CF3-C8B3-4BFF-89AA-E7D83ED1FA80}" type="slidenum">
              <a:rPr lang="en-US" smtClean="0"/>
              <a:pPr>
                <a:defRPr/>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92D43C3-A752-4C0B-99FA-30C141F60875}"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AF6EF82-6A79-48A0-AB33-65A3D1AC7863}"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29B6BE79-4245-47FE-A5ED-372E1EC53FBF}" type="slidenum">
              <a:rPr lang="en-US" smtClean="0"/>
              <a:pPr>
                <a:defRPr/>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4402" r:id="rId1"/>
    <p:sldLayoutId id="2147484403" r:id="rId2"/>
    <p:sldLayoutId id="2147484404" r:id="rId3"/>
    <p:sldLayoutId id="2147484405" r:id="rId4"/>
    <p:sldLayoutId id="2147484406" r:id="rId5"/>
    <p:sldLayoutId id="2147484407" r:id="rId6"/>
    <p:sldLayoutId id="2147484408" r:id="rId7"/>
    <p:sldLayoutId id="2147484409" r:id="rId8"/>
    <p:sldLayoutId id="2147484410" r:id="rId9"/>
    <p:sldLayoutId id="2147484411" r:id="rId10"/>
    <p:sldLayoutId id="2147484412"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4.wmf"/><Relationship Id="rId5" Type="http://schemas.openxmlformats.org/officeDocument/2006/relationships/oleObject" Target="../embeddings/oleObject13.bin"/><Relationship Id="rId4" Type="http://schemas.openxmlformats.org/officeDocument/2006/relationships/image" Target="../media/image13.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16.wmf"/><Relationship Id="rId5" Type="http://schemas.openxmlformats.org/officeDocument/2006/relationships/oleObject" Target="../embeddings/oleObject15.bin"/><Relationship Id="rId4" Type="http://schemas.openxmlformats.org/officeDocument/2006/relationships/image" Target="../media/image15.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8.wmf"/><Relationship Id="rId5" Type="http://schemas.openxmlformats.org/officeDocument/2006/relationships/oleObject" Target="../embeddings/oleObject17.bin"/><Relationship Id="rId4" Type="http://schemas.openxmlformats.org/officeDocument/2006/relationships/image" Target="../media/image17.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9.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21.wmf"/><Relationship Id="rId5" Type="http://schemas.openxmlformats.org/officeDocument/2006/relationships/oleObject" Target="../embeddings/oleObject20.bin"/><Relationship Id="rId4" Type="http://schemas.openxmlformats.org/officeDocument/2006/relationships/image" Target="../media/image20.wmf"/></Relationships>
</file>

<file path=ppt/slides/_rels/slide18.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23.wmf"/><Relationship Id="rId5" Type="http://schemas.openxmlformats.org/officeDocument/2006/relationships/oleObject" Target="../embeddings/oleObject22.bin"/><Relationship Id="rId4" Type="http://schemas.openxmlformats.org/officeDocument/2006/relationships/image" Target="../media/image22.wmf"/></Relationships>
</file>

<file path=ppt/slides/_rels/slide19.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26.wmf"/><Relationship Id="rId5" Type="http://schemas.openxmlformats.org/officeDocument/2006/relationships/oleObject" Target="../embeddings/oleObject25.bin"/><Relationship Id="rId4" Type="http://schemas.openxmlformats.org/officeDocument/2006/relationships/image" Target="../media/image25.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9.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31.wmf"/><Relationship Id="rId5" Type="http://schemas.openxmlformats.org/officeDocument/2006/relationships/oleObject" Target="../embeddings/oleObject30.bin"/><Relationship Id="rId4" Type="http://schemas.openxmlformats.org/officeDocument/2006/relationships/image" Target="../media/image30.wmf"/></Relationships>
</file>

<file path=ppt/slides/_rels/slide23.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33.wmf"/><Relationship Id="rId5" Type="http://schemas.openxmlformats.org/officeDocument/2006/relationships/oleObject" Target="../embeddings/oleObject32.bin"/><Relationship Id="rId4" Type="http://schemas.openxmlformats.org/officeDocument/2006/relationships/image" Target="../media/image32.wmf"/></Relationships>
</file>

<file path=ppt/slides/_rels/slide24.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36.wmf"/><Relationship Id="rId5" Type="http://schemas.openxmlformats.org/officeDocument/2006/relationships/oleObject" Target="../embeddings/oleObject35.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37.bin"/></Relationships>
</file>

<file path=ppt/slides/_rels/slide25.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40.wmf"/><Relationship Id="rId5" Type="http://schemas.openxmlformats.org/officeDocument/2006/relationships/oleObject" Target="../embeddings/oleObject39.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41.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44.wmf"/><Relationship Id="rId5" Type="http://schemas.openxmlformats.org/officeDocument/2006/relationships/oleObject" Target="../embeddings/oleObject43.bin"/><Relationship Id="rId4" Type="http://schemas.openxmlformats.org/officeDocument/2006/relationships/image" Target="../media/image43.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46.wmf"/><Relationship Id="rId5" Type="http://schemas.openxmlformats.org/officeDocument/2006/relationships/oleObject" Target="../embeddings/oleObject45.bin"/><Relationship Id="rId4" Type="http://schemas.openxmlformats.org/officeDocument/2006/relationships/image" Target="../media/image45.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47.bin"/><Relationship Id="rId5" Type="http://schemas.openxmlformats.org/officeDocument/2006/relationships/image" Target="../media/image47.wmf"/><Relationship Id="rId4" Type="http://schemas.openxmlformats.org/officeDocument/2006/relationships/oleObject" Target="../embeddings/oleObject46.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50.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49.bin"/><Relationship Id="rId5" Type="http://schemas.openxmlformats.org/officeDocument/2006/relationships/image" Target="../media/image49.wmf"/><Relationship Id="rId4" Type="http://schemas.openxmlformats.org/officeDocument/2006/relationships/oleObject" Target="../embeddings/oleObject48.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52.bin"/><Relationship Id="rId3" Type="http://schemas.openxmlformats.org/officeDocument/2006/relationships/notesSlide" Target="../notesSlides/notesSlide5.xml"/><Relationship Id="rId7" Type="http://schemas.openxmlformats.org/officeDocument/2006/relationships/image" Target="../media/image52.wmf"/><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51.bin"/><Relationship Id="rId11" Type="http://schemas.openxmlformats.org/officeDocument/2006/relationships/image" Target="../media/image54.wmf"/><Relationship Id="rId5" Type="http://schemas.openxmlformats.org/officeDocument/2006/relationships/image" Target="../media/image51.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3.wmf"/></Relationships>
</file>

<file path=ppt/slides/_rels/slide34.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notesSlide" Target="../notesSlides/notesSlide6.xml"/><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55.bin"/><Relationship Id="rId5" Type="http://schemas.openxmlformats.org/officeDocument/2006/relationships/image" Target="../media/image55.wmf"/><Relationship Id="rId10" Type="http://schemas.openxmlformats.org/officeDocument/2006/relationships/image" Target="../media/image57.wmf"/><Relationship Id="rId4" Type="http://schemas.openxmlformats.org/officeDocument/2006/relationships/oleObject" Target="../embeddings/oleObject54.bin"/><Relationship Id="rId9" Type="http://schemas.openxmlformats.org/officeDocument/2006/relationships/oleObject" Target="../embeddings/oleObject57.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62.wmf"/><Relationship Id="rId3" Type="http://schemas.openxmlformats.org/officeDocument/2006/relationships/notesSlide" Target="../notesSlides/notesSlide7.xml"/><Relationship Id="rId7" Type="http://schemas.openxmlformats.org/officeDocument/2006/relationships/image" Target="../media/image59.wmf"/><Relationship Id="rId12" Type="http://schemas.openxmlformats.org/officeDocument/2006/relationships/oleObject" Target="../embeddings/oleObject62.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59.bin"/><Relationship Id="rId11" Type="http://schemas.openxmlformats.org/officeDocument/2006/relationships/image" Target="../media/image61.wmf"/><Relationship Id="rId5" Type="http://schemas.openxmlformats.org/officeDocument/2006/relationships/image" Target="../media/image58.wmf"/><Relationship Id="rId10" Type="http://schemas.openxmlformats.org/officeDocument/2006/relationships/oleObject" Target="../embeddings/oleObject61.bin"/><Relationship Id="rId4" Type="http://schemas.openxmlformats.org/officeDocument/2006/relationships/oleObject" Target="../embeddings/oleObject58.bin"/><Relationship Id="rId9" Type="http://schemas.openxmlformats.org/officeDocument/2006/relationships/image" Target="../media/image60.w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64.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64.bin"/><Relationship Id="rId5" Type="http://schemas.openxmlformats.org/officeDocument/2006/relationships/image" Target="../media/image63.wmf"/><Relationship Id="rId4" Type="http://schemas.openxmlformats.org/officeDocument/2006/relationships/oleObject" Target="../embeddings/oleObject63.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notesSlide" Target="../notesSlides/notesSlide9.xml"/><Relationship Id="rId7" Type="http://schemas.openxmlformats.org/officeDocument/2006/relationships/image" Target="../media/image66.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66.bin"/><Relationship Id="rId11" Type="http://schemas.openxmlformats.org/officeDocument/2006/relationships/image" Target="../media/image68.wmf"/><Relationship Id="rId5" Type="http://schemas.openxmlformats.org/officeDocument/2006/relationships/image" Target="../media/image65.wmf"/><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67.wmf"/></Relationships>
</file>

<file path=ppt/slides/_rels/slide38.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70.wmf"/><Relationship Id="rId5" Type="http://schemas.openxmlformats.org/officeDocument/2006/relationships/oleObject" Target="../embeddings/oleObject70.bin"/><Relationship Id="rId10" Type="http://schemas.openxmlformats.org/officeDocument/2006/relationships/image" Target="../media/image72.wmf"/><Relationship Id="rId4" Type="http://schemas.openxmlformats.org/officeDocument/2006/relationships/image" Target="../media/image69.wmf"/><Relationship Id="rId9" Type="http://schemas.openxmlformats.org/officeDocument/2006/relationships/oleObject" Target="../embeddings/oleObject72.bin"/></Relationships>
</file>

<file path=ppt/slides/_rels/slide39.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74.wmf"/><Relationship Id="rId5" Type="http://schemas.openxmlformats.org/officeDocument/2006/relationships/oleObject" Target="../embeddings/oleObject74.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76.bin"/></Relationships>
</file>

<file path=ppt/slides/_rels/slide40.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notesSlide" Target="../notesSlides/notesSlide10.xml"/><Relationship Id="rId7" Type="http://schemas.openxmlformats.org/officeDocument/2006/relationships/oleObject" Target="../embeddings/oleObject79.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78.bin"/><Relationship Id="rId5" Type="http://schemas.openxmlformats.org/officeDocument/2006/relationships/image" Target="../media/image55.wmf"/><Relationship Id="rId10" Type="http://schemas.openxmlformats.org/officeDocument/2006/relationships/image" Target="../media/image57.wmf"/><Relationship Id="rId4" Type="http://schemas.openxmlformats.org/officeDocument/2006/relationships/oleObject" Target="../embeddings/oleObject77.bin"/><Relationship Id="rId9" Type="http://schemas.openxmlformats.org/officeDocument/2006/relationships/oleObject" Target="../embeddings/oleObject80.bin"/></Relationships>
</file>

<file path=ppt/slides/_rels/slide41.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81.bin"/><Relationship Id="rId7" Type="http://schemas.openxmlformats.org/officeDocument/2006/relationships/oleObject" Target="../embeddings/oleObject83.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60.wmf"/><Relationship Id="rId5" Type="http://schemas.openxmlformats.org/officeDocument/2006/relationships/oleObject" Target="../embeddings/oleObject82.bin"/><Relationship Id="rId10" Type="http://schemas.openxmlformats.org/officeDocument/2006/relationships/image" Target="../media/image78.wmf"/><Relationship Id="rId4" Type="http://schemas.openxmlformats.org/officeDocument/2006/relationships/image" Target="../media/image77.wmf"/><Relationship Id="rId9" Type="http://schemas.openxmlformats.org/officeDocument/2006/relationships/oleObject" Target="../embeddings/oleObject84.bin"/></Relationships>
</file>

<file path=ppt/slides/_rels/slide42.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85.bin"/><Relationship Id="rId7" Type="http://schemas.openxmlformats.org/officeDocument/2006/relationships/oleObject" Target="../embeddings/oleObject87.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80.wmf"/><Relationship Id="rId5" Type="http://schemas.openxmlformats.org/officeDocument/2006/relationships/oleObject" Target="../embeddings/oleObject86.bin"/><Relationship Id="rId4" Type="http://schemas.openxmlformats.org/officeDocument/2006/relationships/image" Target="../media/image79.wmf"/></Relationships>
</file>

<file path=ppt/slides/_rels/slide43.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93.bin"/><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85.wmf"/><Relationship Id="rId2" Type="http://schemas.openxmlformats.org/officeDocument/2006/relationships/slideLayout" Target="../slideLayouts/slideLayout2.xml"/><Relationship Id="rId16" Type="http://schemas.openxmlformats.org/officeDocument/2006/relationships/image" Target="../media/image87.wmf"/><Relationship Id="rId1" Type="http://schemas.openxmlformats.org/officeDocument/2006/relationships/vmlDrawing" Target="../drawings/vmlDrawing36.vml"/><Relationship Id="rId6" Type="http://schemas.openxmlformats.org/officeDocument/2006/relationships/image" Target="../media/image70.wmf"/><Relationship Id="rId11" Type="http://schemas.openxmlformats.org/officeDocument/2006/relationships/oleObject" Target="../embeddings/oleObject92.bin"/><Relationship Id="rId5" Type="http://schemas.openxmlformats.org/officeDocument/2006/relationships/oleObject" Target="../embeddings/oleObject89.bin"/><Relationship Id="rId15" Type="http://schemas.openxmlformats.org/officeDocument/2006/relationships/oleObject" Target="../embeddings/oleObject94.bin"/><Relationship Id="rId10" Type="http://schemas.openxmlformats.org/officeDocument/2006/relationships/image" Target="../media/image84.wmf"/><Relationship Id="rId4" Type="http://schemas.openxmlformats.org/officeDocument/2006/relationships/image" Target="../media/image82.wmf"/><Relationship Id="rId9" Type="http://schemas.openxmlformats.org/officeDocument/2006/relationships/oleObject" Target="../embeddings/oleObject91.bin"/><Relationship Id="rId14" Type="http://schemas.openxmlformats.org/officeDocument/2006/relationships/image" Target="../media/image86.wmf"/></Relationships>
</file>

<file path=ppt/slides/_rels/slide44.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oleObject" Target="../embeddings/oleObject100.bin"/><Relationship Id="rId18" Type="http://schemas.openxmlformats.org/officeDocument/2006/relationships/image" Target="../media/image95.wmf"/><Relationship Id="rId26" Type="http://schemas.openxmlformats.org/officeDocument/2006/relationships/image" Target="../media/image97.wmf"/><Relationship Id="rId3" Type="http://schemas.openxmlformats.org/officeDocument/2006/relationships/oleObject" Target="../embeddings/oleObject95.bin"/><Relationship Id="rId21" Type="http://schemas.openxmlformats.org/officeDocument/2006/relationships/oleObject" Target="../embeddings/oleObject104.bin"/><Relationship Id="rId7" Type="http://schemas.openxmlformats.org/officeDocument/2006/relationships/oleObject" Target="../embeddings/oleObject97.bin"/><Relationship Id="rId12" Type="http://schemas.openxmlformats.org/officeDocument/2006/relationships/image" Target="../media/image92.wmf"/><Relationship Id="rId17" Type="http://schemas.openxmlformats.org/officeDocument/2006/relationships/oleObject" Target="../embeddings/oleObject102.bin"/><Relationship Id="rId25" Type="http://schemas.openxmlformats.org/officeDocument/2006/relationships/oleObject" Target="../embeddings/oleObject107.bin"/><Relationship Id="rId2" Type="http://schemas.openxmlformats.org/officeDocument/2006/relationships/slideLayout" Target="../slideLayouts/slideLayout2.xml"/><Relationship Id="rId16" Type="http://schemas.openxmlformats.org/officeDocument/2006/relationships/image" Target="../media/image94.wmf"/><Relationship Id="rId20" Type="http://schemas.openxmlformats.org/officeDocument/2006/relationships/image" Target="../media/image96.wmf"/><Relationship Id="rId1" Type="http://schemas.openxmlformats.org/officeDocument/2006/relationships/vmlDrawing" Target="../drawings/vmlDrawing37.vml"/><Relationship Id="rId6" Type="http://schemas.openxmlformats.org/officeDocument/2006/relationships/image" Target="../media/image89.wmf"/><Relationship Id="rId11" Type="http://schemas.openxmlformats.org/officeDocument/2006/relationships/oleObject" Target="../embeddings/oleObject99.bin"/><Relationship Id="rId24" Type="http://schemas.openxmlformats.org/officeDocument/2006/relationships/oleObject" Target="../embeddings/oleObject106.bin"/><Relationship Id="rId5" Type="http://schemas.openxmlformats.org/officeDocument/2006/relationships/oleObject" Target="../embeddings/oleObject96.bin"/><Relationship Id="rId15" Type="http://schemas.openxmlformats.org/officeDocument/2006/relationships/oleObject" Target="../embeddings/oleObject101.bin"/><Relationship Id="rId23" Type="http://schemas.openxmlformats.org/officeDocument/2006/relationships/image" Target="../media/image70.wmf"/><Relationship Id="rId10" Type="http://schemas.openxmlformats.org/officeDocument/2006/relationships/image" Target="../media/image91.wmf"/><Relationship Id="rId19" Type="http://schemas.openxmlformats.org/officeDocument/2006/relationships/oleObject" Target="../embeddings/oleObject103.bin"/><Relationship Id="rId4" Type="http://schemas.openxmlformats.org/officeDocument/2006/relationships/image" Target="../media/image88.wmf"/><Relationship Id="rId9" Type="http://schemas.openxmlformats.org/officeDocument/2006/relationships/oleObject" Target="../embeddings/oleObject98.bin"/><Relationship Id="rId14" Type="http://schemas.openxmlformats.org/officeDocument/2006/relationships/image" Target="../media/image93.wmf"/><Relationship Id="rId22" Type="http://schemas.openxmlformats.org/officeDocument/2006/relationships/oleObject" Target="../embeddings/oleObject105.bin"/></Relationships>
</file>

<file path=ppt/slides/_rels/slide45.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108.bin"/><Relationship Id="rId7" Type="http://schemas.openxmlformats.org/officeDocument/2006/relationships/oleObject" Target="../embeddings/oleObject110.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99.wmf"/><Relationship Id="rId5" Type="http://schemas.openxmlformats.org/officeDocument/2006/relationships/oleObject" Target="../embeddings/oleObject109.bin"/><Relationship Id="rId4" Type="http://schemas.openxmlformats.org/officeDocument/2006/relationships/image" Target="../media/image98.wmf"/></Relationships>
</file>

<file path=ppt/slides/_rels/slide46.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oleObject" Target="../embeddings/oleObject116.bin"/><Relationship Id="rId3" Type="http://schemas.openxmlformats.org/officeDocument/2006/relationships/oleObject" Target="../embeddings/oleObject111.bin"/><Relationship Id="rId7" Type="http://schemas.openxmlformats.org/officeDocument/2006/relationships/oleObject" Target="../embeddings/oleObject113.bin"/><Relationship Id="rId12" Type="http://schemas.openxmlformats.org/officeDocument/2006/relationships/image" Target="../media/image105.wmf"/><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02.wmf"/><Relationship Id="rId11" Type="http://schemas.openxmlformats.org/officeDocument/2006/relationships/oleObject" Target="../embeddings/oleObject115.bin"/><Relationship Id="rId5" Type="http://schemas.openxmlformats.org/officeDocument/2006/relationships/oleObject" Target="../embeddings/oleObject112.bin"/><Relationship Id="rId10" Type="http://schemas.openxmlformats.org/officeDocument/2006/relationships/image" Target="../media/image104.wmf"/><Relationship Id="rId4" Type="http://schemas.openxmlformats.org/officeDocument/2006/relationships/image" Target="../media/image101.wmf"/><Relationship Id="rId9" Type="http://schemas.openxmlformats.org/officeDocument/2006/relationships/oleObject" Target="../embeddings/oleObject114.bin"/><Relationship Id="rId14" Type="http://schemas.openxmlformats.org/officeDocument/2006/relationships/image" Target="../media/image106.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08.wmf"/><Relationship Id="rId5" Type="http://schemas.openxmlformats.org/officeDocument/2006/relationships/oleObject" Target="../embeddings/oleObject118.bin"/><Relationship Id="rId4" Type="http://schemas.openxmlformats.org/officeDocument/2006/relationships/image" Target="../media/image107.wmf"/></Relationships>
</file>

<file path=ppt/slides/_rels/slide48.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notesSlide" Target="../notesSlides/notesSlide11.xml"/><Relationship Id="rId7" Type="http://schemas.openxmlformats.org/officeDocument/2006/relationships/oleObject" Target="../embeddings/oleObject121.bin"/><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oleObject" Target="../embeddings/oleObject120.bin"/><Relationship Id="rId5" Type="http://schemas.openxmlformats.org/officeDocument/2006/relationships/image" Target="../media/image55.wmf"/><Relationship Id="rId10" Type="http://schemas.openxmlformats.org/officeDocument/2006/relationships/image" Target="../media/image57.wmf"/><Relationship Id="rId4" Type="http://schemas.openxmlformats.org/officeDocument/2006/relationships/oleObject" Target="../embeddings/oleObject119.bin"/><Relationship Id="rId9" Type="http://schemas.openxmlformats.org/officeDocument/2006/relationships/oleObject" Target="../embeddings/oleObject122.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25.bin"/><Relationship Id="rId3" Type="http://schemas.openxmlformats.org/officeDocument/2006/relationships/notesSlide" Target="../notesSlides/notesSlide12.xml"/><Relationship Id="rId7" Type="http://schemas.openxmlformats.org/officeDocument/2006/relationships/image" Target="../media/image110.wmf"/><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oleObject" Target="../embeddings/oleObject124.bin"/><Relationship Id="rId11" Type="http://schemas.openxmlformats.org/officeDocument/2006/relationships/image" Target="../media/image111.wmf"/><Relationship Id="rId5" Type="http://schemas.openxmlformats.org/officeDocument/2006/relationships/image" Target="../media/image109.wmf"/><Relationship Id="rId10" Type="http://schemas.openxmlformats.org/officeDocument/2006/relationships/oleObject" Target="../embeddings/oleObject127.bin"/><Relationship Id="rId4" Type="http://schemas.openxmlformats.org/officeDocument/2006/relationships/oleObject" Target="../embeddings/oleObject123.bin"/><Relationship Id="rId9" Type="http://schemas.openxmlformats.org/officeDocument/2006/relationships/oleObject" Target="../embeddings/oleObject126.bin"/></Relationships>
</file>

<file path=ppt/slides/_rels/slide50.x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oleObject" Target="../embeddings/oleObject128.bin"/><Relationship Id="rId7" Type="http://schemas.openxmlformats.org/officeDocument/2006/relationships/oleObject" Target="../embeddings/oleObject130.bin"/><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113.wmf"/><Relationship Id="rId5" Type="http://schemas.openxmlformats.org/officeDocument/2006/relationships/oleObject" Target="../embeddings/oleObject129.bin"/><Relationship Id="rId10" Type="http://schemas.openxmlformats.org/officeDocument/2006/relationships/oleObject" Target="../embeddings/oleObject132.bin"/><Relationship Id="rId4" Type="http://schemas.openxmlformats.org/officeDocument/2006/relationships/image" Target="../media/image112.wmf"/><Relationship Id="rId9" Type="http://schemas.openxmlformats.org/officeDocument/2006/relationships/oleObject" Target="../embeddings/oleObject131.bin"/></Relationships>
</file>

<file path=ppt/slides/_rels/slide51.x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image" Target="../media/image118.wmf"/><Relationship Id="rId3" Type="http://schemas.openxmlformats.org/officeDocument/2006/relationships/oleObject" Target="../embeddings/oleObject133.bin"/><Relationship Id="rId7" Type="http://schemas.openxmlformats.org/officeDocument/2006/relationships/oleObject" Target="../embeddings/oleObject135.bin"/><Relationship Id="rId12" Type="http://schemas.openxmlformats.org/officeDocument/2006/relationships/oleObject" Target="../embeddings/oleObject139.bin"/><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image" Target="../media/image116.wmf"/><Relationship Id="rId11" Type="http://schemas.openxmlformats.org/officeDocument/2006/relationships/oleObject" Target="../embeddings/oleObject138.bin"/><Relationship Id="rId5" Type="http://schemas.openxmlformats.org/officeDocument/2006/relationships/oleObject" Target="../embeddings/oleObject134.bin"/><Relationship Id="rId15" Type="http://schemas.openxmlformats.org/officeDocument/2006/relationships/image" Target="../media/image119.wmf"/><Relationship Id="rId10" Type="http://schemas.openxmlformats.org/officeDocument/2006/relationships/oleObject" Target="../embeddings/oleObject137.bin"/><Relationship Id="rId4" Type="http://schemas.openxmlformats.org/officeDocument/2006/relationships/image" Target="../media/image115.wmf"/><Relationship Id="rId9" Type="http://schemas.openxmlformats.org/officeDocument/2006/relationships/oleObject" Target="../embeddings/oleObject136.bin"/><Relationship Id="rId14" Type="http://schemas.openxmlformats.org/officeDocument/2006/relationships/oleObject" Target="../embeddings/oleObject140.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image" Target="../media/image121.wmf"/><Relationship Id="rId5" Type="http://schemas.openxmlformats.org/officeDocument/2006/relationships/oleObject" Target="../embeddings/oleObject142.bin"/><Relationship Id="rId4" Type="http://schemas.openxmlformats.org/officeDocument/2006/relationships/image" Target="../media/image120.wmf"/></Relationships>
</file>

<file path=ppt/slides/_rels/slide53.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143.bin"/><Relationship Id="rId7" Type="http://schemas.openxmlformats.org/officeDocument/2006/relationships/oleObject" Target="../embeddings/oleObject145.bin"/><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image" Target="../media/image123.wmf"/><Relationship Id="rId5" Type="http://schemas.openxmlformats.org/officeDocument/2006/relationships/oleObject" Target="../embeddings/oleObject144.bin"/><Relationship Id="rId4" Type="http://schemas.openxmlformats.org/officeDocument/2006/relationships/image" Target="../media/image122.wmf"/></Relationships>
</file>

<file path=ppt/slides/_rels/slide54.x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oleObject" Target="../embeddings/oleObject146.bin"/><Relationship Id="rId7" Type="http://schemas.openxmlformats.org/officeDocument/2006/relationships/oleObject" Target="../embeddings/oleObject148.bin"/><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image" Target="../media/image126.wmf"/><Relationship Id="rId5" Type="http://schemas.openxmlformats.org/officeDocument/2006/relationships/oleObject" Target="../embeddings/oleObject147.bin"/><Relationship Id="rId10" Type="http://schemas.openxmlformats.org/officeDocument/2006/relationships/image" Target="../media/image128.wmf"/><Relationship Id="rId4" Type="http://schemas.openxmlformats.org/officeDocument/2006/relationships/image" Target="../media/image125.wmf"/><Relationship Id="rId9" Type="http://schemas.openxmlformats.org/officeDocument/2006/relationships/oleObject" Target="../embeddings/oleObject149.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50.bin"/><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image" Target="../media/image130.wmf"/><Relationship Id="rId5" Type="http://schemas.openxmlformats.org/officeDocument/2006/relationships/oleObject" Target="../embeddings/oleObject151.bin"/><Relationship Id="rId4" Type="http://schemas.openxmlformats.org/officeDocument/2006/relationships/image" Target="../media/image129.wmf"/></Relationships>
</file>

<file path=ppt/slides/_rels/slide56.xml.rels><?xml version="1.0" encoding="UTF-8" standalone="yes"?>
<Relationships xmlns="http://schemas.openxmlformats.org/package/2006/relationships"><Relationship Id="rId8" Type="http://schemas.openxmlformats.org/officeDocument/2006/relationships/image" Target="../media/image133.wmf"/><Relationship Id="rId3" Type="http://schemas.openxmlformats.org/officeDocument/2006/relationships/oleObject" Target="../embeddings/oleObject152.bin"/><Relationship Id="rId7" Type="http://schemas.openxmlformats.org/officeDocument/2006/relationships/oleObject" Target="../embeddings/oleObject154.bin"/><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image" Target="../media/image132.wmf"/><Relationship Id="rId5" Type="http://schemas.openxmlformats.org/officeDocument/2006/relationships/oleObject" Target="../embeddings/oleObject153.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155.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56.bin"/><Relationship Id="rId2" Type="http://schemas.openxmlformats.org/officeDocument/2006/relationships/slideLayout" Target="../slideLayouts/slideLayout2.xml"/><Relationship Id="rId1" Type="http://schemas.openxmlformats.org/officeDocument/2006/relationships/vmlDrawing" Target="../drawings/vmlDrawing50.vml"/><Relationship Id="rId4" Type="http://schemas.openxmlformats.org/officeDocument/2006/relationships/image" Target="../media/image135.wmf"/></Relationships>
</file>

<file path=ppt/slides/_rels/slide60.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oleObject" Target="../embeddings/oleObject157.bin"/><Relationship Id="rId7" Type="http://schemas.openxmlformats.org/officeDocument/2006/relationships/oleObject" Target="../embeddings/oleObject159.bin"/><Relationship Id="rId12" Type="http://schemas.openxmlformats.org/officeDocument/2006/relationships/image" Target="../media/image140.wmf"/><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137.wmf"/><Relationship Id="rId11" Type="http://schemas.openxmlformats.org/officeDocument/2006/relationships/oleObject" Target="../embeddings/oleObject161.bin"/><Relationship Id="rId5" Type="http://schemas.openxmlformats.org/officeDocument/2006/relationships/oleObject" Target="../embeddings/oleObject158.bin"/><Relationship Id="rId10" Type="http://schemas.openxmlformats.org/officeDocument/2006/relationships/image" Target="../media/image139.wmf"/><Relationship Id="rId4" Type="http://schemas.openxmlformats.org/officeDocument/2006/relationships/image" Target="../media/image136.wmf"/><Relationship Id="rId9" Type="http://schemas.openxmlformats.org/officeDocument/2006/relationships/oleObject" Target="../embeddings/oleObject160.bin"/></Relationships>
</file>

<file path=ppt/slides/_rels/slide61.xml.rels><?xml version="1.0" encoding="UTF-8" standalone="yes"?>
<Relationships xmlns="http://schemas.openxmlformats.org/package/2006/relationships"><Relationship Id="rId8" Type="http://schemas.openxmlformats.org/officeDocument/2006/relationships/image" Target="../media/image143.wmf"/><Relationship Id="rId3" Type="http://schemas.openxmlformats.org/officeDocument/2006/relationships/oleObject" Target="../embeddings/oleObject162.bin"/><Relationship Id="rId7" Type="http://schemas.openxmlformats.org/officeDocument/2006/relationships/oleObject" Target="../embeddings/oleObject164.bin"/><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142.wmf"/><Relationship Id="rId5" Type="http://schemas.openxmlformats.org/officeDocument/2006/relationships/oleObject" Target="../embeddings/oleObject163.bin"/><Relationship Id="rId10" Type="http://schemas.openxmlformats.org/officeDocument/2006/relationships/image" Target="../media/image144.wmf"/><Relationship Id="rId4" Type="http://schemas.openxmlformats.org/officeDocument/2006/relationships/image" Target="../media/image141.wmf"/><Relationship Id="rId9" Type="http://schemas.openxmlformats.org/officeDocument/2006/relationships/oleObject" Target="../embeddings/oleObject165.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slideLayout" Target="../slideLayouts/slideLayout2.xml"/><Relationship Id="rId1" Type="http://schemas.openxmlformats.org/officeDocument/2006/relationships/vmlDrawing" Target="../drawings/vmlDrawing53.vml"/><Relationship Id="rId4" Type="http://schemas.openxmlformats.org/officeDocument/2006/relationships/image" Target="../media/image145.wmf"/></Relationships>
</file>

<file path=ppt/slides/_rels/slide64.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172.bin"/><Relationship Id="rId3" Type="http://schemas.openxmlformats.org/officeDocument/2006/relationships/oleObject" Target="../embeddings/oleObject167.bin"/><Relationship Id="rId7" Type="http://schemas.openxmlformats.org/officeDocument/2006/relationships/oleObject" Target="../embeddings/oleObject169.bin"/><Relationship Id="rId12" Type="http://schemas.openxmlformats.org/officeDocument/2006/relationships/image" Target="../media/image150.wmf"/><Relationship Id="rId2" Type="http://schemas.openxmlformats.org/officeDocument/2006/relationships/slideLayout" Target="../slideLayouts/slideLayout2.xml"/><Relationship Id="rId16" Type="http://schemas.openxmlformats.org/officeDocument/2006/relationships/image" Target="../media/image152.wmf"/><Relationship Id="rId1" Type="http://schemas.openxmlformats.org/officeDocument/2006/relationships/vmlDrawing" Target="../drawings/vmlDrawing54.vml"/><Relationship Id="rId6" Type="http://schemas.openxmlformats.org/officeDocument/2006/relationships/image" Target="../media/image147.wmf"/><Relationship Id="rId11" Type="http://schemas.openxmlformats.org/officeDocument/2006/relationships/oleObject" Target="../embeddings/oleObject171.bin"/><Relationship Id="rId5" Type="http://schemas.openxmlformats.org/officeDocument/2006/relationships/oleObject" Target="../embeddings/oleObject168.bin"/><Relationship Id="rId15" Type="http://schemas.openxmlformats.org/officeDocument/2006/relationships/oleObject" Target="../embeddings/oleObject173.bin"/><Relationship Id="rId10" Type="http://schemas.openxmlformats.org/officeDocument/2006/relationships/image" Target="../media/image149.wmf"/><Relationship Id="rId4" Type="http://schemas.openxmlformats.org/officeDocument/2006/relationships/image" Target="../media/image146.wmf"/><Relationship Id="rId9" Type="http://schemas.openxmlformats.org/officeDocument/2006/relationships/oleObject" Target="../embeddings/oleObject170.bin"/><Relationship Id="rId14" Type="http://schemas.openxmlformats.org/officeDocument/2006/relationships/image" Target="../media/image15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Objectives</a:t>
            </a:r>
            <a:endParaRPr lang="en-US" dirty="0"/>
          </a:p>
        </p:txBody>
      </p:sp>
      <p:sp>
        <p:nvSpPr>
          <p:cNvPr id="3" name="Content Placeholder 2"/>
          <p:cNvSpPr>
            <a:spLocks noGrp="1"/>
          </p:cNvSpPr>
          <p:nvPr>
            <p:ph idx="1"/>
          </p:nvPr>
        </p:nvSpPr>
        <p:spPr/>
        <p:txBody>
          <a:bodyPr/>
          <a:lstStyle/>
          <a:p>
            <a:pPr marL="633412" indent="-514350">
              <a:lnSpc>
                <a:spcPct val="200000"/>
              </a:lnSpc>
              <a:spcAft>
                <a:spcPts val="1200"/>
              </a:spcAft>
              <a:buClr>
                <a:srgbClr val="FF0000"/>
              </a:buClr>
              <a:buFont typeface="+mj-lt"/>
              <a:buAutoNum type="arabicPeriod"/>
              <a:defRPr/>
            </a:pPr>
            <a:r>
              <a:rPr lang="en-US" sz="2800" i="1" dirty="0" smtClean="0"/>
              <a:t>Define what a Matrix is</a:t>
            </a:r>
          </a:p>
          <a:p>
            <a:pPr marL="633412" indent="-514350">
              <a:lnSpc>
                <a:spcPct val="200000"/>
              </a:lnSpc>
              <a:spcAft>
                <a:spcPts val="1200"/>
              </a:spcAft>
              <a:buClr>
                <a:srgbClr val="FF0000"/>
              </a:buClr>
              <a:buFont typeface="+mj-lt"/>
              <a:buAutoNum type="arabicPeriod"/>
              <a:defRPr/>
            </a:pPr>
            <a:r>
              <a:rPr lang="en-US" sz="2800" i="1" dirty="0" smtClean="0"/>
              <a:t>Special types of Matrices, and</a:t>
            </a:r>
          </a:p>
          <a:p>
            <a:pPr marL="633412" indent="-514350">
              <a:lnSpc>
                <a:spcPct val="200000"/>
              </a:lnSpc>
              <a:spcAft>
                <a:spcPts val="1200"/>
              </a:spcAft>
              <a:buClr>
                <a:srgbClr val="FF0000"/>
              </a:buClr>
              <a:buFont typeface="+mj-lt"/>
              <a:buAutoNum type="arabicPeriod"/>
              <a:defRPr/>
            </a:pPr>
            <a:r>
              <a:rPr lang="en-US" sz="2800" i="1" dirty="0" smtClean="0"/>
              <a:t>Algebra of Matrices</a:t>
            </a:r>
          </a:p>
          <a:p>
            <a:pPr marL="633412" indent="-514350">
              <a:spcAft>
                <a:spcPts val="1200"/>
              </a:spcAft>
              <a:buClr>
                <a:srgbClr val="FF0000"/>
              </a:buClr>
              <a:buFont typeface="+mj-lt"/>
              <a:buAutoNum type="arabicPeriod"/>
              <a:defRPr/>
            </a:pPr>
            <a:endParaRPr lang="en-US" sz="2800" dirty="0" smtClean="0"/>
          </a:p>
          <a:p>
            <a:pPr>
              <a:buClr>
                <a:srgbClr val="FF0000"/>
              </a:buClr>
              <a:defRPr/>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does a matrix look like?</a:t>
            </a:r>
            <a:endParaRPr lang="en-US" dirty="0"/>
          </a:p>
        </p:txBody>
      </p:sp>
      <p:sp>
        <p:nvSpPr>
          <p:cNvPr id="82945" name="Rectangle 1"/>
          <p:cNvSpPr>
            <a:spLocks noChangeArrowheads="1"/>
          </p:cNvSpPr>
          <p:nvPr/>
        </p:nvSpPr>
        <p:spPr bwMode="auto">
          <a:xfrm>
            <a:off x="457200" y="1781983"/>
            <a:ext cx="8305800" cy="18107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Matrices are everywhere.  If you have used a spreadsheet such as Excel or Lotus or written a table, you have used a matrix.  Matrices make presentation of numbers clearer and make calculations easier to program.  </a:t>
            </a:r>
          </a:p>
          <a:p>
            <a:pPr marL="0" marR="0" lvl="0" indent="0" algn="l" defTabSz="914400" rtl="0" eaLnBrk="0" fontAlgn="base" latinLnBrk="0" hangingPunct="0">
              <a:lnSpc>
                <a:spcPts val="2600"/>
              </a:lnSpc>
              <a:spcBef>
                <a:spcPct val="0"/>
              </a:spcBef>
              <a:spcAft>
                <a:spcPct val="0"/>
              </a:spcAft>
              <a:buClrTx/>
              <a:buSzTx/>
              <a:buFontTx/>
              <a:buNone/>
              <a:tabLst/>
            </a:pPr>
            <a:endParaRPr lang="en-US" dirty="0">
              <a:latin typeface="Times New Roman" pitchFamily="18" charset="0"/>
              <a:ea typeface="Times New Roman" pitchFamily="18" charset="0"/>
              <a:cs typeface="Times New Roman" pitchFamily="18" charset="0"/>
            </a:endParaRPr>
          </a:p>
          <a:p>
            <a:pPr marL="0" marR="0" lvl="0" indent="0" algn="l" defTabSz="914400" rtl="0" eaLnBrk="0" fontAlgn="base" latinLnBrk="0" hangingPunct="0">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Look at the matrix below about the sale of tires in a </a:t>
            </a:r>
            <a:r>
              <a:rPr kumimoji="0" lang="en-US"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Blowoutr’us</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store – given by quarter and make of tires.</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82947"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2946" name="Object 2"/>
          <p:cNvGraphicFramePr>
            <a:graphicFrameLocks noChangeAspect="1"/>
          </p:cNvGraphicFramePr>
          <p:nvPr/>
        </p:nvGraphicFramePr>
        <p:xfrm>
          <a:off x="3733800" y="4038600"/>
          <a:ext cx="2057400" cy="1234440"/>
        </p:xfrm>
        <a:graphic>
          <a:graphicData uri="http://schemas.openxmlformats.org/presentationml/2006/ole">
            <mc:AlternateContent xmlns:mc="http://schemas.openxmlformats.org/markup-compatibility/2006">
              <mc:Choice xmlns:v="urn:schemas-microsoft-com:vml" Requires="v">
                <p:oleObj spid="_x0000_s82957" name="Equation" r:id="rId3" imgW="1193800" imgH="711200" progId="Equation.3">
                  <p:embed/>
                </p:oleObj>
              </mc:Choice>
              <mc:Fallback>
                <p:oleObj name="Equation" r:id="rId3" imgW="1193800" imgH="71120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4038600"/>
                        <a:ext cx="2057400" cy="1234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3733800" y="3657600"/>
            <a:ext cx="2005677" cy="369332"/>
          </a:xfrm>
          <a:prstGeom prst="rect">
            <a:avLst/>
          </a:prstGeom>
        </p:spPr>
        <p:txBody>
          <a:bodyPr wrap="none">
            <a:spAutoFit/>
          </a:bodyPr>
          <a:lstStyle/>
          <a:p>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Q1    Q2    Q3   Q4</a:t>
            </a:r>
            <a:endParaRPr lang="en-US" dirty="0">
              <a:latin typeface="Times New Roman" pitchFamily="18" charset="0"/>
              <a:cs typeface="Times New Roman" pitchFamily="18" charset="0"/>
            </a:endParaRPr>
          </a:p>
        </p:txBody>
      </p:sp>
      <p:sp>
        <p:nvSpPr>
          <p:cNvPr id="8294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2948" name="Object 4"/>
          <p:cNvGraphicFramePr>
            <a:graphicFrameLocks noChangeAspect="1"/>
          </p:cNvGraphicFramePr>
          <p:nvPr/>
        </p:nvGraphicFramePr>
        <p:xfrm>
          <a:off x="1981201" y="4038600"/>
          <a:ext cx="1219199" cy="1184855"/>
        </p:xfrm>
        <a:graphic>
          <a:graphicData uri="http://schemas.openxmlformats.org/presentationml/2006/ole">
            <mc:AlternateContent xmlns:mc="http://schemas.openxmlformats.org/markup-compatibility/2006">
              <mc:Choice xmlns:v="urn:schemas-microsoft-com:vml" Requires="v">
                <p:oleObj spid="_x0000_s82958" name="Equation" r:id="rId5" imgW="672808" imgH="660113" progId="Equation.3">
                  <p:embed/>
                </p:oleObj>
              </mc:Choice>
              <mc:Fallback>
                <p:oleObj name="Equation" r:id="rId5" imgW="672808" imgH="660113"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1" y="4038600"/>
                        <a:ext cx="1219199" cy="11848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50" name="Rectangle 6"/>
          <p:cNvSpPr>
            <a:spLocks noChangeArrowheads="1"/>
          </p:cNvSpPr>
          <p:nvPr/>
        </p:nvSpPr>
        <p:spPr bwMode="auto">
          <a:xfrm>
            <a:off x="304800" y="5638800"/>
            <a:ext cx="86106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If one wants to know how many </a:t>
            </a:r>
            <a:r>
              <a:rPr kumimoji="0" lang="en-US"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Copper</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tires were sold in </a:t>
            </a:r>
            <a:r>
              <a:rPr kumimoji="0" lang="en-US"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Quarter 4</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we go along the row </a:t>
            </a:r>
            <a:r>
              <a:rPr kumimoji="0" lang="en-US"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Copper</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and column </a:t>
            </a:r>
            <a:r>
              <a:rPr kumimoji="0" lang="en-US"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Q4</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and find that it is 27.</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matrix?</a:t>
            </a:r>
            <a:endParaRPr lang="en-US" dirty="0"/>
          </a:p>
        </p:txBody>
      </p:sp>
      <p:sp>
        <p:nvSpPr>
          <p:cNvPr id="4" name="Rectangle 3"/>
          <p:cNvSpPr/>
          <p:nvPr/>
        </p:nvSpPr>
        <p:spPr>
          <a:xfrm>
            <a:off x="685800" y="1752600"/>
            <a:ext cx="7620000" cy="873572"/>
          </a:xfrm>
          <a:prstGeom prst="rect">
            <a:avLst/>
          </a:prstGeom>
        </p:spPr>
        <p:txBody>
          <a:bodyPr wrap="square">
            <a:spAutoFit/>
          </a:bodyPr>
          <a:lstStyle/>
          <a:p>
            <a:pPr>
              <a:lnSpc>
                <a:spcPct val="150000"/>
              </a:lnSpc>
            </a:pPr>
            <a:r>
              <a:rPr lang="en-US" dirty="0">
                <a:latin typeface="Times New Roman" pitchFamily="18" charset="0"/>
                <a:cs typeface="Times New Roman" pitchFamily="18" charset="0"/>
              </a:rPr>
              <a:t>A </a:t>
            </a:r>
            <a:r>
              <a:rPr lang="en-US" i="1" dirty="0">
                <a:latin typeface="Times New Roman" pitchFamily="18" charset="0"/>
                <a:cs typeface="Times New Roman" pitchFamily="18" charset="0"/>
              </a:rPr>
              <a:t>matrix </a:t>
            </a:r>
            <a:r>
              <a:rPr lang="en-US" dirty="0">
                <a:latin typeface="Times New Roman" pitchFamily="18" charset="0"/>
                <a:cs typeface="Times New Roman" pitchFamily="18" charset="0"/>
              </a:rPr>
              <a:t>is a rectangular array of elements.  The elements can be symbolic expressions or numbers.  Matrix </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is denoted by</a:t>
            </a:r>
            <a:endParaRPr lang="en-US" dirty="0">
              <a:latin typeface="Times New Roman" pitchFamily="18" charset="0"/>
              <a:cs typeface="Times New Roman" pitchFamily="18" charset="0"/>
            </a:endParaRPr>
          </a:p>
        </p:txBody>
      </p:sp>
      <p:sp>
        <p:nvSpPr>
          <p:cNvPr id="839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969" name="Object 1"/>
          <p:cNvGraphicFramePr>
            <a:graphicFrameLocks noChangeAspect="1"/>
          </p:cNvGraphicFramePr>
          <p:nvPr/>
        </p:nvGraphicFramePr>
        <p:xfrm>
          <a:off x="2895600" y="3581400"/>
          <a:ext cx="3151909" cy="1600200"/>
        </p:xfrm>
        <a:graphic>
          <a:graphicData uri="http://schemas.openxmlformats.org/presentationml/2006/ole">
            <mc:AlternateContent xmlns:mc="http://schemas.openxmlformats.org/markup-compatibility/2006">
              <mc:Choice xmlns:v="urn:schemas-microsoft-com:vml" Requires="v">
                <p:oleObj spid="_x0000_s83974" name="Equation" r:id="rId3" imgW="1854200" imgH="939800" progId="Equation.3">
                  <p:embed/>
                </p:oleObj>
              </mc:Choice>
              <mc:Fallback>
                <p:oleObj name="Equation" r:id="rId3" imgW="1854200" imgH="939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3581400"/>
                        <a:ext cx="3151909"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5"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matrix?</a:t>
            </a:r>
            <a:endParaRPr lang="en-US" dirty="0"/>
          </a:p>
        </p:txBody>
      </p:sp>
      <p:sp>
        <p:nvSpPr>
          <p:cNvPr id="4" name="TextBox 3"/>
          <p:cNvSpPr txBox="1"/>
          <p:nvPr/>
        </p:nvSpPr>
        <p:spPr>
          <a:xfrm>
            <a:off x="533400" y="1905000"/>
            <a:ext cx="64008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Row </a:t>
            </a:r>
            <a:r>
              <a:rPr lang="en-US" i="1" dirty="0" err="1" smtClean="0">
                <a:latin typeface="Times New Roman" pitchFamily="18" charset="0"/>
                <a:cs typeface="Times New Roman" pitchFamily="18" charset="0"/>
              </a:rPr>
              <a:t>i</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of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has </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elements and is</a:t>
            </a:r>
            <a:endParaRPr lang="en-US" dirty="0">
              <a:latin typeface="Times New Roman" pitchFamily="18" charset="0"/>
              <a:cs typeface="Times New Roman" pitchFamily="18" charset="0"/>
            </a:endParaRPr>
          </a:p>
        </p:txBody>
      </p:sp>
      <p:graphicFrame>
        <p:nvGraphicFramePr>
          <p:cNvPr id="5" name="Object 6"/>
          <p:cNvGraphicFramePr>
            <a:graphicFrameLocks noChangeAspect="1"/>
          </p:cNvGraphicFramePr>
          <p:nvPr/>
        </p:nvGraphicFramePr>
        <p:xfrm>
          <a:off x="2057400" y="2415139"/>
          <a:ext cx="1600200" cy="404261"/>
        </p:xfrm>
        <a:graphic>
          <a:graphicData uri="http://schemas.openxmlformats.org/presentationml/2006/ole">
            <mc:AlternateContent xmlns:mc="http://schemas.openxmlformats.org/markup-compatibility/2006">
              <mc:Choice xmlns:v="urn:schemas-microsoft-com:vml" Requires="v">
                <p:oleObj spid="_x0000_s85004" name="Equation" r:id="rId3" imgW="901309" imgH="228501" progId="Equation.3">
                  <p:embed/>
                </p:oleObj>
              </mc:Choice>
              <mc:Fallback>
                <p:oleObj name="Equation" r:id="rId3" imgW="901309" imgH="228501"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415139"/>
                        <a:ext cx="1600200" cy="404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609600" y="2895600"/>
            <a:ext cx="44196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and column </a:t>
            </a:r>
            <a:r>
              <a:rPr lang="en-US" i="1" dirty="0">
                <a:latin typeface="Times New Roman" pitchFamily="18" charset="0"/>
                <a:cs typeface="Times New Roman" pitchFamily="18" charset="0"/>
              </a:rPr>
              <a:t> </a:t>
            </a:r>
            <a:r>
              <a:rPr lang="en-US" i="1" dirty="0" smtClean="0">
                <a:latin typeface="Times New Roman" pitchFamily="18" charset="0"/>
                <a:cs typeface="Times New Roman" pitchFamily="18" charset="0"/>
              </a:rPr>
              <a:t>j </a:t>
            </a:r>
            <a:r>
              <a:rPr lang="en-US" dirty="0" smtClean="0">
                <a:latin typeface="Times New Roman" pitchFamily="18" charset="0"/>
                <a:cs typeface="Times New Roman" pitchFamily="18" charset="0"/>
              </a:rPr>
              <a:t>of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has </a:t>
            </a:r>
            <a:r>
              <a:rPr lang="en-US" i="1" dirty="0" smtClean="0">
                <a:latin typeface="Times New Roman" pitchFamily="18" charset="0"/>
                <a:cs typeface="Times New Roman" pitchFamily="18" charset="0"/>
              </a:rPr>
              <a:t>m</a:t>
            </a:r>
            <a:r>
              <a:rPr lang="en-US" dirty="0" smtClean="0">
                <a:latin typeface="Times New Roman" pitchFamily="18" charset="0"/>
                <a:cs typeface="Times New Roman" pitchFamily="18" charset="0"/>
              </a:rPr>
              <a:t> elements and is</a:t>
            </a:r>
            <a:endParaRPr lang="en-US" dirty="0">
              <a:latin typeface="Times New Roman" pitchFamily="18" charset="0"/>
              <a:cs typeface="Times New Roman" pitchFamily="18" charset="0"/>
            </a:endParaRPr>
          </a:p>
        </p:txBody>
      </p:sp>
      <p:sp>
        <p:nvSpPr>
          <p:cNvPr id="8499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4995" name="Object 3"/>
          <p:cNvGraphicFramePr>
            <a:graphicFrameLocks noChangeAspect="1"/>
          </p:cNvGraphicFramePr>
          <p:nvPr/>
        </p:nvGraphicFramePr>
        <p:xfrm>
          <a:off x="3886200" y="3505200"/>
          <a:ext cx="838200" cy="2074545"/>
        </p:xfrm>
        <a:graphic>
          <a:graphicData uri="http://schemas.openxmlformats.org/presentationml/2006/ole">
            <mc:AlternateContent xmlns:mc="http://schemas.openxmlformats.org/markup-compatibility/2006">
              <mc:Choice xmlns:v="urn:schemas-microsoft-com:vml" Requires="v">
                <p:oleObj spid="_x0000_s85005" name="Equation" r:id="rId5" imgW="380835" imgH="939392" progId="Equation.3">
                  <p:embed/>
                </p:oleObj>
              </mc:Choice>
              <mc:Fallback>
                <p:oleObj name="Equation" r:id="rId5" imgW="380835" imgH="939392"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3505200"/>
                        <a:ext cx="838200" cy="20745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matrix?</a:t>
            </a:r>
            <a:endParaRPr lang="en-US" dirty="0"/>
          </a:p>
        </p:txBody>
      </p:sp>
      <p:sp>
        <p:nvSpPr>
          <p:cNvPr id="4" name="Rectangle 3"/>
          <p:cNvSpPr/>
          <p:nvPr/>
        </p:nvSpPr>
        <p:spPr>
          <a:xfrm>
            <a:off x="762000" y="1752600"/>
            <a:ext cx="7543800" cy="1704569"/>
          </a:xfrm>
          <a:prstGeom prst="rect">
            <a:avLst/>
          </a:prstGeom>
        </p:spPr>
        <p:txBody>
          <a:bodyPr wrap="square">
            <a:spAutoFit/>
          </a:bodyPr>
          <a:lstStyle/>
          <a:p>
            <a:pPr>
              <a:lnSpc>
                <a:spcPct val="150000"/>
              </a:lnSpc>
            </a:pPr>
            <a:r>
              <a:rPr lang="en-US" dirty="0">
                <a:latin typeface="Times New Roman" pitchFamily="18" charset="0"/>
                <a:cs typeface="Times New Roman" pitchFamily="18" charset="0"/>
              </a:rPr>
              <a:t>Each matrix has rows and columns and this defines the size of the matrix.  If a </a:t>
            </a:r>
            <a:r>
              <a:rPr lang="en-US" dirty="0" smtClean="0">
                <a:latin typeface="Times New Roman" pitchFamily="18" charset="0"/>
                <a:cs typeface="Times New Roman" pitchFamily="18" charset="0"/>
              </a:rPr>
              <a:t>matrix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has </a:t>
            </a:r>
            <a:r>
              <a:rPr lang="en-US" i="1" dirty="0" smtClean="0">
                <a:latin typeface="Times New Roman" pitchFamily="18" charset="0"/>
                <a:cs typeface="Times New Roman" pitchFamily="18" charset="0"/>
              </a:rPr>
              <a:t>m </a:t>
            </a:r>
            <a:r>
              <a:rPr lang="en-US" dirty="0" smtClean="0">
                <a:latin typeface="Times New Roman" pitchFamily="18" charset="0"/>
                <a:cs typeface="Times New Roman" pitchFamily="18" charset="0"/>
              </a:rPr>
              <a:t>rows and </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columns, the size of the matrix is denoted by </a:t>
            </a:r>
            <a:r>
              <a:rPr lang="en-US" i="1" dirty="0" err="1" smtClean="0">
                <a:latin typeface="Times New Roman" pitchFamily="18" charset="0"/>
                <a:cs typeface="Times New Roman" pitchFamily="18" charset="0"/>
              </a:rPr>
              <a:t>m×n</a:t>
            </a:r>
            <a:r>
              <a:rPr lang="en-US" dirty="0" smtClean="0">
                <a:latin typeface="Times New Roman" pitchFamily="18" charset="0"/>
                <a:cs typeface="Times New Roman" pitchFamily="18" charset="0"/>
              </a:rPr>
              <a:t>. The matrix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may also be denoted by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a:t>
            </a:r>
            <a:r>
              <a:rPr lang="en-US" i="1" baseline="-25000" dirty="0" err="1" smtClean="0">
                <a:latin typeface="Times New Roman" pitchFamily="18" charset="0"/>
                <a:cs typeface="Times New Roman" pitchFamily="18" charset="0"/>
              </a:rPr>
              <a:t>mxn</a:t>
            </a:r>
            <a:r>
              <a:rPr lang="en-US" i="1" baseline="-25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to show that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is a matrix with </a:t>
            </a:r>
            <a:r>
              <a:rPr lang="en-US" i="1" dirty="0" smtClean="0">
                <a:latin typeface="Times New Roman" pitchFamily="18" charset="0"/>
                <a:cs typeface="Times New Roman" pitchFamily="18" charset="0"/>
              </a:rPr>
              <a:t>m</a:t>
            </a:r>
            <a:r>
              <a:rPr lang="en-US" dirty="0" smtClean="0">
                <a:latin typeface="Times New Roman" pitchFamily="18" charset="0"/>
                <a:cs typeface="Times New Roman" pitchFamily="18" charset="0"/>
              </a:rPr>
              <a:t> rows and </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columns.</a:t>
            </a:r>
            <a:endParaRPr lang="en-US" dirty="0">
              <a:latin typeface="Times New Roman" pitchFamily="18" charset="0"/>
              <a:cs typeface="Times New Roman" pitchFamily="18" charset="0"/>
            </a:endParaRPr>
          </a:p>
        </p:txBody>
      </p:sp>
      <p:sp>
        <p:nvSpPr>
          <p:cNvPr id="5" name="Rectangle 4"/>
          <p:cNvSpPr/>
          <p:nvPr/>
        </p:nvSpPr>
        <p:spPr>
          <a:xfrm>
            <a:off x="762000" y="3810000"/>
            <a:ext cx="7543800" cy="1338828"/>
          </a:xfrm>
          <a:prstGeom prst="rect">
            <a:avLst/>
          </a:prstGeom>
        </p:spPr>
        <p:txBody>
          <a:bodyPr wrap="square">
            <a:spAutoFit/>
          </a:bodyPr>
          <a:lstStyle/>
          <a:p>
            <a:pPr>
              <a:lnSpc>
                <a:spcPct val="150000"/>
              </a:lnSpc>
            </a:pPr>
            <a:r>
              <a:rPr lang="en-US" dirty="0">
                <a:latin typeface="Times New Roman" pitchFamily="18" charset="0"/>
                <a:cs typeface="Times New Roman" pitchFamily="18" charset="0"/>
              </a:rPr>
              <a:t>Each entry in the matrix is called the entry or element of the matrix and is denoted </a:t>
            </a:r>
            <a:r>
              <a:rPr lang="en-US" dirty="0" smtClean="0">
                <a:latin typeface="Times New Roman" pitchFamily="18" charset="0"/>
                <a:cs typeface="Times New Roman" pitchFamily="18" charset="0"/>
              </a:rPr>
              <a:t>by </a:t>
            </a:r>
            <a:r>
              <a:rPr lang="en-US" i="1" dirty="0" err="1" smtClean="0">
                <a:latin typeface="Times New Roman" pitchFamily="18" charset="0"/>
                <a:cs typeface="Times New Roman" pitchFamily="18" charset="0"/>
              </a:rPr>
              <a:t>a</a:t>
            </a:r>
            <a:r>
              <a:rPr lang="en-US" i="1" baseline="-25000" dirty="0" err="1" smtClean="0">
                <a:latin typeface="Times New Roman" pitchFamily="18" charset="0"/>
                <a:cs typeface="Times New Roman" pitchFamily="18" charset="0"/>
              </a:rPr>
              <a:t>ij</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where </a:t>
            </a:r>
            <a:r>
              <a:rPr lang="en-US" i="1"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 is the row number and </a:t>
            </a:r>
            <a:r>
              <a:rPr lang="en-US" i="1" dirty="0" smtClean="0">
                <a:latin typeface="Times New Roman" pitchFamily="18" charset="0"/>
                <a:cs typeface="Times New Roman" pitchFamily="18" charset="0"/>
              </a:rPr>
              <a:t>j </a:t>
            </a:r>
            <a:r>
              <a:rPr lang="en-US" dirty="0" smtClean="0">
                <a:latin typeface="Times New Roman" pitchFamily="18" charset="0"/>
                <a:cs typeface="Times New Roman" pitchFamily="18" charset="0"/>
              </a:rPr>
              <a:t>is the column number of the element.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matrix?</a:t>
            </a:r>
            <a:endParaRPr lang="en-US" dirty="0"/>
          </a:p>
        </p:txBody>
      </p:sp>
      <p:sp>
        <p:nvSpPr>
          <p:cNvPr id="4" name="Rectangle 3"/>
          <p:cNvSpPr/>
          <p:nvPr/>
        </p:nvSpPr>
        <p:spPr>
          <a:xfrm>
            <a:off x="685800" y="1828800"/>
            <a:ext cx="7620000" cy="369332"/>
          </a:xfrm>
          <a:prstGeom prst="rect">
            <a:avLst/>
          </a:prstGeom>
        </p:spPr>
        <p:txBody>
          <a:bodyPr wrap="square">
            <a:spAutoFit/>
          </a:bodyPr>
          <a:lstStyle/>
          <a:p>
            <a:r>
              <a:rPr lang="en-US" dirty="0">
                <a:latin typeface="Times New Roman" pitchFamily="18" charset="0"/>
                <a:cs typeface="Times New Roman" pitchFamily="18" charset="0"/>
              </a:rPr>
              <a:t>The matrix for the tire sales example could be denoted by the matrix [</a:t>
            </a:r>
            <a:r>
              <a:rPr lang="en-US" i="1" dirty="0">
                <a:latin typeface="Times New Roman" pitchFamily="18" charset="0"/>
                <a:cs typeface="Times New Roman" pitchFamily="18" charset="0"/>
              </a:rPr>
              <a:t>A</a:t>
            </a:r>
            <a:r>
              <a:rPr lang="en-US" dirty="0">
                <a:latin typeface="Times New Roman" pitchFamily="18" charset="0"/>
                <a:cs typeface="Times New Roman" pitchFamily="18" charset="0"/>
              </a:rPr>
              <a:t>] as</a:t>
            </a:r>
          </a:p>
        </p:txBody>
      </p:sp>
      <p:sp>
        <p:nvSpPr>
          <p:cNvPr id="8601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6017" name="Object 1"/>
          <p:cNvGraphicFramePr>
            <a:graphicFrameLocks noChangeAspect="1"/>
          </p:cNvGraphicFramePr>
          <p:nvPr/>
        </p:nvGraphicFramePr>
        <p:xfrm>
          <a:off x="1981200" y="2613239"/>
          <a:ext cx="3429000" cy="1577761"/>
        </p:xfrm>
        <a:graphic>
          <a:graphicData uri="http://schemas.openxmlformats.org/presentationml/2006/ole">
            <mc:AlternateContent xmlns:mc="http://schemas.openxmlformats.org/markup-compatibility/2006">
              <mc:Choice xmlns:v="urn:schemas-microsoft-com:vml" Requires="v">
                <p:oleObj spid="_x0000_s86022" name="Equation" r:id="rId3" imgW="1548728" imgH="710891" progId="Equation.3">
                  <p:embed/>
                </p:oleObj>
              </mc:Choice>
              <mc:Fallback>
                <p:oleObj name="Equation" r:id="rId3" imgW="1548728" imgH="710891"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613239"/>
                        <a:ext cx="3429000" cy="15777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19" name="Rectangle 3"/>
          <p:cNvSpPr>
            <a:spLocks noChangeArrowheads="1"/>
          </p:cNvSpPr>
          <p:nvPr/>
        </p:nvSpPr>
        <p:spPr bwMode="auto">
          <a:xfrm>
            <a:off x="685800" y="4612828"/>
            <a:ext cx="6629400"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eaLnBrk="0" hangingPunct="0">
              <a:lnSpc>
                <a:spcPct val="150000"/>
              </a:lnSpc>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There are 3 rows and 4 columns, so the size of the m</a:t>
            </a:r>
            <a:r>
              <a:rPr kumimoji="0" lang="en-US" b="0" i="0" u="none" strike="noStrike" cap="none" normalizeH="0" baseline="0" dirty="0" smtClean="0" bmk="">
                <a:ln>
                  <a:noFill/>
                </a:ln>
                <a:solidFill>
                  <a:schemeClr val="tx1"/>
                </a:solidFill>
                <a:effectLst/>
                <a:latin typeface="Times New Roman" pitchFamily="18" charset="0"/>
                <a:ea typeface="Times New Roman" pitchFamily="18" charset="0"/>
                <a:cs typeface="Times New Roman" pitchFamily="18" charset="0"/>
              </a:rPr>
              <a:t>atrix</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is 3×4. In th</a:t>
            </a:r>
            <a:r>
              <a:rPr lang="en-US" dirty="0" smtClean="0">
                <a:latin typeface="Times New Roman" pitchFamily="18" charset="0"/>
                <a:ea typeface="Times New Roman" pitchFamily="18" charset="0"/>
                <a:cs typeface="Times New Roman" pitchFamily="18" charset="0"/>
              </a:rPr>
              <a:t>e above [</a:t>
            </a:r>
            <a:r>
              <a:rPr lang="en-US" i="1" dirty="0" smtClean="0">
                <a:latin typeface="Times New Roman" pitchFamily="18" charset="0"/>
                <a:ea typeface="Times New Roman" pitchFamily="18" charset="0"/>
                <a:cs typeface="Times New Roman" pitchFamily="18" charset="0"/>
              </a:rPr>
              <a:t>A</a:t>
            </a:r>
            <a:r>
              <a:rPr lang="en-US" dirty="0" smtClean="0">
                <a:latin typeface="Times New Roman" pitchFamily="18" charset="0"/>
                <a:ea typeface="Times New Roman" pitchFamily="18" charset="0"/>
                <a:cs typeface="Times New Roman" pitchFamily="18" charset="0"/>
              </a:rPr>
              <a:t>] matrix, </a:t>
            </a:r>
            <a:r>
              <a:rPr lang="en-US" i="1" dirty="0" smtClean="0">
                <a:latin typeface="Times New Roman" pitchFamily="18" charset="0"/>
                <a:ea typeface="Times New Roman" pitchFamily="18" charset="0"/>
                <a:cs typeface="Times New Roman" pitchFamily="18" charset="0"/>
              </a:rPr>
              <a:t>a</a:t>
            </a:r>
            <a:r>
              <a:rPr lang="en-US" baseline="-25000" dirty="0" smtClean="0">
                <a:latin typeface="Times New Roman" pitchFamily="18" charset="0"/>
                <a:ea typeface="Times New Roman" pitchFamily="18" charset="0"/>
                <a:cs typeface="Times New Roman" pitchFamily="18" charset="0"/>
              </a:rPr>
              <a:t>34</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=27</a:t>
            </a:r>
            <a:r>
              <a:rPr kumimoji="0" lang="en-US" b="0" i="0" u="none" strike="noStrike" cap="none" normalizeH="0" dirty="0" smtClean="0">
                <a:ln>
                  <a:noFill/>
                </a:ln>
                <a:solidFill>
                  <a:schemeClr val="tx1"/>
                </a:solidFill>
                <a:effectLst/>
                <a:latin typeface="Times New Roman" pitchFamily="18" charset="0"/>
                <a:cs typeface="Times New Roman" pitchFamily="18" charset="0"/>
              </a:rPr>
              <a:t> and </a:t>
            </a:r>
            <a:r>
              <a:rPr lang="en-US" i="1" dirty="0" smtClean="0">
                <a:latin typeface="Times New Roman" pitchFamily="18" charset="0"/>
                <a:ea typeface="Times New Roman" pitchFamily="18" charset="0"/>
                <a:cs typeface="Times New Roman" pitchFamily="18" charset="0"/>
              </a:rPr>
              <a:t>a</a:t>
            </a:r>
            <a:r>
              <a:rPr lang="en-US" i="1" baseline="-25000" dirty="0" smtClean="0">
                <a:latin typeface="Times New Roman" pitchFamily="18" charset="0"/>
                <a:ea typeface="Times New Roman" pitchFamily="18" charset="0"/>
                <a:cs typeface="Times New Roman" pitchFamily="18" charset="0"/>
              </a:rPr>
              <a:t>43</a:t>
            </a:r>
            <a:r>
              <a:rPr lang="en-US" dirty="0" smtClean="0">
                <a:latin typeface="Times New Roman" pitchFamily="18" charset="0"/>
                <a:cs typeface="Times New Roman" pitchFamily="18" charset="0"/>
              </a:rPr>
              <a:t> is undefined.</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Special Types of Matrices</a:t>
            </a:r>
            <a:endParaRPr lang="en-US" dirty="0"/>
          </a:p>
        </p:txBody>
      </p:sp>
      <p:sp>
        <p:nvSpPr>
          <p:cNvPr id="9" name="Content Placeholder 2"/>
          <p:cNvSpPr>
            <a:spLocks noGrp="1"/>
          </p:cNvSpPr>
          <p:nvPr>
            <p:ph idx="1"/>
          </p:nvPr>
        </p:nvSpPr>
        <p:spPr>
          <a:xfrm>
            <a:off x="609600" y="2057400"/>
            <a:ext cx="3657600" cy="4038600"/>
          </a:xfrm>
        </p:spPr>
        <p:txBody>
          <a:bodyPr/>
          <a:lstStyle/>
          <a:p>
            <a:r>
              <a:rPr lang="en-US" dirty="0" smtClean="0"/>
              <a:t>Row Vector</a:t>
            </a:r>
          </a:p>
          <a:p>
            <a:r>
              <a:rPr lang="en-US" dirty="0" smtClean="0"/>
              <a:t>Column Vector</a:t>
            </a:r>
          </a:p>
          <a:p>
            <a:r>
              <a:rPr lang="en-US" dirty="0" err="1" smtClean="0"/>
              <a:t>Submatrix</a:t>
            </a:r>
            <a:endParaRPr lang="en-US" dirty="0" smtClean="0"/>
          </a:p>
          <a:p>
            <a:r>
              <a:rPr lang="en-US" dirty="0" smtClean="0"/>
              <a:t>Square Matrix</a:t>
            </a:r>
          </a:p>
          <a:p>
            <a:r>
              <a:rPr lang="en-US" dirty="0" smtClean="0"/>
              <a:t>Upper Triangular Matrix</a:t>
            </a:r>
          </a:p>
          <a:p>
            <a:r>
              <a:rPr lang="en-US" dirty="0" smtClean="0"/>
              <a:t>Lower Triangular Matrix</a:t>
            </a:r>
          </a:p>
        </p:txBody>
      </p:sp>
      <p:sp>
        <p:nvSpPr>
          <p:cNvPr id="880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Content Placeholder 2"/>
          <p:cNvSpPr txBox="1">
            <a:spLocks/>
          </p:cNvSpPr>
          <p:nvPr/>
        </p:nvSpPr>
        <p:spPr bwMode="auto">
          <a:xfrm>
            <a:off x="4648200" y="2057400"/>
            <a:ext cx="3657600" cy="4191000"/>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marL="438150" indent="-319088" eaLnBrk="0" hangingPunct="0">
              <a:buSzPct val="80000"/>
              <a:buFont typeface="Wingdings 2" pitchFamily="18" charset="2"/>
              <a:buChar char=""/>
            </a:pPr>
            <a:r>
              <a:rPr lang="en-US" sz="3200" dirty="0" smtClean="0"/>
              <a:t>Diagonal Matrix</a:t>
            </a:r>
          </a:p>
          <a:p>
            <a:pPr marL="438150" marR="0" lvl="0" indent="-319088" algn="l" defTabSz="914400" rtl="0" eaLnBrk="0" fontAlgn="base" latinLnBrk="0" hangingPunct="0">
              <a:lnSpc>
                <a:spcPct val="100000"/>
              </a:lnSpc>
              <a:spcBef>
                <a:spcPct val="0"/>
              </a:spcBef>
              <a:spcAft>
                <a:spcPct val="0"/>
              </a:spcAft>
              <a:buClrTx/>
              <a:buSzPct val="80000"/>
              <a:buFont typeface="Wingdings 2" pitchFamily="18" charset="2"/>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Identity Matrix</a:t>
            </a:r>
          </a:p>
          <a:p>
            <a:pPr marL="438150" marR="0" lvl="0" indent="-319088" algn="l" defTabSz="914400" rtl="0" eaLnBrk="0" fontAlgn="base" latinLnBrk="0" hangingPunct="0">
              <a:lnSpc>
                <a:spcPct val="100000"/>
              </a:lnSpc>
              <a:spcBef>
                <a:spcPct val="0"/>
              </a:spcBef>
              <a:spcAft>
                <a:spcPct val="0"/>
              </a:spcAft>
              <a:buClrTx/>
              <a:buSzPct val="80000"/>
              <a:buFont typeface="Wingdings 2" pitchFamily="18" charset="2"/>
              <a:buChar char=""/>
              <a:tabLst/>
              <a:defRPr/>
            </a:pPr>
            <a:r>
              <a:rPr lang="en-US" sz="3200" dirty="0" smtClean="0">
                <a:latin typeface="+mn-lt"/>
              </a:rPr>
              <a:t>Zero Matrix</a:t>
            </a:r>
          </a:p>
          <a:p>
            <a:pPr marL="438150" marR="0" lvl="0" indent="-319088" algn="l" defTabSz="914400" rtl="0" eaLnBrk="0" fontAlgn="base" latinLnBrk="0" hangingPunct="0">
              <a:lnSpc>
                <a:spcPct val="100000"/>
              </a:lnSpc>
              <a:spcBef>
                <a:spcPct val="0"/>
              </a:spcBef>
              <a:spcAft>
                <a:spcPct val="0"/>
              </a:spcAft>
              <a:buClrTx/>
              <a:buSzPct val="80000"/>
              <a:buFont typeface="Wingdings 2" pitchFamily="18" charset="2"/>
              <a:buChar char=""/>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Tri-diagonal</a:t>
            </a:r>
            <a:r>
              <a:rPr kumimoji="0" lang="en-US" sz="3200" b="0" i="0" u="none" strike="noStrike" kern="1200" cap="none" spc="0" normalizeH="0" noProof="0" dirty="0" smtClean="0">
                <a:ln>
                  <a:noFill/>
                </a:ln>
                <a:solidFill>
                  <a:schemeClr val="tx1"/>
                </a:solidFill>
                <a:effectLst/>
                <a:uLnTx/>
                <a:uFillTx/>
                <a:latin typeface="+mn-lt"/>
                <a:ea typeface="+mn-ea"/>
                <a:cs typeface="+mn-cs"/>
              </a:rPr>
              <a:t> Matrices</a:t>
            </a:r>
          </a:p>
          <a:p>
            <a:pPr marL="438150" marR="0" lvl="0" indent="-319088" algn="l" defTabSz="914400" rtl="0" eaLnBrk="0" fontAlgn="base" latinLnBrk="0" hangingPunct="0">
              <a:lnSpc>
                <a:spcPct val="100000"/>
              </a:lnSpc>
              <a:spcBef>
                <a:spcPct val="0"/>
              </a:spcBef>
              <a:spcAft>
                <a:spcPct val="0"/>
              </a:spcAft>
              <a:buClrTx/>
              <a:buSzPct val="80000"/>
              <a:buFont typeface="Wingdings 2" pitchFamily="18" charset="2"/>
              <a:buChar char=""/>
              <a:tabLst/>
              <a:defRPr/>
            </a:pPr>
            <a:r>
              <a:rPr lang="en-US" sz="3200" baseline="0" dirty="0" smtClean="0">
                <a:latin typeface="+mn-lt"/>
              </a:rPr>
              <a:t>Diagonally</a:t>
            </a:r>
            <a:r>
              <a:rPr lang="en-US" sz="3200" dirty="0" smtClean="0">
                <a:latin typeface="+mn-lt"/>
              </a:rPr>
              <a:t> Dominant Matrix</a:t>
            </a:r>
            <a:endParaRPr kumimoji="0" 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Vector?</a:t>
            </a:r>
            <a:endParaRPr lang="en-US" dirty="0"/>
          </a:p>
        </p:txBody>
      </p:sp>
      <p:sp>
        <p:nvSpPr>
          <p:cNvPr id="890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 name="Rectangle 7"/>
          <p:cNvSpPr/>
          <p:nvPr/>
        </p:nvSpPr>
        <p:spPr>
          <a:xfrm>
            <a:off x="685800" y="2743200"/>
            <a:ext cx="6172200" cy="646331"/>
          </a:xfrm>
          <a:prstGeom prst="rect">
            <a:avLst/>
          </a:prstGeom>
        </p:spPr>
        <p:txBody>
          <a:bodyPr wrap="square">
            <a:spAutoFit/>
          </a:bodyPr>
          <a:lstStyle/>
          <a:p>
            <a:r>
              <a:rPr lang="en-US" b="1" dirty="0">
                <a:latin typeface="Times New Roman" pitchFamily="18" charset="0"/>
                <a:cs typeface="Times New Roman" pitchFamily="18" charset="0"/>
              </a:rPr>
              <a:t>Row Vector: </a:t>
            </a:r>
          </a:p>
          <a:p>
            <a:r>
              <a:rPr lang="en-US" dirty="0">
                <a:latin typeface="Times New Roman" pitchFamily="18" charset="0"/>
                <a:cs typeface="Times New Roman" pitchFamily="18" charset="0"/>
              </a:rPr>
              <a:t>If a </a:t>
            </a:r>
            <a:r>
              <a:rPr lang="en-US" dirty="0" smtClean="0">
                <a:latin typeface="Times New Roman" pitchFamily="18" charset="0"/>
                <a:cs typeface="Times New Roman" pitchFamily="18" charset="0"/>
              </a:rPr>
              <a:t>matrix [</a:t>
            </a:r>
            <a:r>
              <a:rPr lang="en-US" i="1" dirty="0" smtClean="0">
                <a:latin typeface="Times New Roman" pitchFamily="18" charset="0"/>
                <a:cs typeface="Times New Roman" pitchFamily="18" charset="0"/>
              </a:rPr>
              <a:t>B</a:t>
            </a:r>
            <a:r>
              <a:rPr lang="en-US" dirty="0" smtClean="0">
                <a:latin typeface="Times New Roman" pitchFamily="18" charset="0"/>
                <a:cs typeface="Times New Roman" pitchFamily="18" charset="0"/>
              </a:rPr>
              <a:t>] has one row, it is called a row vector</a:t>
            </a:r>
            <a:endParaRPr lang="en-US" dirty="0">
              <a:latin typeface="Times New Roman" pitchFamily="18" charset="0"/>
              <a:cs typeface="Times New Roman" pitchFamily="18" charset="0"/>
            </a:endParaRPr>
          </a:p>
        </p:txBody>
      </p:sp>
      <p:graphicFrame>
        <p:nvGraphicFramePr>
          <p:cNvPr id="9" name="Object 1"/>
          <p:cNvGraphicFramePr>
            <a:graphicFrameLocks noChangeAspect="1"/>
          </p:cNvGraphicFramePr>
          <p:nvPr/>
        </p:nvGraphicFramePr>
        <p:xfrm>
          <a:off x="5562600" y="3048000"/>
          <a:ext cx="1714500" cy="304800"/>
        </p:xfrm>
        <a:graphic>
          <a:graphicData uri="http://schemas.openxmlformats.org/presentationml/2006/ole">
            <mc:AlternateContent xmlns:mc="http://schemas.openxmlformats.org/markup-compatibility/2006">
              <mc:Choice xmlns:v="urn:schemas-microsoft-com:vml" Requires="v">
                <p:oleObj spid="_x0000_s89102" name="Equation" r:id="rId3" imgW="1282700" imgH="228600" progId="Equation.3">
                  <p:embed/>
                </p:oleObj>
              </mc:Choice>
              <mc:Fallback>
                <p:oleObj name="Equation" r:id="rId3" imgW="1282700" imgH="228600"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3048000"/>
                        <a:ext cx="17145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3"/>
          <p:cNvSpPr>
            <a:spLocks noChangeArrowheads="1"/>
          </p:cNvSpPr>
          <p:nvPr/>
        </p:nvSpPr>
        <p:spPr bwMode="auto">
          <a:xfrm>
            <a:off x="685800" y="3364468"/>
            <a:ext cx="394858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dirty="0">
                <a:latin typeface="Times New Roman" pitchFamily="18" charset="0"/>
                <a:ea typeface="Times New Roman" pitchFamily="18" charset="0"/>
                <a:cs typeface="Times New Roman" pitchFamily="18" charset="0"/>
              </a:rPr>
              <a:t>a</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nd </a:t>
            </a:r>
            <a:r>
              <a:rPr kumimoji="0" lang="en-US"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n </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is the dimension of the row vector.</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3" name="Rectangle 12"/>
          <p:cNvSpPr/>
          <p:nvPr/>
        </p:nvSpPr>
        <p:spPr>
          <a:xfrm>
            <a:off x="685800" y="1600200"/>
            <a:ext cx="7543800" cy="1063368"/>
          </a:xfrm>
          <a:prstGeom prst="rect">
            <a:avLst/>
          </a:prstGeom>
        </p:spPr>
        <p:txBody>
          <a:bodyPr wrap="square">
            <a:spAutoFit/>
          </a:bodyPr>
          <a:lstStyle/>
          <a:p>
            <a:pPr>
              <a:lnSpc>
                <a:spcPts val="2600"/>
              </a:lnSpc>
            </a:pPr>
            <a:r>
              <a:rPr lang="en-US" b="1" dirty="0" smtClean="0">
                <a:latin typeface="Times New Roman" pitchFamily="18" charset="0"/>
                <a:cs typeface="Times New Roman" pitchFamily="18" charset="0"/>
              </a:rPr>
              <a:t>What is a vector?</a:t>
            </a:r>
          </a:p>
          <a:p>
            <a:pPr>
              <a:lnSpc>
                <a:spcPts val="2600"/>
              </a:lnSpc>
            </a:pPr>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vector is a matrix that has only one row or one column.  There are two types of vectors – row vectors and column vectors.</a:t>
            </a:r>
          </a:p>
        </p:txBody>
      </p:sp>
      <p:sp>
        <p:nvSpPr>
          <p:cNvPr id="89092" name="Rectangle 4"/>
          <p:cNvSpPr>
            <a:spLocks noChangeArrowheads="1"/>
          </p:cNvSpPr>
          <p:nvPr/>
        </p:nvSpPr>
        <p:spPr bwMode="auto">
          <a:xfrm>
            <a:off x="762000" y="3951776"/>
            <a:ext cx="5943600" cy="630918"/>
          </a:xfrm>
          <a:prstGeom prst="rect">
            <a:avLst/>
          </a:prstGeom>
          <a:noFill/>
          <a:ln w="9525">
            <a:noFill/>
            <a:miter lim="800000"/>
            <a:headEnd/>
            <a:tailEnd/>
          </a:ln>
          <a:effectLst/>
        </p:spPr>
        <p:txBody>
          <a:bodyPr vert="horz" wrap="square" lIns="0" tIns="0" rIns="0" bIns="76176"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cs typeface="Times New Roman" pitchFamily="18" charset="0"/>
              </a:rPr>
              <a:t>Column vector: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If a matrix [</a:t>
            </a:r>
            <a:r>
              <a:rPr kumimoji="0" lang="en-US"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a:t>
            </a:r>
            <a:r>
              <a:rPr kumimoji="0" lang="en-US" b="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has one column, it is called a column vector</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8909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9093" name="Object 5"/>
          <p:cNvGraphicFramePr>
            <a:graphicFrameLocks noChangeAspect="1"/>
          </p:cNvGraphicFramePr>
          <p:nvPr/>
        </p:nvGraphicFramePr>
        <p:xfrm>
          <a:off x="3733800" y="4637576"/>
          <a:ext cx="914400" cy="1240077"/>
        </p:xfrm>
        <a:graphic>
          <a:graphicData uri="http://schemas.openxmlformats.org/presentationml/2006/ole">
            <mc:AlternateContent xmlns:mc="http://schemas.openxmlformats.org/markup-compatibility/2006">
              <mc:Choice xmlns:v="urn:schemas-microsoft-com:vml" Requires="v">
                <p:oleObj spid="_x0000_s89103" name="Equation" r:id="rId5" imgW="698500" imgH="939800" progId="Equation.3">
                  <p:embed/>
                </p:oleObj>
              </mc:Choice>
              <mc:Fallback>
                <p:oleObj name="Equation" r:id="rId5" imgW="698500" imgH="9398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4637576"/>
                        <a:ext cx="914400" cy="12400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p:cNvSpPr/>
          <p:nvPr/>
        </p:nvSpPr>
        <p:spPr>
          <a:xfrm>
            <a:off x="685800" y="5943600"/>
            <a:ext cx="3583097" cy="369332"/>
          </a:xfrm>
          <a:prstGeom prst="rect">
            <a:avLst/>
          </a:prstGeom>
        </p:spPr>
        <p:txBody>
          <a:bodyPr wrap="none">
            <a:spAutoFit/>
          </a:bodyPr>
          <a:lstStyle/>
          <a:p>
            <a:r>
              <a:rPr lang="en-US" dirty="0">
                <a:latin typeface="Times New Roman" pitchFamily="18" charset="0"/>
                <a:cs typeface="Times New Roman" pitchFamily="18" charset="0"/>
              </a:rPr>
              <a:t>a</a:t>
            </a:r>
            <a:r>
              <a:rPr lang="en-US" dirty="0" smtClean="0">
                <a:latin typeface="Times New Roman" pitchFamily="18" charset="0"/>
                <a:cs typeface="Times New Roman" pitchFamily="18" charset="0"/>
              </a:rPr>
              <a:t>nd </a:t>
            </a:r>
            <a:r>
              <a:rPr lang="en-US" i="1" dirty="0" smtClean="0">
                <a:latin typeface="Times New Roman" pitchFamily="18" charset="0"/>
                <a:cs typeface="Times New Roman" pitchFamily="18" charset="0"/>
              </a:rPr>
              <a:t>m </a:t>
            </a:r>
            <a:r>
              <a:rPr lang="en-US" dirty="0" smtClean="0">
                <a:latin typeface="Times New Roman" pitchFamily="18" charset="0"/>
                <a:cs typeface="Times New Roman" pitchFamily="18" charset="0"/>
              </a:rPr>
              <a:t>is </a:t>
            </a:r>
            <a:r>
              <a:rPr lang="en-US" dirty="0">
                <a:latin typeface="Times New Roman" pitchFamily="18" charset="0"/>
                <a:cs typeface="Times New Roman" pitchFamily="18" charset="0"/>
              </a:rPr>
              <a:t>the dimension of the vector.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Row Vector</a:t>
            </a:r>
            <a:endParaRPr lang="en-US" dirty="0"/>
          </a:p>
        </p:txBody>
      </p:sp>
      <p:sp>
        <p:nvSpPr>
          <p:cNvPr id="4" name="TextBox 3"/>
          <p:cNvSpPr txBox="1"/>
          <p:nvPr/>
        </p:nvSpPr>
        <p:spPr>
          <a:xfrm>
            <a:off x="769257" y="2209800"/>
            <a:ext cx="59436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An example of a row vector is as follows,</a:t>
            </a:r>
            <a:endParaRPr lang="en-US" dirty="0">
              <a:latin typeface="Times New Roman" pitchFamily="18" charset="0"/>
              <a:cs typeface="Times New Roman" pitchFamily="18" charset="0"/>
            </a:endParaRPr>
          </a:p>
        </p:txBody>
      </p:sp>
      <p:graphicFrame>
        <p:nvGraphicFramePr>
          <p:cNvPr id="5" name="Object 1"/>
          <p:cNvGraphicFramePr>
            <a:graphicFrameLocks noChangeAspect="1"/>
          </p:cNvGraphicFramePr>
          <p:nvPr/>
        </p:nvGraphicFramePr>
        <p:xfrm>
          <a:off x="1828801" y="2948464"/>
          <a:ext cx="4114799" cy="604271"/>
        </p:xfrm>
        <a:graphic>
          <a:graphicData uri="http://schemas.openxmlformats.org/presentationml/2006/ole">
            <mc:AlternateContent xmlns:mc="http://schemas.openxmlformats.org/markup-compatibility/2006">
              <mc:Choice xmlns:v="urn:schemas-microsoft-com:vml" Requires="v">
                <p:oleObj spid="_x0000_s90119" name="Equation" r:id="rId3" imgW="1358310" imgH="203112" progId="Equation.3">
                  <p:embed/>
                </p:oleObj>
              </mc:Choice>
              <mc:Fallback>
                <p:oleObj name="Equation" r:id="rId3" imgW="1358310" imgH="203112"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1" y="2948464"/>
                        <a:ext cx="4114799" cy="604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685800" y="3786664"/>
            <a:ext cx="5486400" cy="369332"/>
          </a:xfrm>
          <a:prstGeom prst="rect">
            <a:avLst/>
          </a:prstGeom>
        </p:spPr>
        <p:txBody>
          <a:bodyPr wrap="square">
            <a:spAutoFit/>
          </a:bodyPr>
          <a:lstStyle/>
          <a:p>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B</a:t>
            </a:r>
            <a:r>
              <a:rPr lang="en-US" dirty="0" smtClean="0">
                <a:latin typeface="Times New Roman" pitchFamily="18" charset="0"/>
                <a:cs typeface="Times New Roman" pitchFamily="18" charset="0"/>
              </a:rPr>
              <a:t>] is </a:t>
            </a:r>
            <a:r>
              <a:rPr lang="en-US" dirty="0">
                <a:latin typeface="Times New Roman" pitchFamily="18" charset="0"/>
                <a:cs typeface="Times New Roman" pitchFamily="18" charset="0"/>
              </a:rPr>
              <a:t>an example of a row vector of dimension 5.</a:t>
            </a:r>
          </a:p>
        </p:txBody>
      </p:sp>
      <p:sp>
        <p:nvSpPr>
          <p:cNvPr id="7" name="TextBox 6"/>
          <p:cNvSpPr txBox="1"/>
          <p:nvPr/>
        </p:nvSpPr>
        <p:spPr>
          <a:xfrm>
            <a:off x="762000" y="1752600"/>
            <a:ext cx="19050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Example 1</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Column Vector</a:t>
            </a:r>
            <a:endParaRPr lang="en-US" dirty="0"/>
          </a:p>
        </p:txBody>
      </p:sp>
      <p:sp>
        <p:nvSpPr>
          <p:cNvPr id="5" name="TextBox 4"/>
          <p:cNvSpPr txBox="1"/>
          <p:nvPr/>
        </p:nvSpPr>
        <p:spPr>
          <a:xfrm>
            <a:off x="762000" y="2221468"/>
            <a:ext cx="59436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An example of a column vector is as follows,</a:t>
            </a:r>
            <a:endParaRPr lang="en-US" dirty="0">
              <a:latin typeface="Times New Roman" pitchFamily="18" charset="0"/>
              <a:cs typeface="Times New Roman" pitchFamily="18" charset="0"/>
            </a:endParaRPr>
          </a:p>
        </p:txBody>
      </p:sp>
      <p:sp>
        <p:nvSpPr>
          <p:cNvPr id="911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1137" name="Object 1"/>
          <p:cNvGraphicFramePr>
            <a:graphicFrameLocks noChangeAspect="1"/>
          </p:cNvGraphicFramePr>
          <p:nvPr/>
        </p:nvGraphicFramePr>
        <p:xfrm>
          <a:off x="2846388" y="2657475"/>
          <a:ext cx="1392237" cy="2139950"/>
        </p:xfrm>
        <a:graphic>
          <a:graphicData uri="http://schemas.openxmlformats.org/presentationml/2006/ole">
            <mc:AlternateContent xmlns:mc="http://schemas.openxmlformats.org/markup-compatibility/2006">
              <mc:Choice xmlns:v="urn:schemas-microsoft-com:vml" Requires="v">
                <p:oleObj spid="_x0000_s91142" name="Equation" r:id="rId3" imgW="596880" imgH="914400" progId="Equation.3">
                  <p:embed/>
                </p:oleObj>
              </mc:Choice>
              <mc:Fallback>
                <p:oleObj name="Equation" r:id="rId3" imgW="596880" imgH="914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6388" y="2657475"/>
                        <a:ext cx="1392237" cy="213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p:nvSpPr>
        <p:spPr>
          <a:xfrm>
            <a:off x="838200" y="5040868"/>
            <a:ext cx="5486400" cy="369332"/>
          </a:xfrm>
          <a:prstGeom prst="rect">
            <a:avLst/>
          </a:prstGeom>
        </p:spPr>
        <p:txBody>
          <a:bodyPr wrap="square">
            <a:spAutoFit/>
          </a:bodyPr>
          <a:lstStyle/>
          <a:p>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C</a:t>
            </a:r>
            <a:r>
              <a:rPr lang="en-US" dirty="0" smtClean="0">
                <a:latin typeface="Times New Roman" pitchFamily="18" charset="0"/>
                <a:cs typeface="Times New Roman" pitchFamily="18" charset="0"/>
              </a:rPr>
              <a:t>] is </a:t>
            </a:r>
            <a:r>
              <a:rPr lang="en-US" dirty="0">
                <a:latin typeface="Times New Roman" pitchFamily="18" charset="0"/>
                <a:cs typeface="Times New Roman" pitchFamily="18" charset="0"/>
              </a:rPr>
              <a:t>an example of a </a:t>
            </a:r>
            <a:r>
              <a:rPr lang="en-US" dirty="0" smtClean="0">
                <a:latin typeface="Times New Roman" pitchFamily="18" charset="0"/>
                <a:cs typeface="Times New Roman" pitchFamily="18" charset="0"/>
              </a:rPr>
              <a:t>column </a:t>
            </a:r>
            <a:r>
              <a:rPr lang="en-US" dirty="0">
                <a:latin typeface="Times New Roman" pitchFamily="18" charset="0"/>
                <a:cs typeface="Times New Roman" pitchFamily="18" charset="0"/>
              </a:rPr>
              <a:t>vector of dimension </a:t>
            </a:r>
            <a:r>
              <a:rPr lang="en-US" dirty="0" smtClean="0">
                <a:latin typeface="Times New Roman" pitchFamily="18" charset="0"/>
                <a:cs typeface="Times New Roman" pitchFamily="18" charset="0"/>
              </a:rPr>
              <a:t>4.</a:t>
            </a:r>
            <a:endParaRPr lang="en-US" dirty="0">
              <a:latin typeface="Times New Roman" pitchFamily="18" charset="0"/>
              <a:cs typeface="Times New Roman" pitchFamily="18" charset="0"/>
            </a:endParaRPr>
          </a:p>
        </p:txBody>
      </p:sp>
      <p:sp>
        <p:nvSpPr>
          <p:cNvPr id="9" name="TextBox 8"/>
          <p:cNvSpPr txBox="1"/>
          <p:nvPr/>
        </p:nvSpPr>
        <p:spPr>
          <a:xfrm>
            <a:off x="762000" y="1752600"/>
            <a:ext cx="19050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Example 2</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Submatrix</a:t>
            </a:r>
            <a:endParaRPr lang="en-US" dirty="0"/>
          </a:p>
        </p:txBody>
      </p:sp>
      <p:sp>
        <p:nvSpPr>
          <p:cNvPr id="4" name="Rectangle 3"/>
          <p:cNvSpPr/>
          <p:nvPr/>
        </p:nvSpPr>
        <p:spPr>
          <a:xfrm>
            <a:off x="685800" y="1828800"/>
            <a:ext cx="7924800" cy="923330"/>
          </a:xfrm>
          <a:prstGeom prst="rect">
            <a:avLst/>
          </a:prstGeom>
        </p:spPr>
        <p:txBody>
          <a:bodyPr wrap="square">
            <a:spAutoFit/>
          </a:bodyPr>
          <a:lstStyle/>
          <a:p>
            <a:pPr>
              <a:lnSpc>
                <a:spcPct val="150000"/>
              </a:lnSpc>
            </a:pPr>
            <a:r>
              <a:rPr lang="en-US" dirty="0">
                <a:latin typeface="Times New Roman" pitchFamily="18" charset="0"/>
                <a:cs typeface="Times New Roman" pitchFamily="18" charset="0"/>
              </a:rPr>
              <a:t>If some row(s) or/and column(s) of a </a:t>
            </a:r>
            <a:r>
              <a:rPr lang="en-US" dirty="0" smtClean="0">
                <a:latin typeface="Times New Roman" pitchFamily="18" charset="0"/>
                <a:cs typeface="Times New Roman" pitchFamily="18" charset="0"/>
              </a:rPr>
              <a:t>matrix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are deleted (no rows or columns may be deleted), the remaining matrix is called a </a:t>
            </a:r>
            <a:r>
              <a:rPr lang="en-US" dirty="0" err="1" smtClean="0">
                <a:latin typeface="Times New Roman" pitchFamily="18" charset="0"/>
                <a:cs typeface="Times New Roman" pitchFamily="18" charset="0"/>
              </a:rPr>
              <a:t>submatrix</a:t>
            </a:r>
            <a:r>
              <a:rPr lang="en-US" dirty="0" smtClean="0">
                <a:latin typeface="Times New Roman" pitchFamily="18" charset="0"/>
                <a:cs typeface="Times New Roman" pitchFamily="18" charset="0"/>
              </a:rPr>
              <a:t> of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6" name="TextBox 5"/>
          <p:cNvSpPr txBox="1"/>
          <p:nvPr/>
        </p:nvSpPr>
        <p:spPr>
          <a:xfrm>
            <a:off x="685800" y="3516868"/>
            <a:ext cx="19050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Example 3</a:t>
            </a:r>
            <a:endParaRPr lang="en-US" b="1" dirty="0">
              <a:latin typeface="Times New Roman" pitchFamily="18" charset="0"/>
              <a:cs typeface="Times New Roman" pitchFamily="18" charset="0"/>
            </a:endParaRPr>
          </a:p>
        </p:txBody>
      </p:sp>
      <p:sp>
        <p:nvSpPr>
          <p:cNvPr id="7" name="Rectangle 6"/>
          <p:cNvSpPr/>
          <p:nvPr/>
        </p:nvSpPr>
        <p:spPr>
          <a:xfrm>
            <a:off x="685800" y="3974068"/>
            <a:ext cx="4153701" cy="369332"/>
          </a:xfrm>
          <a:prstGeom prst="rect">
            <a:avLst/>
          </a:prstGeom>
        </p:spPr>
        <p:txBody>
          <a:bodyPr wrap="none">
            <a:spAutoFit/>
          </a:bodyPr>
          <a:lstStyle/>
          <a:p>
            <a:r>
              <a:rPr lang="en-US" dirty="0">
                <a:latin typeface="Times New Roman" pitchFamily="18" charset="0"/>
                <a:cs typeface="Times New Roman" pitchFamily="18" charset="0"/>
              </a:rPr>
              <a:t>Find some of the </a:t>
            </a:r>
            <a:r>
              <a:rPr lang="en-US" dirty="0" err="1">
                <a:latin typeface="Times New Roman" pitchFamily="18" charset="0"/>
                <a:cs typeface="Times New Roman" pitchFamily="18" charset="0"/>
              </a:rPr>
              <a:t>submatrices</a:t>
            </a:r>
            <a:r>
              <a:rPr lang="en-US" dirty="0">
                <a:latin typeface="Times New Roman" pitchFamily="18" charset="0"/>
                <a:cs typeface="Times New Roman" pitchFamily="18" charset="0"/>
              </a:rPr>
              <a:t> of the matrix</a:t>
            </a:r>
          </a:p>
        </p:txBody>
      </p:sp>
      <p:sp>
        <p:nvSpPr>
          <p:cNvPr id="921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2161" name="Object 1"/>
          <p:cNvGraphicFramePr>
            <a:graphicFrameLocks noChangeAspect="1"/>
          </p:cNvGraphicFramePr>
          <p:nvPr/>
        </p:nvGraphicFramePr>
        <p:xfrm>
          <a:off x="2590800" y="4800600"/>
          <a:ext cx="2455863" cy="990600"/>
        </p:xfrm>
        <a:graphic>
          <a:graphicData uri="http://schemas.openxmlformats.org/presentationml/2006/ole">
            <mc:AlternateContent xmlns:mc="http://schemas.openxmlformats.org/markup-compatibility/2006">
              <mc:Choice xmlns:v="urn:schemas-microsoft-com:vml" Requires="v">
                <p:oleObj spid="_x0000_s92166" name="Equation" r:id="rId3" imgW="1130300" imgH="457200" progId="Equation.3">
                  <p:embed/>
                </p:oleObj>
              </mc:Choice>
              <mc:Fallback>
                <p:oleObj name="Equation" r:id="rId3" imgW="1130300" imgH="4572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800600"/>
                        <a:ext cx="2455863"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Square Matrix</a:t>
            </a:r>
            <a:endParaRPr lang="en-US" dirty="0"/>
          </a:p>
        </p:txBody>
      </p:sp>
      <p:sp>
        <p:nvSpPr>
          <p:cNvPr id="4" name="Rectangle 3"/>
          <p:cNvSpPr/>
          <p:nvPr/>
        </p:nvSpPr>
        <p:spPr>
          <a:xfrm>
            <a:off x="762000" y="1905000"/>
            <a:ext cx="7620000" cy="2169825"/>
          </a:xfrm>
          <a:prstGeom prst="rect">
            <a:avLst/>
          </a:prstGeom>
        </p:spPr>
        <p:txBody>
          <a:bodyPr wrap="square">
            <a:spAutoFit/>
          </a:bodyPr>
          <a:lstStyle/>
          <a:p>
            <a:pPr>
              <a:lnSpc>
                <a:spcPct val="150000"/>
              </a:lnSpc>
            </a:pPr>
            <a:r>
              <a:rPr lang="en-US" dirty="0">
                <a:latin typeface="Times New Roman" pitchFamily="18" charset="0"/>
                <a:cs typeface="Times New Roman" pitchFamily="18" charset="0"/>
              </a:rPr>
              <a:t>If the number of </a:t>
            </a:r>
            <a:r>
              <a:rPr lang="en-US" dirty="0" smtClean="0">
                <a:latin typeface="Times New Roman" pitchFamily="18" charset="0"/>
                <a:cs typeface="Times New Roman" pitchFamily="18" charset="0"/>
              </a:rPr>
              <a:t>rows </a:t>
            </a:r>
            <a:r>
              <a:rPr lang="en-US" i="1" dirty="0" smtClean="0">
                <a:latin typeface="Times New Roman" pitchFamily="18" charset="0"/>
                <a:cs typeface="Times New Roman" pitchFamily="18" charset="0"/>
              </a:rPr>
              <a:t>m </a:t>
            </a:r>
            <a:r>
              <a:rPr lang="en-US" dirty="0">
                <a:latin typeface="Times New Roman" pitchFamily="18" charset="0"/>
                <a:cs typeface="Times New Roman" pitchFamily="18" charset="0"/>
              </a:rPr>
              <a:t>a matrix is equal to the number of </a:t>
            </a:r>
            <a:r>
              <a:rPr lang="en-US" dirty="0" smtClean="0">
                <a:latin typeface="Times New Roman" pitchFamily="18" charset="0"/>
                <a:cs typeface="Times New Roman" pitchFamily="18" charset="0"/>
              </a:rPr>
              <a:t>columns </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of a matrix </a:t>
            </a:r>
            <a:r>
              <a:rPr lang="en-US" dirty="0" smtClean="0">
                <a:latin typeface="Times New Roman" pitchFamily="18" charset="0"/>
                <a:cs typeface="Times New Roman" pitchFamily="18" charset="0"/>
              </a:rPr>
              <a:t>[</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a:t>
            </a:r>
            <a:r>
              <a:rPr lang="en-US" i="1" dirty="0" smtClean="0">
                <a:latin typeface="Times New Roman" pitchFamily="18" charset="0"/>
                <a:cs typeface="Times New Roman" pitchFamily="18" charset="0"/>
              </a:rPr>
              <a:t>m=n), </a:t>
            </a:r>
            <a:r>
              <a:rPr lang="en-US" dirty="0" smtClean="0">
                <a:latin typeface="Times New Roman" pitchFamily="18" charset="0"/>
                <a:cs typeface="Times New Roman" pitchFamily="18" charset="0"/>
              </a:rPr>
              <a:t>then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is called a square matrix. The entries </a:t>
            </a:r>
            <a:r>
              <a:rPr lang="en-US" i="1" dirty="0" smtClean="0">
                <a:latin typeface="Times New Roman" pitchFamily="18" charset="0"/>
                <a:cs typeface="Times New Roman" pitchFamily="18" charset="0"/>
              </a:rPr>
              <a:t>a</a:t>
            </a:r>
            <a:r>
              <a:rPr lang="en-US" i="1" baseline="-25000" dirty="0" smtClean="0">
                <a:latin typeface="Times New Roman" pitchFamily="18" charset="0"/>
                <a:cs typeface="Times New Roman" pitchFamily="18" charset="0"/>
              </a:rPr>
              <a:t>11</a:t>
            </a:r>
            <a:r>
              <a:rPr lang="en-US" i="1" dirty="0" smtClean="0">
                <a:latin typeface="Times New Roman" pitchFamily="18" charset="0"/>
                <a:cs typeface="Times New Roman" pitchFamily="18" charset="0"/>
              </a:rPr>
              <a:t>,a</a:t>
            </a:r>
            <a:r>
              <a:rPr lang="en-US" i="1" baseline="-25000" dirty="0" smtClean="0">
                <a:latin typeface="Times New Roman" pitchFamily="18" charset="0"/>
                <a:cs typeface="Times New Roman" pitchFamily="18" charset="0"/>
              </a:rPr>
              <a:t>22</a:t>
            </a:r>
            <a:r>
              <a:rPr lang="en-US" i="1" dirty="0" smtClean="0">
                <a:latin typeface="Times New Roman" pitchFamily="18" charset="0"/>
                <a:cs typeface="Times New Roman" pitchFamily="18" charset="0"/>
              </a:rPr>
              <a:t>,…, </a:t>
            </a:r>
            <a:r>
              <a:rPr lang="en-US" i="1" dirty="0" err="1" smtClean="0">
                <a:latin typeface="Times New Roman" pitchFamily="18" charset="0"/>
                <a:cs typeface="Times New Roman" pitchFamily="18" charset="0"/>
              </a:rPr>
              <a:t>a</a:t>
            </a:r>
            <a:r>
              <a:rPr lang="en-US" i="1" baseline="-25000" dirty="0" err="1" smtClean="0">
                <a:latin typeface="Times New Roman" pitchFamily="18" charset="0"/>
                <a:cs typeface="Times New Roman" pitchFamily="18" charset="0"/>
              </a:rPr>
              <a:t>nn</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are called the </a:t>
            </a:r>
            <a:r>
              <a:rPr lang="en-US" i="1" dirty="0" smtClean="0">
                <a:latin typeface="Times New Roman" pitchFamily="18" charset="0"/>
                <a:cs typeface="Times New Roman" pitchFamily="18" charset="0"/>
              </a:rPr>
              <a:t>diagonal elements</a:t>
            </a:r>
            <a:r>
              <a:rPr lang="en-US" dirty="0" smtClean="0">
                <a:latin typeface="Times New Roman" pitchFamily="18" charset="0"/>
                <a:cs typeface="Times New Roman" pitchFamily="18" charset="0"/>
              </a:rPr>
              <a:t> of a square matrix. Sometimes the diagonal elements of the matrix is also called the </a:t>
            </a:r>
            <a:r>
              <a:rPr lang="en-US" i="1" dirty="0" smtClean="0">
                <a:latin typeface="Times New Roman" pitchFamily="18" charset="0"/>
                <a:cs typeface="Times New Roman" pitchFamily="18" charset="0"/>
              </a:rPr>
              <a:t>principal or main diagonal elements of the matrix</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4</a:t>
            </a:r>
            <a:endParaRPr lang="en-US" dirty="0"/>
          </a:p>
        </p:txBody>
      </p:sp>
      <p:sp>
        <p:nvSpPr>
          <p:cNvPr id="4" name="Rectangle 3"/>
          <p:cNvSpPr/>
          <p:nvPr/>
        </p:nvSpPr>
        <p:spPr>
          <a:xfrm>
            <a:off x="609600" y="1828800"/>
            <a:ext cx="3538148" cy="369332"/>
          </a:xfrm>
          <a:prstGeom prst="rect">
            <a:avLst/>
          </a:prstGeom>
        </p:spPr>
        <p:txBody>
          <a:bodyPr wrap="none">
            <a:spAutoFit/>
          </a:bodyPr>
          <a:lstStyle/>
          <a:p>
            <a:r>
              <a:rPr lang="en-US" dirty="0">
                <a:latin typeface="Times New Roman" pitchFamily="18" charset="0"/>
                <a:cs typeface="Times New Roman" pitchFamily="18" charset="0"/>
              </a:rPr>
              <a:t>Give an example of a square matrix.</a:t>
            </a:r>
          </a:p>
        </p:txBody>
      </p:sp>
      <p:sp>
        <p:nvSpPr>
          <p:cNvPr id="9318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3185" name="Object 1"/>
          <p:cNvGraphicFramePr>
            <a:graphicFrameLocks noChangeAspect="1"/>
          </p:cNvGraphicFramePr>
          <p:nvPr/>
        </p:nvGraphicFramePr>
        <p:xfrm>
          <a:off x="1600200" y="2514600"/>
          <a:ext cx="2286000" cy="1298864"/>
        </p:xfrm>
        <a:graphic>
          <a:graphicData uri="http://schemas.openxmlformats.org/presentationml/2006/ole">
            <mc:AlternateContent xmlns:mc="http://schemas.openxmlformats.org/markup-compatibility/2006">
              <mc:Choice xmlns:v="urn:schemas-microsoft-com:vml" Requires="v">
                <p:oleObj spid="_x0000_s93197" name="Equation" r:id="rId3" imgW="1257300" imgH="711200" progId="Equation.3">
                  <p:embed/>
                </p:oleObj>
              </mc:Choice>
              <mc:Fallback>
                <p:oleObj name="Equation" r:id="rId3" imgW="1257300" imgH="71120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514600"/>
                        <a:ext cx="2286000" cy="12988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187" name="Rectangle 3"/>
          <p:cNvSpPr>
            <a:spLocks noChangeArrowheads="1"/>
          </p:cNvSpPr>
          <p:nvPr/>
        </p:nvSpPr>
        <p:spPr bwMode="auto">
          <a:xfrm>
            <a:off x="609600" y="4155628"/>
            <a:ext cx="7162800" cy="87357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is a square matrix as it has the same number of rows and columns, that is, 3.  The diagonal elements of [</a:t>
            </a:r>
            <a:r>
              <a:rPr kumimoji="0" lang="en-US" b="0" i="1"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a:t>
            </a:r>
            <a:r>
              <a:rPr kumimoji="0" lang="en-US" b="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are 		</a:t>
            </a:r>
            <a:r>
              <a:rPr kumimoji="0" lang="en-US" b="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            .</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9318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3188" name="Object 4"/>
          <p:cNvGraphicFramePr>
            <a:graphicFrameLocks noChangeAspect="1"/>
          </p:cNvGraphicFramePr>
          <p:nvPr/>
        </p:nvGraphicFramePr>
        <p:xfrm>
          <a:off x="3771900" y="4686979"/>
          <a:ext cx="2171700" cy="304800"/>
        </p:xfrm>
        <a:graphic>
          <a:graphicData uri="http://schemas.openxmlformats.org/presentationml/2006/ole">
            <mc:AlternateContent xmlns:mc="http://schemas.openxmlformats.org/markup-compatibility/2006">
              <mc:Choice xmlns:v="urn:schemas-microsoft-com:vml" Requires="v">
                <p:oleObj spid="_x0000_s93198" name="Equation" r:id="rId5" imgW="1625600" imgH="228600" progId="Equation.3">
                  <p:embed/>
                </p:oleObj>
              </mc:Choice>
              <mc:Fallback>
                <p:oleObj name="Equation" r:id="rId5" imgW="1625600" imgH="22860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1900" y="4686979"/>
                        <a:ext cx="2171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Upper Triangular Matrix</a:t>
            </a:r>
            <a:endParaRPr lang="en-US" dirty="0"/>
          </a:p>
        </p:txBody>
      </p:sp>
      <p:sp>
        <p:nvSpPr>
          <p:cNvPr id="4" name="TextBox 3"/>
          <p:cNvSpPr txBox="1"/>
          <p:nvPr/>
        </p:nvSpPr>
        <p:spPr>
          <a:xfrm>
            <a:off x="762000" y="2057400"/>
            <a:ext cx="28194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 </a:t>
            </a:r>
            <a:r>
              <a:rPr lang="en-US" i="1" dirty="0" err="1" smtClean="0">
                <a:latin typeface="Times New Roman" pitchFamily="18" charset="0"/>
                <a:cs typeface="Times New Roman" pitchFamily="18" charset="0"/>
              </a:rPr>
              <a:t>m×n</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matrix for which </a:t>
            </a:r>
            <a:endParaRPr lang="en-US" dirty="0">
              <a:latin typeface="Times New Roman" pitchFamily="18" charset="0"/>
              <a:cs typeface="Times New Roman" pitchFamily="18" charset="0"/>
            </a:endParaRPr>
          </a:p>
        </p:txBody>
      </p:sp>
      <p:sp>
        <p:nvSpPr>
          <p:cNvPr id="952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5233" name="Object 1"/>
          <p:cNvGraphicFramePr>
            <a:graphicFrameLocks noChangeAspect="1"/>
          </p:cNvGraphicFramePr>
          <p:nvPr/>
        </p:nvGraphicFramePr>
        <p:xfrm>
          <a:off x="3200400" y="2057400"/>
          <a:ext cx="1066800" cy="381000"/>
        </p:xfrm>
        <a:graphic>
          <a:graphicData uri="http://schemas.openxmlformats.org/presentationml/2006/ole">
            <mc:AlternateContent xmlns:mc="http://schemas.openxmlformats.org/markup-compatibility/2006">
              <mc:Choice xmlns:v="urn:schemas-microsoft-com:vml" Requires="v">
                <p:oleObj spid="_x0000_s95245" name="Equation" r:id="rId3" imgW="799753" imgH="241195" progId="Equation.3">
                  <p:embed/>
                </p:oleObj>
              </mc:Choice>
              <mc:Fallback>
                <p:oleObj name="Equation" r:id="rId3" imgW="799753" imgH="241195"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057400"/>
                        <a:ext cx="10668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235" name="Rectangle 3"/>
          <p:cNvSpPr>
            <a:spLocks noChangeArrowheads="1"/>
          </p:cNvSpPr>
          <p:nvPr/>
        </p:nvSpPr>
        <p:spPr bwMode="auto">
          <a:xfrm>
            <a:off x="762000" y="2057400"/>
            <a:ext cx="78486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lang="en-US" dirty="0">
                <a:latin typeface="Times New Roman" pitchFamily="18" charset="0"/>
                <a:ea typeface="Times New Roman" pitchFamily="18" charset="0"/>
                <a:cs typeface="Times New Roman" pitchFamily="18" charset="0"/>
              </a:rPr>
              <a:t> </a:t>
            </a:r>
            <a:r>
              <a:rPr lang="en-US" dirty="0" smtClean="0">
                <a:latin typeface="Times New Roman" pitchFamily="18" charset="0"/>
                <a:ea typeface="Times New Roman" pitchFamily="18" charset="0"/>
                <a:cs typeface="Times New Roman" pitchFamily="18" charset="0"/>
              </a:rPr>
              <a:t>                          </a:t>
            </a:r>
            <a:r>
              <a:rPr kumimoji="0" lang="en-US" b="0" i="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is called an upper triangular matrix.  That is, all the elements below the d</a:t>
            </a:r>
            <a:r>
              <a:rPr kumimoji="0" lang="en-US" b="0" i="0" u="none" strike="noStrike" cap="none" normalizeH="0" baseline="0" dirty="0" smtClean="0" bmk="">
                <a:ln>
                  <a:noFill/>
                </a:ln>
                <a:solidFill>
                  <a:schemeClr val="tx1"/>
                </a:solidFill>
                <a:effectLst/>
                <a:latin typeface="Times New Roman" pitchFamily="18" charset="0"/>
                <a:ea typeface="Times New Roman" pitchFamily="18" charset="0"/>
                <a:cs typeface="Times New Roman" pitchFamily="18" charset="0"/>
              </a:rPr>
              <a:t>iagonal</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entries are zero.</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8" name="Rectangle 7"/>
          <p:cNvSpPr/>
          <p:nvPr/>
        </p:nvSpPr>
        <p:spPr>
          <a:xfrm>
            <a:off x="762000" y="3048000"/>
            <a:ext cx="1229824" cy="369332"/>
          </a:xfrm>
          <a:prstGeom prst="rect">
            <a:avLst/>
          </a:prstGeom>
        </p:spPr>
        <p:txBody>
          <a:bodyPr wrap="none">
            <a:spAutoFit/>
          </a:bodyPr>
          <a:lstStyle/>
          <a:p>
            <a:r>
              <a:rPr lang="en-US" b="1" dirty="0">
                <a:latin typeface="Times New Roman" pitchFamily="18" charset="0"/>
                <a:cs typeface="Times New Roman" pitchFamily="18" charset="0"/>
              </a:rPr>
              <a:t>Example 5</a:t>
            </a:r>
          </a:p>
        </p:txBody>
      </p:sp>
      <p:sp>
        <p:nvSpPr>
          <p:cNvPr id="9" name="Rectangle 8"/>
          <p:cNvSpPr/>
          <p:nvPr/>
        </p:nvSpPr>
        <p:spPr>
          <a:xfrm>
            <a:off x="762000" y="3429000"/>
            <a:ext cx="7086600" cy="369332"/>
          </a:xfrm>
          <a:prstGeom prst="rect">
            <a:avLst/>
          </a:prstGeom>
        </p:spPr>
        <p:txBody>
          <a:bodyPr wrap="square">
            <a:spAutoFit/>
          </a:bodyPr>
          <a:lstStyle/>
          <a:p>
            <a:r>
              <a:rPr lang="en-US" dirty="0">
                <a:latin typeface="Times New Roman" pitchFamily="18" charset="0"/>
                <a:cs typeface="Times New Roman" pitchFamily="18" charset="0"/>
              </a:rPr>
              <a:t>Give an example of an upper triangular </a:t>
            </a:r>
            <a:r>
              <a:rPr lang="en-US" dirty="0" smtClean="0">
                <a:latin typeface="Times New Roman" pitchFamily="18" charset="0"/>
                <a:cs typeface="Times New Roman" pitchFamily="18" charset="0"/>
              </a:rPr>
              <a:t>matrix.</a:t>
            </a:r>
            <a:endParaRPr lang="en-US" dirty="0">
              <a:latin typeface="Times New Roman" pitchFamily="18" charset="0"/>
              <a:cs typeface="Times New Roman" pitchFamily="18" charset="0"/>
            </a:endParaRPr>
          </a:p>
        </p:txBody>
      </p:sp>
      <p:sp>
        <p:nvSpPr>
          <p:cNvPr id="9523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5236" name="Object 4"/>
          <p:cNvGraphicFramePr>
            <a:graphicFrameLocks noChangeAspect="1"/>
          </p:cNvGraphicFramePr>
          <p:nvPr/>
        </p:nvGraphicFramePr>
        <p:xfrm>
          <a:off x="2057400" y="4077528"/>
          <a:ext cx="2895600" cy="1180272"/>
        </p:xfrm>
        <a:graphic>
          <a:graphicData uri="http://schemas.openxmlformats.org/presentationml/2006/ole">
            <mc:AlternateContent xmlns:mc="http://schemas.openxmlformats.org/markup-compatibility/2006">
              <mc:Choice xmlns:v="urn:schemas-microsoft-com:vml" Requires="v">
                <p:oleObj spid="_x0000_s95246" name="Equation" r:id="rId5" imgW="1752600" imgH="711200" progId="Equation.3">
                  <p:embed/>
                </p:oleObj>
              </mc:Choice>
              <mc:Fallback>
                <p:oleObj name="Equation" r:id="rId5" imgW="1752600" imgH="71120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077528"/>
                        <a:ext cx="2895600" cy="1180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11"/>
          <p:cNvSpPr/>
          <p:nvPr/>
        </p:nvSpPr>
        <p:spPr>
          <a:xfrm>
            <a:off x="838200" y="5486400"/>
            <a:ext cx="2871299" cy="369332"/>
          </a:xfrm>
          <a:prstGeom prst="rect">
            <a:avLst/>
          </a:prstGeom>
        </p:spPr>
        <p:txBody>
          <a:bodyPr wrap="none">
            <a:spAutoFit/>
          </a:bodyPr>
          <a:lstStyle/>
          <a:p>
            <a:r>
              <a:rPr lang="en-US" dirty="0">
                <a:latin typeface="Times New Roman" pitchFamily="18" charset="0"/>
                <a:cs typeface="Times New Roman" pitchFamily="18" charset="0"/>
              </a:rPr>
              <a:t>is an upper triangular matrix.</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Lower Triangular Matrix</a:t>
            </a:r>
            <a:endParaRPr lang="en-US" dirty="0"/>
          </a:p>
        </p:txBody>
      </p:sp>
      <p:sp>
        <p:nvSpPr>
          <p:cNvPr id="5" name="TextBox 4"/>
          <p:cNvSpPr txBox="1"/>
          <p:nvPr/>
        </p:nvSpPr>
        <p:spPr>
          <a:xfrm>
            <a:off x="762000" y="2057400"/>
            <a:ext cx="28194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 </a:t>
            </a:r>
            <a:r>
              <a:rPr lang="en-US" i="1" dirty="0" err="1" smtClean="0">
                <a:latin typeface="Times New Roman" pitchFamily="18" charset="0"/>
                <a:cs typeface="Times New Roman" pitchFamily="18" charset="0"/>
              </a:rPr>
              <a:t>m×n</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matrix for which </a:t>
            </a:r>
            <a:endParaRPr lang="en-US" dirty="0">
              <a:latin typeface="Times New Roman" pitchFamily="18" charset="0"/>
              <a:cs typeface="Times New Roman" pitchFamily="18" charset="0"/>
            </a:endParaRPr>
          </a:p>
        </p:txBody>
      </p:sp>
      <p:graphicFrame>
        <p:nvGraphicFramePr>
          <p:cNvPr id="6" name="Object 1"/>
          <p:cNvGraphicFramePr>
            <a:graphicFrameLocks noChangeAspect="1"/>
          </p:cNvGraphicFramePr>
          <p:nvPr/>
        </p:nvGraphicFramePr>
        <p:xfrm>
          <a:off x="3200400" y="2057400"/>
          <a:ext cx="1033463" cy="381000"/>
        </p:xfrm>
        <a:graphic>
          <a:graphicData uri="http://schemas.openxmlformats.org/presentationml/2006/ole">
            <mc:AlternateContent xmlns:mc="http://schemas.openxmlformats.org/markup-compatibility/2006">
              <mc:Choice xmlns:v="urn:schemas-microsoft-com:vml" Requires="v">
                <p:oleObj spid="_x0000_s96268" name="Equation" r:id="rId3" imgW="774364" imgH="241195" progId="Equation.3">
                  <p:embed/>
                </p:oleObj>
              </mc:Choice>
              <mc:Fallback>
                <p:oleObj name="Equation" r:id="rId3" imgW="774364" imgH="241195"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057400"/>
                        <a:ext cx="103346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3"/>
          <p:cNvSpPr>
            <a:spLocks noChangeArrowheads="1"/>
          </p:cNvSpPr>
          <p:nvPr/>
        </p:nvSpPr>
        <p:spPr bwMode="auto">
          <a:xfrm>
            <a:off x="762000" y="2057400"/>
            <a:ext cx="78486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lang="en-US" dirty="0">
                <a:latin typeface="Times New Roman" pitchFamily="18" charset="0"/>
                <a:ea typeface="Times New Roman" pitchFamily="18" charset="0"/>
                <a:cs typeface="Times New Roman" pitchFamily="18" charset="0"/>
              </a:rPr>
              <a:t> </a:t>
            </a:r>
            <a:r>
              <a:rPr lang="en-US" dirty="0" smtClean="0">
                <a:latin typeface="Times New Roman" pitchFamily="18" charset="0"/>
                <a:ea typeface="Times New Roman" pitchFamily="18" charset="0"/>
                <a:cs typeface="Times New Roman" pitchFamily="18" charset="0"/>
              </a:rPr>
              <a:t>                       </a:t>
            </a:r>
            <a:r>
              <a:rPr lang="en-US" dirty="0" smtClean="0">
                <a:latin typeface="Times New Roman" pitchFamily="18" charset="0"/>
                <a:ea typeface="Times New Roman" pitchFamily="18" charset="0"/>
                <a:cs typeface="Times New Roman" pitchFamily="18" charset="0"/>
              </a:rPr>
              <a:t>   </a:t>
            </a:r>
            <a:r>
              <a:rPr kumimoji="0" lang="en-US" b="0" i="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is called an lower triangular matrix.  That is, all the elements above the d</a:t>
            </a:r>
            <a:r>
              <a:rPr kumimoji="0" lang="en-US" b="0" i="0" u="none" strike="noStrike" cap="none" normalizeH="0" baseline="0" dirty="0" smtClean="0" bmk="">
                <a:ln>
                  <a:noFill/>
                </a:ln>
                <a:solidFill>
                  <a:schemeClr val="tx1"/>
                </a:solidFill>
                <a:effectLst/>
                <a:latin typeface="Times New Roman" pitchFamily="18" charset="0"/>
                <a:ea typeface="Times New Roman" pitchFamily="18" charset="0"/>
                <a:cs typeface="Times New Roman" pitchFamily="18" charset="0"/>
              </a:rPr>
              <a:t>iagonal</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entries are zero.</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8" name="Rectangle 7"/>
          <p:cNvSpPr/>
          <p:nvPr/>
        </p:nvSpPr>
        <p:spPr>
          <a:xfrm>
            <a:off x="762000" y="2971800"/>
            <a:ext cx="4572000" cy="873572"/>
          </a:xfrm>
          <a:prstGeom prst="rect">
            <a:avLst/>
          </a:prstGeom>
        </p:spPr>
        <p:txBody>
          <a:bodyPr>
            <a:spAutoFit/>
          </a:bodyPr>
          <a:lstStyle/>
          <a:p>
            <a:pPr>
              <a:lnSpc>
                <a:spcPct val="150000"/>
              </a:lnSpc>
            </a:pPr>
            <a:r>
              <a:rPr lang="en-US" b="1" dirty="0">
                <a:latin typeface="Times New Roman" pitchFamily="18" charset="0"/>
                <a:cs typeface="Times New Roman" pitchFamily="18" charset="0"/>
              </a:rPr>
              <a:t>Example 6 </a:t>
            </a:r>
          </a:p>
          <a:p>
            <a:pPr>
              <a:lnSpc>
                <a:spcPct val="150000"/>
              </a:lnSpc>
            </a:pPr>
            <a:r>
              <a:rPr lang="en-US" dirty="0">
                <a:latin typeface="Times New Roman" pitchFamily="18" charset="0"/>
                <a:cs typeface="Times New Roman" pitchFamily="18" charset="0"/>
              </a:rPr>
              <a:t>Give an example of a lower triangular matrix.</a:t>
            </a:r>
          </a:p>
        </p:txBody>
      </p:sp>
      <p:sp>
        <p:nvSpPr>
          <p:cNvPr id="962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6259" name="Object 3"/>
          <p:cNvGraphicFramePr>
            <a:graphicFrameLocks noChangeAspect="1"/>
          </p:cNvGraphicFramePr>
          <p:nvPr/>
        </p:nvGraphicFramePr>
        <p:xfrm>
          <a:off x="1905000" y="4038600"/>
          <a:ext cx="2057400" cy="1160188"/>
        </p:xfrm>
        <a:graphic>
          <a:graphicData uri="http://schemas.openxmlformats.org/presentationml/2006/ole">
            <mc:AlternateContent xmlns:mc="http://schemas.openxmlformats.org/markup-compatibility/2006">
              <mc:Choice xmlns:v="urn:schemas-microsoft-com:vml" Requires="v">
                <p:oleObj spid="_x0000_s96269" name="Equation" r:id="rId5" imgW="1269449" imgH="710891" progId="Equation.3">
                  <p:embed/>
                </p:oleObj>
              </mc:Choice>
              <mc:Fallback>
                <p:oleObj name="Equation" r:id="rId5" imgW="1269449" imgH="710891"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038600"/>
                        <a:ext cx="2057400" cy="1160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0"/>
          <p:cNvSpPr/>
          <p:nvPr/>
        </p:nvSpPr>
        <p:spPr>
          <a:xfrm>
            <a:off x="762000" y="5638800"/>
            <a:ext cx="2871299" cy="369332"/>
          </a:xfrm>
          <a:prstGeom prst="rect">
            <a:avLst/>
          </a:prstGeom>
        </p:spPr>
        <p:txBody>
          <a:bodyPr wrap="none">
            <a:spAutoFit/>
          </a:bodyPr>
          <a:lstStyle/>
          <a:p>
            <a:r>
              <a:rPr lang="en-US" dirty="0">
                <a:latin typeface="Times New Roman" pitchFamily="18" charset="0"/>
                <a:cs typeface="Times New Roman" pitchFamily="18" charset="0"/>
              </a:rPr>
              <a:t>is a lower triangular matrix.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Diagonal Matrix</a:t>
            </a:r>
            <a:endParaRPr lang="en-US" dirty="0"/>
          </a:p>
        </p:txBody>
      </p:sp>
      <p:sp>
        <p:nvSpPr>
          <p:cNvPr id="97281" name="Rectangle 1"/>
          <p:cNvSpPr>
            <a:spLocks noChangeArrowheads="1"/>
          </p:cNvSpPr>
          <p:nvPr/>
        </p:nvSpPr>
        <p:spPr bwMode="auto">
          <a:xfrm>
            <a:off x="838200" y="2319973"/>
            <a:ext cx="7467600" cy="12890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 s</a:t>
            </a:r>
            <a:r>
              <a:rPr kumimoji="0" lang="en-US" b="0" i="0" u="none" strike="noStrike" cap="none" normalizeH="0" baseline="0" dirty="0" smtClean="0" bmk="">
                <a:ln>
                  <a:noFill/>
                </a:ln>
                <a:solidFill>
                  <a:schemeClr val="tx1"/>
                </a:solidFill>
                <a:effectLst/>
                <a:latin typeface="Times New Roman" pitchFamily="18" charset="0"/>
                <a:ea typeface="Times New Roman" pitchFamily="18" charset="0"/>
                <a:cs typeface="Times New Roman" pitchFamily="18" charset="0"/>
              </a:rPr>
              <a:t>quare matrix</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with all non-diagonal elements equal to zero is called a diagonal matrix, that is, only the diagonal entries of the square matrix can be non-zero,</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r>
              <a:rPr kumimoji="0" lang="en-US" b="0" i="0" u="none" strike="noStrike" cap="none" normalizeH="0" dirty="0" smtClean="0">
                <a:ln>
                  <a:noFill/>
                </a:ln>
                <a:solidFill>
                  <a:schemeClr val="tx1"/>
                </a:solidFill>
                <a:effectLst/>
                <a:latin typeface="Times New Roman" pitchFamily="18" charset="0"/>
                <a:cs typeface="Times New Roman" pitchFamily="18" charset="0"/>
              </a:rPr>
              <a:t>   .</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97283"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7282" name="Object 2"/>
          <p:cNvGraphicFramePr>
            <a:graphicFrameLocks noChangeAspect="1"/>
          </p:cNvGraphicFramePr>
          <p:nvPr/>
        </p:nvGraphicFramePr>
        <p:xfrm>
          <a:off x="1803400" y="3267075"/>
          <a:ext cx="1168400" cy="314325"/>
        </p:xfrm>
        <a:graphic>
          <a:graphicData uri="http://schemas.openxmlformats.org/presentationml/2006/ole">
            <mc:AlternateContent xmlns:mc="http://schemas.openxmlformats.org/markup-compatibility/2006">
              <mc:Choice xmlns:v="urn:schemas-microsoft-com:vml" Requires="v">
                <p:oleObj spid="_x0000_s97287" name="Equation" r:id="rId3" imgW="888614" imgH="241195" progId="Equation.3">
                  <p:embed/>
                </p:oleObj>
              </mc:Choice>
              <mc:Fallback>
                <p:oleObj name="Equation" r:id="rId3" imgW="888614" imgH="241195"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3267075"/>
                        <a:ext cx="1168400"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7</a:t>
            </a:r>
            <a:endParaRPr lang="en-US" dirty="0"/>
          </a:p>
        </p:txBody>
      </p:sp>
      <p:sp>
        <p:nvSpPr>
          <p:cNvPr id="4" name="Rectangle 3"/>
          <p:cNvSpPr/>
          <p:nvPr/>
        </p:nvSpPr>
        <p:spPr>
          <a:xfrm>
            <a:off x="609600" y="1828800"/>
            <a:ext cx="3288080" cy="369332"/>
          </a:xfrm>
          <a:prstGeom prst="rect">
            <a:avLst/>
          </a:prstGeom>
        </p:spPr>
        <p:txBody>
          <a:bodyPr wrap="none">
            <a:spAutoFit/>
          </a:bodyPr>
          <a:lstStyle/>
          <a:p>
            <a:r>
              <a:rPr lang="en-US" dirty="0" smtClean="0">
                <a:latin typeface="Times New Roman" pitchFamily="18" charset="0"/>
                <a:cs typeface="Times New Roman" pitchFamily="18" charset="0"/>
              </a:rPr>
              <a:t>An example of </a:t>
            </a:r>
            <a:r>
              <a:rPr lang="en-US" dirty="0">
                <a:latin typeface="Times New Roman" pitchFamily="18" charset="0"/>
                <a:cs typeface="Times New Roman" pitchFamily="18" charset="0"/>
              </a:rPr>
              <a:t>a diagonal matrix.</a:t>
            </a:r>
          </a:p>
        </p:txBody>
      </p:sp>
      <p:sp>
        <p:nvSpPr>
          <p:cNvPr id="983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8305" name="Object 1"/>
          <p:cNvGraphicFramePr>
            <a:graphicFrameLocks noChangeAspect="1"/>
          </p:cNvGraphicFramePr>
          <p:nvPr/>
        </p:nvGraphicFramePr>
        <p:xfrm>
          <a:off x="2068513" y="2438400"/>
          <a:ext cx="1928812" cy="1219200"/>
        </p:xfrm>
        <a:graphic>
          <a:graphicData uri="http://schemas.openxmlformats.org/presentationml/2006/ole">
            <mc:AlternateContent xmlns:mc="http://schemas.openxmlformats.org/markup-compatibility/2006">
              <mc:Choice xmlns:v="urn:schemas-microsoft-com:vml" Requires="v">
                <p:oleObj spid="_x0000_s98315" name="Equation" r:id="rId3" imgW="1129810" imgH="710891" progId="Equation.3">
                  <p:embed/>
                </p:oleObj>
              </mc:Choice>
              <mc:Fallback>
                <p:oleObj name="Equation" r:id="rId3" imgW="1129810" imgH="710891"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8513" y="2438400"/>
                        <a:ext cx="1928812"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609600" y="3886200"/>
            <a:ext cx="7086600" cy="369332"/>
          </a:xfrm>
          <a:prstGeom prst="rect">
            <a:avLst/>
          </a:prstGeom>
        </p:spPr>
        <p:txBody>
          <a:bodyPr wrap="square">
            <a:spAutoFit/>
          </a:bodyPr>
          <a:lstStyle/>
          <a:p>
            <a:r>
              <a:rPr lang="en-US" dirty="0" smtClean="0">
                <a:latin typeface="Times New Roman" pitchFamily="18" charset="0"/>
                <a:cs typeface="Times New Roman" pitchFamily="18" charset="0"/>
              </a:rPr>
              <a:t>Any or all the diagonal entries of a diagonal matrix can be zero.</a:t>
            </a:r>
            <a:endParaRPr lang="en-US" dirty="0">
              <a:latin typeface="Times New Roman" pitchFamily="18" charset="0"/>
              <a:cs typeface="Times New Roman" pitchFamily="18" charset="0"/>
            </a:endParaRPr>
          </a:p>
        </p:txBody>
      </p:sp>
      <p:graphicFrame>
        <p:nvGraphicFramePr>
          <p:cNvPr id="3" name="Object 2"/>
          <p:cNvGraphicFramePr>
            <a:graphicFrameLocks noChangeAspect="1"/>
          </p:cNvGraphicFramePr>
          <p:nvPr/>
        </p:nvGraphicFramePr>
        <p:xfrm>
          <a:off x="2109788" y="4495800"/>
          <a:ext cx="1928812" cy="1219200"/>
        </p:xfrm>
        <a:graphic>
          <a:graphicData uri="http://schemas.openxmlformats.org/presentationml/2006/ole">
            <mc:AlternateContent xmlns:mc="http://schemas.openxmlformats.org/markup-compatibility/2006">
              <mc:Choice xmlns:v="urn:schemas-microsoft-com:vml" Requires="v">
                <p:oleObj spid="_x0000_s98316" name="Equation" r:id="rId5" imgW="1129810" imgH="710891" progId="Equation.3">
                  <p:embed/>
                </p:oleObj>
              </mc:Choice>
              <mc:Fallback>
                <p:oleObj name="Equation" r:id="rId5" imgW="1129810" imgH="710891"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9788" y="4495800"/>
                        <a:ext cx="1928812"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609600" y="5943600"/>
            <a:ext cx="35814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is also a diagonal matrix.</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Identity Matrix</a:t>
            </a:r>
            <a:endParaRPr lang="en-US" dirty="0"/>
          </a:p>
        </p:txBody>
      </p:sp>
      <p:sp>
        <p:nvSpPr>
          <p:cNvPr id="118785" name="Rectangle 1"/>
          <p:cNvSpPr>
            <a:spLocks noChangeArrowheads="1"/>
          </p:cNvSpPr>
          <p:nvPr/>
        </p:nvSpPr>
        <p:spPr bwMode="auto">
          <a:xfrm>
            <a:off x="762000" y="1752600"/>
            <a:ext cx="7696200"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 diagonal matrix with all d</a:t>
            </a:r>
            <a:r>
              <a:rPr kumimoji="0" lang="en-US" b="0" i="0" u="none" strike="noStrike" cap="none" normalizeH="0" baseline="0" dirty="0" smtClean="0" bmk="">
                <a:ln>
                  <a:noFill/>
                </a:ln>
                <a:solidFill>
                  <a:schemeClr val="tx1"/>
                </a:solidFill>
                <a:effectLst/>
                <a:latin typeface="Times New Roman" pitchFamily="18" charset="0"/>
                <a:ea typeface="Times New Roman" pitchFamily="18" charset="0"/>
                <a:cs typeface="Times New Roman" pitchFamily="18" charset="0"/>
              </a:rPr>
              <a:t>iagonal elements</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equal to one is called an identity matrix, (	</a:t>
            </a:r>
            <a:r>
              <a:rPr kumimoji="0" lang="en-US" b="0" i="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              and          for all </a:t>
            </a:r>
            <a:r>
              <a:rPr kumimoji="0" lang="en-US" b="0" i="1" u="none" strike="noStrike" cap="none" normalizeH="0" dirty="0" err="1" smtClean="0">
                <a:ln>
                  <a:noFill/>
                </a:ln>
                <a:solidFill>
                  <a:schemeClr val="tx1"/>
                </a:solidFill>
                <a:effectLst/>
                <a:latin typeface="Times New Roman" pitchFamily="18" charset="0"/>
                <a:ea typeface="Times New Roman" pitchFamily="18" charset="0"/>
                <a:cs typeface="Times New Roman" pitchFamily="18" charset="0"/>
              </a:rPr>
              <a:t>i</a:t>
            </a:r>
            <a:r>
              <a:rPr kumimoji="0" lang="en-US" b="0" u="none" strike="noStrike" cap="none" normalizeH="0" dirty="0" smtClean="0">
                <a:ln>
                  <a:noFill/>
                </a:ln>
                <a:solidFill>
                  <a:schemeClr val="tx1"/>
                </a:solidFill>
                <a:effectLst/>
                <a:latin typeface="Times New Roman" pitchFamily="18" charset="0"/>
                <a:ea typeface="Times New Roman" pitchFamily="18" charset="0"/>
                <a:cs typeface="Times New Roman" pitchFamily="18" charset="0"/>
              </a:rPr>
              <a:t>).</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118787"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86" name="Object 2"/>
          <p:cNvGraphicFramePr>
            <a:graphicFrameLocks noChangeAspect="1"/>
          </p:cNvGraphicFramePr>
          <p:nvPr/>
        </p:nvGraphicFramePr>
        <p:xfrm>
          <a:off x="1600200" y="2102784"/>
          <a:ext cx="914400" cy="268941"/>
        </p:xfrm>
        <a:graphic>
          <a:graphicData uri="http://schemas.openxmlformats.org/presentationml/2006/ole">
            <mc:AlternateContent xmlns:mc="http://schemas.openxmlformats.org/markup-compatibility/2006">
              <mc:Choice xmlns:v="urn:schemas-microsoft-com:vml" Requires="v">
                <p:oleObj spid="_x0000_s118803" name="Equation" r:id="rId3" imgW="812447" imgH="241195" progId="Equation.3">
                  <p:embed/>
                </p:oleObj>
              </mc:Choice>
              <mc:Fallback>
                <p:oleObj name="Equation" r:id="rId3" imgW="812447" imgH="241195" progId="Equation.3">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102784"/>
                        <a:ext cx="914400" cy="2689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89"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88" name="Object 4"/>
          <p:cNvGraphicFramePr>
            <a:graphicFrameLocks noChangeAspect="1"/>
          </p:cNvGraphicFramePr>
          <p:nvPr/>
        </p:nvGraphicFramePr>
        <p:xfrm>
          <a:off x="2971800" y="2107019"/>
          <a:ext cx="457200" cy="255181"/>
        </p:xfrm>
        <a:graphic>
          <a:graphicData uri="http://schemas.openxmlformats.org/presentationml/2006/ole">
            <mc:AlternateContent xmlns:mc="http://schemas.openxmlformats.org/markup-compatibility/2006">
              <mc:Choice xmlns:v="urn:schemas-microsoft-com:vml" Requires="v">
                <p:oleObj spid="_x0000_s118804" name="Equation" r:id="rId5" imgW="406224" imgH="228501" progId="Equation.3">
                  <p:embed/>
                </p:oleObj>
              </mc:Choice>
              <mc:Fallback>
                <p:oleObj name="Equation" r:id="rId5" imgW="406224" imgH="228501" progId="Equation.3">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2107019"/>
                        <a:ext cx="457200" cy="2551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91" name="Rectangle 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8790" name="Object 6"/>
          <p:cNvGraphicFramePr>
            <a:graphicFrameLocks noChangeAspect="1"/>
          </p:cNvGraphicFramePr>
          <p:nvPr/>
        </p:nvGraphicFramePr>
        <p:xfrm>
          <a:off x="3048000" y="3886200"/>
          <a:ext cx="2514600" cy="1828800"/>
        </p:xfrm>
        <a:graphic>
          <a:graphicData uri="http://schemas.openxmlformats.org/presentationml/2006/ole">
            <mc:AlternateContent xmlns:mc="http://schemas.openxmlformats.org/markup-compatibility/2006">
              <mc:Choice xmlns:v="urn:schemas-microsoft-com:vml" Requires="v">
                <p:oleObj spid="_x0000_s118805" name="Equation" r:id="rId7" imgW="1257300" imgH="914400" progId="Equation.3">
                  <p:embed/>
                </p:oleObj>
              </mc:Choice>
              <mc:Fallback>
                <p:oleObj name="Equation" r:id="rId7" imgW="1257300" imgH="914400" progId="Equation.3">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0" y="3886200"/>
                        <a:ext cx="2514600"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762000" y="3135868"/>
            <a:ext cx="45720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An example of an identity matrix is,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Matrix</a:t>
            </a:r>
            <a:endParaRPr lang="en-US" dirty="0"/>
          </a:p>
        </p:txBody>
      </p:sp>
      <p:sp>
        <p:nvSpPr>
          <p:cNvPr id="1198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9809" name="Object 1"/>
          <p:cNvGraphicFramePr>
            <a:graphicFrameLocks noChangeAspect="1"/>
          </p:cNvGraphicFramePr>
          <p:nvPr/>
        </p:nvGraphicFramePr>
        <p:xfrm>
          <a:off x="1524000" y="3962400"/>
          <a:ext cx="2104136" cy="1447800"/>
        </p:xfrm>
        <a:graphic>
          <a:graphicData uri="http://schemas.openxmlformats.org/presentationml/2006/ole">
            <mc:AlternateContent xmlns:mc="http://schemas.openxmlformats.org/markup-compatibility/2006">
              <mc:Choice xmlns:v="urn:schemas-microsoft-com:vml" Requires="v">
                <p:oleObj spid="_x0000_s119826" name="Equation" r:id="rId3" imgW="1040948" imgH="710891" progId="Equation.3">
                  <p:embed/>
                </p:oleObj>
              </mc:Choice>
              <mc:Fallback>
                <p:oleObj name="Equation" r:id="rId3" imgW="1040948" imgH="710891"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962400"/>
                        <a:ext cx="2104136" cy="144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9811" name="Object 3"/>
          <p:cNvGraphicFramePr>
            <a:graphicFrameLocks noChangeAspect="1"/>
          </p:cNvGraphicFramePr>
          <p:nvPr/>
        </p:nvGraphicFramePr>
        <p:xfrm>
          <a:off x="4849812" y="4343400"/>
          <a:ext cx="2008188" cy="838200"/>
        </p:xfrm>
        <a:graphic>
          <a:graphicData uri="http://schemas.openxmlformats.org/presentationml/2006/ole">
            <mc:AlternateContent xmlns:mc="http://schemas.openxmlformats.org/markup-compatibility/2006">
              <mc:Choice xmlns:v="urn:schemas-microsoft-com:vml" Requires="v">
                <p:oleObj spid="_x0000_s119827" name="Equation" r:id="rId5" imgW="1092200" imgH="457200" progId="Equation.3">
                  <p:embed/>
                </p:oleObj>
              </mc:Choice>
              <mc:Fallback>
                <p:oleObj name="Equation" r:id="rId5" imgW="1092200" imgH="4572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9812" y="4343400"/>
                        <a:ext cx="2008188"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838200" y="2743200"/>
            <a:ext cx="39624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Some examples of zero matrices are, </a:t>
            </a:r>
            <a:endParaRPr lang="en-US" dirty="0">
              <a:latin typeface="Times New Roman" pitchFamily="18" charset="0"/>
              <a:cs typeface="Times New Roman" pitchFamily="18" charset="0"/>
            </a:endParaRPr>
          </a:p>
        </p:txBody>
      </p:sp>
      <p:sp>
        <p:nvSpPr>
          <p:cNvPr id="9" name="Rectangle 8"/>
          <p:cNvSpPr/>
          <p:nvPr/>
        </p:nvSpPr>
        <p:spPr>
          <a:xfrm>
            <a:off x="838200" y="1828800"/>
            <a:ext cx="7543800" cy="646331"/>
          </a:xfrm>
          <a:prstGeom prst="rect">
            <a:avLst/>
          </a:prstGeom>
        </p:spPr>
        <p:txBody>
          <a:bodyPr wrap="square">
            <a:spAutoFit/>
          </a:bodyPr>
          <a:lstStyle/>
          <a:p>
            <a:r>
              <a:rPr lang="en-US" dirty="0" smtClean="0">
                <a:latin typeface="Times New Roman" pitchFamily="18" charset="0"/>
                <a:cs typeface="Times New Roman" pitchFamily="18" charset="0"/>
              </a:rPr>
              <a:t>A matrix whose all entries are zero is called a zero matrix, (	         </a:t>
            </a:r>
            <a:r>
              <a:rPr lang="en-US" dirty="0" smtClean="0">
                <a:latin typeface="Times New Roman" pitchFamily="18" charset="0"/>
                <a:cs typeface="Times New Roman" pitchFamily="18" charset="0"/>
              </a:rPr>
              <a:t>  for </a:t>
            </a:r>
            <a:r>
              <a:rPr lang="en-US" dirty="0" smtClean="0">
                <a:latin typeface="Times New Roman" pitchFamily="18" charset="0"/>
                <a:cs typeface="Times New Roman" pitchFamily="18" charset="0"/>
              </a:rPr>
              <a:t>all </a:t>
            </a:r>
            <a:r>
              <a:rPr lang="en-US" i="1" dirty="0" smtClean="0">
                <a:latin typeface="Times New Roman" pitchFamily="18" charset="0"/>
                <a:cs typeface="Times New Roman" pitchFamily="18" charset="0"/>
              </a:rPr>
              <a:t>i</a:t>
            </a:r>
            <a:r>
              <a:rPr lang="en-US" dirty="0" smtClean="0">
                <a:latin typeface="Times New Roman" pitchFamily="18" charset="0"/>
                <a:cs typeface="Times New Roman" pitchFamily="18" charset="0"/>
              </a:rPr>
              <a:t> and </a:t>
            </a:r>
            <a:r>
              <a:rPr lang="en-US" i="1" dirty="0" smtClean="0">
                <a:latin typeface="Times New Roman" pitchFamily="18" charset="0"/>
                <a:cs typeface="Times New Roman" pitchFamily="18" charset="0"/>
              </a:rPr>
              <a:t>j</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11981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9813" name="Object 5"/>
          <p:cNvGraphicFramePr>
            <a:graphicFrameLocks noChangeAspect="1"/>
          </p:cNvGraphicFramePr>
          <p:nvPr/>
        </p:nvGraphicFramePr>
        <p:xfrm>
          <a:off x="6461760" y="1905000"/>
          <a:ext cx="548640" cy="304800"/>
        </p:xfrm>
        <a:graphic>
          <a:graphicData uri="http://schemas.openxmlformats.org/presentationml/2006/ole">
            <mc:AlternateContent xmlns:mc="http://schemas.openxmlformats.org/markup-compatibility/2006">
              <mc:Choice xmlns:v="urn:schemas-microsoft-com:vml" Requires="v">
                <p:oleObj spid="_x0000_s119828" name="Equation" r:id="rId7" imgW="431613" imgH="241195" progId="Equation.3">
                  <p:embed/>
                </p:oleObj>
              </mc:Choice>
              <mc:Fallback>
                <p:oleObj name="Equation" r:id="rId7" imgW="431613" imgH="241195" progId="Equation.3">
                  <p:embed/>
                  <p:pic>
                    <p:nvPicPr>
                      <p:cNvPr id="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61760" y="1905000"/>
                        <a:ext cx="54864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Tridiagonal</a:t>
            </a:r>
            <a:r>
              <a:rPr lang="en-US" dirty="0" smtClean="0"/>
              <a:t> Matrix</a:t>
            </a:r>
            <a:endParaRPr lang="en-US" dirty="0"/>
          </a:p>
        </p:txBody>
      </p:sp>
      <p:sp>
        <p:nvSpPr>
          <p:cNvPr id="120833" name="Rectangle 1"/>
          <p:cNvSpPr>
            <a:spLocks noChangeArrowheads="1"/>
          </p:cNvSpPr>
          <p:nvPr/>
        </p:nvSpPr>
        <p:spPr bwMode="auto">
          <a:xfrm>
            <a:off x="685800" y="1828800"/>
            <a:ext cx="7620000"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 </a:t>
            </a:r>
            <a:r>
              <a:rPr kumimoji="0" lang="en-US"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tridiagonal</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m</a:t>
            </a:r>
            <a:r>
              <a:rPr kumimoji="0" lang="en-US" b="0" i="0" u="none" strike="noStrike" cap="none" normalizeH="0" baseline="0" dirty="0" smtClean="0" bmk="">
                <a:ln>
                  <a:noFill/>
                </a:ln>
                <a:solidFill>
                  <a:schemeClr val="tx1"/>
                </a:solidFill>
                <a:effectLst/>
                <a:latin typeface="Times New Roman" pitchFamily="18" charset="0"/>
                <a:ea typeface="Times New Roman" pitchFamily="18" charset="0"/>
                <a:cs typeface="Times New Roman" pitchFamily="18" charset="0"/>
              </a:rPr>
              <a:t>atrix is a square matrix</a:t>
            </a: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in which all elements not on the following are zero - the major diagonal, the diagonal above the major diagonal, and the diagonal below the major diagonal.</a:t>
            </a:r>
            <a:r>
              <a:rPr kumimoji="0" lang="en-US" b="0" i="0" u="none" strike="noStrike" cap="none" normalizeH="0" baseline="0" dirty="0" smtClean="0">
                <a:ln>
                  <a:noFill/>
                </a:ln>
                <a:solidFill>
                  <a:schemeClr val="tx1"/>
                </a:solidFill>
                <a:effectLst/>
                <a:latin typeface="Times New Roman" pitchFamily="18" charset="0"/>
                <a:cs typeface="Times New Roman" pitchFamily="18" charset="0"/>
              </a:rPr>
              <a:t> </a:t>
            </a:r>
          </a:p>
        </p:txBody>
      </p:sp>
      <p:sp>
        <p:nvSpPr>
          <p:cNvPr id="120835"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0834" name="Object 2"/>
          <p:cNvGraphicFramePr>
            <a:graphicFrameLocks noChangeAspect="1"/>
          </p:cNvGraphicFramePr>
          <p:nvPr/>
        </p:nvGraphicFramePr>
        <p:xfrm>
          <a:off x="3133725" y="4114800"/>
          <a:ext cx="2200275" cy="1600200"/>
        </p:xfrm>
        <a:graphic>
          <a:graphicData uri="http://schemas.openxmlformats.org/presentationml/2006/ole">
            <mc:AlternateContent xmlns:mc="http://schemas.openxmlformats.org/markup-compatibility/2006">
              <mc:Choice xmlns:v="urn:schemas-microsoft-com:vml" Requires="v">
                <p:oleObj spid="_x0000_s120839" name="Equation" r:id="rId3" imgW="1257300" imgH="914400" progId="Equation.3">
                  <p:embed/>
                </p:oleObj>
              </mc:Choice>
              <mc:Fallback>
                <p:oleObj name="Equation" r:id="rId3" imgW="1257300" imgH="91440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3725" y="4114800"/>
                        <a:ext cx="2200275"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685800" y="3276600"/>
            <a:ext cx="70866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An example of a </a:t>
            </a:r>
            <a:r>
              <a:rPr lang="en-US" dirty="0" err="1" smtClean="0">
                <a:latin typeface="Times New Roman" pitchFamily="18" charset="0"/>
                <a:cs typeface="Times New Roman" pitchFamily="18" charset="0"/>
              </a:rPr>
              <a:t>tridiagonal</a:t>
            </a:r>
            <a:r>
              <a:rPr lang="en-US" dirty="0" smtClean="0">
                <a:latin typeface="Times New Roman" pitchFamily="18" charset="0"/>
                <a:cs typeface="Times New Roman" pitchFamily="18" charset="0"/>
              </a:rPr>
              <a:t> matrix is,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Non-square Matrix</a:t>
            </a:r>
            <a:endParaRPr lang="en-US" dirty="0"/>
          </a:p>
        </p:txBody>
      </p:sp>
      <p:sp>
        <p:nvSpPr>
          <p:cNvPr id="4" name="Rectangle 3"/>
          <p:cNvSpPr/>
          <p:nvPr/>
        </p:nvSpPr>
        <p:spPr>
          <a:xfrm>
            <a:off x="609600" y="1828800"/>
            <a:ext cx="4572000" cy="369332"/>
          </a:xfrm>
          <a:prstGeom prst="rect">
            <a:avLst/>
          </a:prstGeom>
        </p:spPr>
        <p:txBody>
          <a:bodyPr>
            <a:spAutoFit/>
          </a:bodyPr>
          <a:lstStyle/>
          <a:p>
            <a:r>
              <a:rPr lang="en-US" dirty="0" smtClean="0">
                <a:latin typeface="Times New Roman" pitchFamily="18" charset="0"/>
                <a:cs typeface="Times New Roman" pitchFamily="18" charset="0"/>
              </a:rPr>
              <a:t>Do non-square matrices have diagonal entries?</a:t>
            </a:r>
            <a:endParaRPr lang="en-US" dirty="0">
              <a:latin typeface="Times New Roman" pitchFamily="18" charset="0"/>
              <a:cs typeface="Times New Roman" pitchFamily="18" charset="0"/>
            </a:endParaRPr>
          </a:p>
        </p:txBody>
      </p:sp>
      <p:sp>
        <p:nvSpPr>
          <p:cNvPr id="6" name="TextBox 5"/>
          <p:cNvSpPr txBox="1"/>
          <p:nvPr/>
        </p:nvSpPr>
        <p:spPr>
          <a:xfrm>
            <a:off x="609600" y="2590800"/>
            <a:ext cx="7848600" cy="646331"/>
          </a:xfrm>
          <a:prstGeom prst="rect">
            <a:avLst/>
          </a:prstGeom>
          <a:noFill/>
        </p:spPr>
        <p:txBody>
          <a:bodyPr wrap="square" rtlCol="0">
            <a:spAutoFit/>
          </a:bodyPr>
          <a:lstStyle/>
          <a:p>
            <a:r>
              <a:rPr lang="en-US" dirty="0" smtClean="0">
                <a:latin typeface="Times New Roman" pitchFamily="18" charset="0"/>
                <a:cs typeface="Times New Roman" pitchFamily="18" charset="0"/>
              </a:rPr>
              <a:t>Yes, for a </a:t>
            </a:r>
            <a:r>
              <a:rPr lang="en-US" i="1" dirty="0" err="1" smtClean="0">
                <a:latin typeface="Times New Roman" pitchFamily="18" charset="0"/>
                <a:cs typeface="Times New Roman" pitchFamily="18" charset="0"/>
              </a:rPr>
              <a:t>m×n</a:t>
            </a:r>
            <a:r>
              <a:rPr lang="en-US" dirty="0" smtClean="0">
                <a:latin typeface="Times New Roman" pitchFamily="18" charset="0"/>
                <a:cs typeface="Times New Roman" pitchFamily="18" charset="0"/>
              </a:rPr>
              <a:t> matrix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the diagonal entries are                            where </a:t>
            </a:r>
            <a:r>
              <a:rPr lang="en-US" i="1" dirty="0" smtClean="0">
                <a:latin typeface="Times New Roman" pitchFamily="18" charset="0"/>
                <a:cs typeface="Times New Roman" pitchFamily="18" charset="0"/>
              </a:rPr>
              <a:t>k</a:t>
            </a:r>
            <a:r>
              <a:rPr lang="en-US" dirty="0" smtClean="0">
                <a:latin typeface="Times New Roman" pitchFamily="18" charset="0"/>
                <a:cs typeface="Times New Roman" pitchFamily="18" charset="0"/>
              </a:rPr>
              <a:t>=min{</a:t>
            </a:r>
            <a:r>
              <a:rPr lang="en-US" i="1" dirty="0" err="1" smtClean="0">
                <a:latin typeface="Times New Roman" pitchFamily="18" charset="0"/>
                <a:cs typeface="Times New Roman" pitchFamily="18" charset="0"/>
              </a:rPr>
              <a:t>m,n</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121859" name="Rectangle 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1858" name="Object 2"/>
          <p:cNvGraphicFramePr>
            <a:graphicFrameLocks noChangeAspect="1"/>
          </p:cNvGraphicFramePr>
          <p:nvPr/>
        </p:nvGraphicFramePr>
        <p:xfrm>
          <a:off x="5410200" y="2667000"/>
          <a:ext cx="1447800" cy="272143"/>
        </p:xfrm>
        <a:graphic>
          <a:graphicData uri="http://schemas.openxmlformats.org/presentationml/2006/ole">
            <mc:AlternateContent xmlns:mc="http://schemas.openxmlformats.org/markup-compatibility/2006">
              <mc:Choice xmlns:v="urn:schemas-microsoft-com:vml" Requires="v">
                <p:oleObj spid="_x0000_s121863" name="Equation" r:id="rId3" imgW="1269449" imgH="241195" progId="Equation.3">
                  <p:embed/>
                </p:oleObj>
              </mc:Choice>
              <mc:Fallback>
                <p:oleObj name="Equation" r:id="rId3" imgW="1269449" imgH="241195"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2667000"/>
                        <a:ext cx="1447800" cy="2721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11</a:t>
            </a:r>
            <a:endParaRPr lang="en-US" dirty="0"/>
          </a:p>
        </p:txBody>
      </p:sp>
      <p:sp>
        <p:nvSpPr>
          <p:cNvPr id="4" name="Rectangle 3"/>
          <p:cNvSpPr/>
          <p:nvPr/>
        </p:nvSpPr>
        <p:spPr>
          <a:xfrm>
            <a:off x="685800" y="1905000"/>
            <a:ext cx="3140603" cy="369332"/>
          </a:xfrm>
          <a:prstGeom prst="rect">
            <a:avLst/>
          </a:prstGeom>
        </p:spPr>
        <p:txBody>
          <a:bodyPr wrap="none">
            <a:spAutoFit/>
          </a:bodyPr>
          <a:lstStyle/>
          <a:p>
            <a:r>
              <a:rPr lang="en-US" dirty="0" smtClean="0">
                <a:latin typeface="Times New Roman" pitchFamily="18" charset="0"/>
                <a:cs typeface="Times New Roman" pitchFamily="18" charset="0"/>
              </a:rPr>
              <a:t>What are the diagonal entries of</a:t>
            </a:r>
            <a:endParaRPr lang="en-US" dirty="0">
              <a:latin typeface="Times New Roman" pitchFamily="18" charset="0"/>
              <a:cs typeface="Times New Roman" pitchFamily="18" charset="0"/>
            </a:endParaRPr>
          </a:p>
        </p:txBody>
      </p:sp>
      <p:sp>
        <p:nvSpPr>
          <p:cNvPr id="1228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2881" name="Object 1"/>
          <p:cNvGraphicFramePr>
            <a:graphicFrameLocks noChangeAspect="1"/>
          </p:cNvGraphicFramePr>
          <p:nvPr/>
        </p:nvGraphicFramePr>
        <p:xfrm>
          <a:off x="2514600" y="2590800"/>
          <a:ext cx="1828800" cy="1581665"/>
        </p:xfrm>
        <a:graphic>
          <a:graphicData uri="http://schemas.openxmlformats.org/presentationml/2006/ole">
            <mc:AlternateContent xmlns:mc="http://schemas.openxmlformats.org/markup-compatibility/2006">
              <mc:Choice xmlns:v="urn:schemas-microsoft-com:vml" Requires="v">
                <p:oleObj spid="_x0000_s122892" name="Equation" r:id="rId3" imgW="1054100" imgH="914400" progId="Equation.3">
                  <p:embed/>
                </p:oleObj>
              </mc:Choice>
              <mc:Fallback>
                <p:oleObj name="Equation" r:id="rId3" imgW="1054100" imgH="9144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90800"/>
                        <a:ext cx="1828800" cy="15816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718001" y="4724400"/>
            <a:ext cx="3506088" cy="369332"/>
          </a:xfrm>
          <a:prstGeom prst="rect">
            <a:avLst/>
          </a:prstGeom>
        </p:spPr>
        <p:txBody>
          <a:bodyPr wrap="none">
            <a:spAutoFit/>
          </a:bodyPr>
          <a:lstStyle/>
          <a:p>
            <a:r>
              <a:rPr lang="en-US" dirty="0" smtClean="0">
                <a:latin typeface="Times New Roman" pitchFamily="18" charset="0"/>
                <a:cs typeface="Times New Roman" pitchFamily="18" charset="0"/>
              </a:rPr>
              <a:t>The diagonal elements of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are   </a:t>
            </a:r>
            <a:endParaRPr lang="en-US" dirty="0">
              <a:latin typeface="Times New Roman" pitchFamily="18" charset="0"/>
              <a:cs typeface="Times New Roman" pitchFamily="18" charset="0"/>
            </a:endParaRPr>
          </a:p>
        </p:txBody>
      </p:sp>
      <p:sp>
        <p:nvSpPr>
          <p:cNvPr id="1228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2883" name="Object 3"/>
          <p:cNvGraphicFramePr>
            <a:graphicFrameLocks noChangeAspect="1"/>
          </p:cNvGraphicFramePr>
          <p:nvPr/>
        </p:nvGraphicFramePr>
        <p:xfrm>
          <a:off x="3886200" y="4800600"/>
          <a:ext cx="1828800" cy="292100"/>
        </p:xfrm>
        <a:graphic>
          <a:graphicData uri="http://schemas.openxmlformats.org/presentationml/2006/ole">
            <mc:AlternateContent xmlns:mc="http://schemas.openxmlformats.org/markup-compatibility/2006">
              <mc:Choice xmlns:v="urn:schemas-microsoft-com:vml" Requires="v">
                <p:oleObj spid="_x0000_s122893" name="Equation" r:id="rId5" imgW="1371600" imgH="215900" progId="Equation.3">
                  <p:embed/>
                </p:oleObj>
              </mc:Choice>
              <mc:Fallback>
                <p:oleObj name="Equation" r:id="rId5" imgW="1371600" imgH="2159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4800600"/>
                        <a:ext cx="18288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Diagonally Dominant Matrix</a:t>
            </a:r>
            <a:endParaRPr lang="en-US" dirty="0"/>
          </a:p>
        </p:txBody>
      </p:sp>
      <p:sp>
        <p:nvSpPr>
          <p:cNvPr id="4" name="TextBox 3"/>
          <p:cNvSpPr txBox="1"/>
          <p:nvPr/>
        </p:nvSpPr>
        <p:spPr>
          <a:xfrm>
            <a:off x="685800" y="1905000"/>
            <a:ext cx="59436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 </a:t>
            </a:r>
            <a:r>
              <a:rPr lang="en-US" i="1" dirty="0" err="1" smtClean="0">
                <a:latin typeface="Times New Roman" pitchFamily="18" charset="0"/>
                <a:cs typeface="Times New Roman" pitchFamily="18" charset="0"/>
              </a:rPr>
              <a:t>n×n</a:t>
            </a:r>
            <a:r>
              <a:rPr lang="en-US" dirty="0" smtClean="0">
                <a:latin typeface="Times New Roman" pitchFamily="18" charset="0"/>
                <a:cs typeface="Times New Roman" pitchFamily="18" charset="0"/>
              </a:rPr>
              <a:t> square matrix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is a diagonally dominant matrix if</a:t>
            </a:r>
            <a:endParaRPr lang="en-US" dirty="0">
              <a:latin typeface="Times New Roman" pitchFamily="18" charset="0"/>
              <a:cs typeface="Times New Roman" pitchFamily="18" charset="0"/>
            </a:endParaRPr>
          </a:p>
        </p:txBody>
      </p:sp>
      <p:sp>
        <p:nvSpPr>
          <p:cNvPr id="1239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3905" name="Object 1"/>
          <p:cNvGraphicFramePr>
            <a:graphicFrameLocks noChangeAspect="1"/>
          </p:cNvGraphicFramePr>
          <p:nvPr/>
        </p:nvGraphicFramePr>
        <p:xfrm>
          <a:off x="1752599" y="2438400"/>
          <a:ext cx="1070811" cy="685800"/>
        </p:xfrm>
        <a:graphic>
          <a:graphicData uri="http://schemas.openxmlformats.org/presentationml/2006/ole">
            <mc:AlternateContent xmlns:mc="http://schemas.openxmlformats.org/markup-compatibility/2006">
              <mc:Choice xmlns:v="urn:schemas-microsoft-com:vml" Requires="v">
                <p:oleObj spid="_x0000_s123922" name="Equation" r:id="rId3" imgW="850531" imgH="545863" progId="Equation.3">
                  <p:embed/>
                </p:oleObj>
              </mc:Choice>
              <mc:Fallback>
                <p:oleObj name="Equation" r:id="rId3" imgW="850531" imgH="545863" progId="Equation.3">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599" y="2438400"/>
                        <a:ext cx="1070811"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90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3907" name="Object 3"/>
          <p:cNvGraphicFramePr>
            <a:graphicFrameLocks noChangeAspect="1"/>
          </p:cNvGraphicFramePr>
          <p:nvPr/>
        </p:nvGraphicFramePr>
        <p:xfrm>
          <a:off x="3624943" y="2590800"/>
          <a:ext cx="1175657" cy="304800"/>
        </p:xfrm>
        <a:graphic>
          <a:graphicData uri="http://schemas.openxmlformats.org/presentationml/2006/ole">
            <mc:AlternateContent xmlns:mc="http://schemas.openxmlformats.org/markup-compatibility/2006">
              <mc:Choice xmlns:v="urn:schemas-microsoft-com:vml" Requires="v">
                <p:oleObj spid="_x0000_s123923" name="Equation" r:id="rId5" imgW="774364" imgH="203112" progId="Equation.3">
                  <p:embed/>
                </p:oleObj>
              </mc:Choice>
              <mc:Fallback>
                <p:oleObj name="Equation" r:id="rId5" imgW="774364" imgH="203112"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4943" y="2590800"/>
                        <a:ext cx="1175657"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Box 8"/>
          <p:cNvSpPr txBox="1"/>
          <p:nvPr/>
        </p:nvSpPr>
        <p:spPr>
          <a:xfrm>
            <a:off x="2895600" y="2526268"/>
            <a:ext cx="10668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for all</a:t>
            </a:r>
            <a:endParaRPr lang="en-US" dirty="0">
              <a:latin typeface="Times New Roman" pitchFamily="18" charset="0"/>
              <a:cs typeface="Times New Roman" pitchFamily="18" charset="0"/>
            </a:endParaRPr>
          </a:p>
        </p:txBody>
      </p:sp>
      <p:sp>
        <p:nvSpPr>
          <p:cNvPr id="10" name="TextBox 9"/>
          <p:cNvSpPr txBox="1"/>
          <p:nvPr/>
        </p:nvSpPr>
        <p:spPr>
          <a:xfrm>
            <a:off x="4800600" y="2526268"/>
            <a:ext cx="10668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and</a:t>
            </a:r>
            <a:endParaRPr lang="en-US" dirty="0">
              <a:latin typeface="Times New Roman" pitchFamily="18" charset="0"/>
              <a:cs typeface="Times New Roman" pitchFamily="18" charset="0"/>
            </a:endParaRPr>
          </a:p>
        </p:txBody>
      </p:sp>
      <p:sp>
        <p:nvSpPr>
          <p:cNvPr id="12391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3909" name="Object 5"/>
          <p:cNvGraphicFramePr>
            <a:graphicFrameLocks noChangeAspect="1"/>
          </p:cNvGraphicFramePr>
          <p:nvPr/>
        </p:nvGraphicFramePr>
        <p:xfrm>
          <a:off x="1752600" y="3252952"/>
          <a:ext cx="1066800" cy="698938"/>
        </p:xfrm>
        <a:graphic>
          <a:graphicData uri="http://schemas.openxmlformats.org/presentationml/2006/ole">
            <mc:AlternateContent xmlns:mc="http://schemas.openxmlformats.org/markup-compatibility/2006">
              <mc:Choice xmlns:v="urn:schemas-microsoft-com:vml" Requires="v">
                <p:oleObj spid="_x0000_s123924" name="Equation" r:id="rId7" imgW="825142" imgH="545863" progId="Equation.3">
                  <p:embed/>
                </p:oleObj>
              </mc:Choice>
              <mc:Fallback>
                <p:oleObj name="Equation" r:id="rId7" imgW="825142" imgH="545863" progId="Equation.3">
                  <p:embed/>
                  <p:pic>
                    <p:nvPicPr>
                      <p:cNvPr id="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3252952"/>
                        <a:ext cx="1066800" cy="69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p:nvPr/>
        </p:nvSpPr>
        <p:spPr>
          <a:xfrm>
            <a:off x="2895600" y="3352800"/>
            <a:ext cx="1787669" cy="369332"/>
          </a:xfrm>
          <a:prstGeom prst="rect">
            <a:avLst/>
          </a:prstGeom>
        </p:spPr>
        <p:txBody>
          <a:bodyPr wrap="none">
            <a:spAutoFit/>
          </a:bodyPr>
          <a:lstStyle/>
          <a:p>
            <a:r>
              <a:rPr lang="en-US" dirty="0" smtClean="0">
                <a:latin typeface="Times New Roman" pitchFamily="18" charset="0"/>
                <a:cs typeface="Times New Roman" pitchFamily="18" charset="0"/>
              </a:rPr>
              <a:t>for at least one </a:t>
            </a:r>
            <a:r>
              <a:rPr lang="en-US" i="1" dirty="0" err="1" smtClean="0">
                <a:latin typeface="Times New Roman" pitchFamily="18" charset="0"/>
                <a:cs typeface="Times New Roman" pitchFamily="18" charset="0"/>
              </a:rPr>
              <a:t>i</a:t>
            </a:r>
            <a:r>
              <a:rPr lang="en-US" i="1"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123911" name="Rectangle 7"/>
          <p:cNvSpPr>
            <a:spLocks noChangeArrowheads="1"/>
          </p:cNvSpPr>
          <p:nvPr/>
        </p:nvSpPr>
        <p:spPr bwMode="auto">
          <a:xfrm>
            <a:off x="609600" y="4267200"/>
            <a:ext cx="8077200"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that is, for each row, the absolute value of the diagonal element is greater than or equal to the sum of the absolute values of the rest of the elements of that row, and that the inequality is strictly greater than for at least one row.  Diagonally dominant matrices are important in ensuring convergence in iterative schemes of solving simultaneous linear equations.</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12</a:t>
            </a:r>
            <a:endParaRPr lang="en-US" dirty="0"/>
          </a:p>
        </p:txBody>
      </p:sp>
      <p:sp>
        <p:nvSpPr>
          <p:cNvPr id="4" name="Rectangle 3"/>
          <p:cNvSpPr/>
          <p:nvPr/>
        </p:nvSpPr>
        <p:spPr>
          <a:xfrm>
            <a:off x="838200" y="1905000"/>
            <a:ext cx="7315200" cy="646331"/>
          </a:xfrm>
          <a:prstGeom prst="rect">
            <a:avLst/>
          </a:prstGeom>
        </p:spPr>
        <p:txBody>
          <a:bodyPr wrap="square">
            <a:spAutoFit/>
          </a:bodyPr>
          <a:lstStyle/>
          <a:p>
            <a:r>
              <a:rPr lang="en-US" dirty="0" smtClean="0">
                <a:latin typeface="Times New Roman" pitchFamily="18" charset="0"/>
                <a:cs typeface="Times New Roman" pitchFamily="18" charset="0"/>
              </a:rPr>
              <a:t>Give examples of diagonally dominant matrices and not diagonally dominant matrices.</a:t>
            </a:r>
            <a:endParaRPr lang="en-US" dirty="0">
              <a:latin typeface="Times New Roman" pitchFamily="18" charset="0"/>
              <a:cs typeface="Times New Roman" pitchFamily="18" charset="0"/>
            </a:endParaRPr>
          </a:p>
        </p:txBody>
      </p:sp>
      <p:sp>
        <p:nvSpPr>
          <p:cNvPr id="1249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4929" name="Object 1"/>
          <p:cNvGraphicFramePr>
            <a:graphicFrameLocks noChangeAspect="1"/>
          </p:cNvGraphicFramePr>
          <p:nvPr/>
        </p:nvGraphicFramePr>
        <p:xfrm>
          <a:off x="2438400" y="2590800"/>
          <a:ext cx="1849120" cy="990600"/>
        </p:xfrm>
        <a:graphic>
          <a:graphicData uri="http://schemas.openxmlformats.org/presentationml/2006/ole">
            <mc:AlternateContent xmlns:mc="http://schemas.openxmlformats.org/markup-compatibility/2006">
              <mc:Choice xmlns:v="urn:schemas-microsoft-com:vml" Requires="v">
                <p:oleObj spid="_x0000_s124952" name="Equation" r:id="rId3" imgW="1333500" imgH="711200" progId="Equation.3">
                  <p:embed/>
                </p:oleObj>
              </mc:Choice>
              <mc:Fallback>
                <p:oleObj name="Equation" r:id="rId3" imgW="1333500" imgH="71120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590800"/>
                        <a:ext cx="184912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838200" y="3733800"/>
            <a:ext cx="3371436" cy="369332"/>
          </a:xfrm>
          <a:prstGeom prst="rect">
            <a:avLst/>
          </a:prstGeom>
        </p:spPr>
        <p:txBody>
          <a:bodyPr wrap="none">
            <a:spAutoFit/>
          </a:bodyPr>
          <a:lstStyle/>
          <a:p>
            <a:r>
              <a:rPr lang="en-US" dirty="0" smtClean="0">
                <a:latin typeface="Times New Roman" pitchFamily="18" charset="0"/>
                <a:cs typeface="Times New Roman" pitchFamily="18" charset="0"/>
              </a:rPr>
              <a:t>is a diagonally dominant matrix as</a:t>
            </a:r>
            <a:endParaRPr lang="en-US" dirty="0">
              <a:latin typeface="Times New Roman" pitchFamily="18" charset="0"/>
              <a:cs typeface="Times New Roman" pitchFamily="18" charset="0"/>
            </a:endParaRPr>
          </a:p>
        </p:txBody>
      </p:sp>
      <p:sp>
        <p:nvSpPr>
          <p:cNvPr id="12493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4931" name="Object 3"/>
          <p:cNvGraphicFramePr>
            <a:graphicFrameLocks noChangeAspect="1"/>
          </p:cNvGraphicFramePr>
          <p:nvPr/>
        </p:nvGraphicFramePr>
        <p:xfrm>
          <a:off x="1371600" y="4343400"/>
          <a:ext cx="3683000" cy="381000"/>
        </p:xfrm>
        <a:graphic>
          <a:graphicData uri="http://schemas.openxmlformats.org/presentationml/2006/ole">
            <mc:AlternateContent xmlns:mc="http://schemas.openxmlformats.org/markup-compatibility/2006">
              <mc:Choice xmlns:v="urn:schemas-microsoft-com:vml" Requires="v">
                <p:oleObj spid="_x0000_s124953" name="Equation" r:id="rId5" imgW="2489200" imgH="254000" progId="Equation.3">
                  <p:embed/>
                </p:oleObj>
              </mc:Choice>
              <mc:Fallback>
                <p:oleObj name="Equation" r:id="rId5" imgW="2489200" imgH="254000" progId="Equation.3">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4343400"/>
                        <a:ext cx="3683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3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4933" name="Object 5"/>
          <p:cNvGraphicFramePr>
            <a:graphicFrameLocks noChangeAspect="1"/>
          </p:cNvGraphicFramePr>
          <p:nvPr/>
        </p:nvGraphicFramePr>
        <p:xfrm>
          <a:off x="1371600" y="4800600"/>
          <a:ext cx="3824111" cy="381000"/>
        </p:xfrm>
        <a:graphic>
          <a:graphicData uri="http://schemas.openxmlformats.org/presentationml/2006/ole">
            <mc:AlternateContent xmlns:mc="http://schemas.openxmlformats.org/markup-compatibility/2006">
              <mc:Choice xmlns:v="urn:schemas-microsoft-com:vml" Requires="v">
                <p:oleObj spid="_x0000_s124954" name="Equation" r:id="rId7" imgW="2578100" imgH="254000" progId="Equation.3">
                  <p:embed/>
                </p:oleObj>
              </mc:Choice>
              <mc:Fallback>
                <p:oleObj name="Equation" r:id="rId7" imgW="2578100" imgH="25400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4800600"/>
                        <a:ext cx="3824111"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3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4935" name="Object 7"/>
          <p:cNvGraphicFramePr>
            <a:graphicFrameLocks noChangeAspect="1"/>
          </p:cNvGraphicFramePr>
          <p:nvPr/>
        </p:nvGraphicFramePr>
        <p:xfrm>
          <a:off x="1371599" y="5257800"/>
          <a:ext cx="3810001" cy="421598"/>
        </p:xfrm>
        <a:graphic>
          <a:graphicData uri="http://schemas.openxmlformats.org/presentationml/2006/ole">
            <mc:AlternateContent xmlns:mc="http://schemas.openxmlformats.org/markup-compatibility/2006">
              <mc:Choice xmlns:v="urn:schemas-microsoft-com:vml" Requires="v">
                <p:oleObj spid="_x0000_s124955" name="Equation" r:id="rId9" imgW="2324100" imgH="254000" progId="Equation.3">
                  <p:embed/>
                </p:oleObj>
              </mc:Choice>
              <mc:Fallback>
                <p:oleObj name="Equation" r:id="rId9" imgW="2324100" imgH="254000" progId="Equation.3">
                  <p:embed/>
                  <p:pic>
                    <p:nvPicPr>
                      <p:cNvPr id="0"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71599" y="5257800"/>
                        <a:ext cx="3810001" cy="4215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37" name="Rectangle 9"/>
          <p:cNvSpPr>
            <a:spLocks noChangeArrowheads="1"/>
          </p:cNvSpPr>
          <p:nvPr/>
        </p:nvSpPr>
        <p:spPr bwMode="auto">
          <a:xfrm>
            <a:off x="838200" y="5867400"/>
            <a:ext cx="7157796"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and for at least one row, that is Rows 1 and 3 in this case, the inequality is a strictly greater than inequality.</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12 (cont.)</a:t>
            </a:r>
            <a:endParaRPr lang="en-US" dirty="0"/>
          </a:p>
        </p:txBody>
      </p:sp>
      <p:sp>
        <p:nvSpPr>
          <p:cNvPr id="1259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5953" name="Object 1"/>
          <p:cNvGraphicFramePr>
            <a:graphicFrameLocks noChangeAspect="1"/>
          </p:cNvGraphicFramePr>
          <p:nvPr/>
        </p:nvGraphicFramePr>
        <p:xfrm>
          <a:off x="1182511" y="1981200"/>
          <a:ext cx="2682240" cy="1219200"/>
        </p:xfrm>
        <a:graphic>
          <a:graphicData uri="http://schemas.openxmlformats.org/presentationml/2006/ole">
            <mc:AlternateContent xmlns:mc="http://schemas.openxmlformats.org/markup-compatibility/2006">
              <mc:Choice xmlns:v="urn:schemas-microsoft-com:vml" Requires="v">
                <p:oleObj spid="_x0000_s125976" name="Equation" r:id="rId3" imgW="1574800" imgH="711200" progId="Equation.3">
                  <p:embed/>
                </p:oleObj>
              </mc:Choice>
              <mc:Fallback>
                <p:oleObj name="Equation" r:id="rId3" imgW="1574800" imgH="71120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2511" y="1981200"/>
                        <a:ext cx="268224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1087675" y="3505200"/>
            <a:ext cx="3371436" cy="369332"/>
          </a:xfrm>
          <a:prstGeom prst="rect">
            <a:avLst/>
          </a:prstGeom>
        </p:spPr>
        <p:txBody>
          <a:bodyPr wrap="none">
            <a:spAutoFit/>
          </a:bodyPr>
          <a:lstStyle/>
          <a:p>
            <a:r>
              <a:rPr lang="en-US" dirty="0" smtClean="0">
                <a:latin typeface="Times New Roman" pitchFamily="18" charset="0"/>
                <a:cs typeface="Times New Roman" pitchFamily="18" charset="0"/>
              </a:rPr>
              <a:t>is a diagonally dominant matrix as</a:t>
            </a:r>
            <a:endParaRPr lang="en-US" dirty="0">
              <a:latin typeface="Times New Roman" pitchFamily="18" charset="0"/>
              <a:cs typeface="Times New Roman" pitchFamily="18" charset="0"/>
            </a:endParaRPr>
          </a:p>
        </p:txBody>
      </p:sp>
      <p:sp>
        <p:nvSpPr>
          <p:cNvPr id="1259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5955" name="Object 3"/>
          <p:cNvGraphicFramePr>
            <a:graphicFrameLocks noChangeAspect="1"/>
          </p:cNvGraphicFramePr>
          <p:nvPr/>
        </p:nvGraphicFramePr>
        <p:xfrm>
          <a:off x="1182511" y="4191000"/>
          <a:ext cx="3795889" cy="381000"/>
        </p:xfrm>
        <a:graphic>
          <a:graphicData uri="http://schemas.openxmlformats.org/presentationml/2006/ole">
            <mc:AlternateContent xmlns:mc="http://schemas.openxmlformats.org/markup-compatibility/2006">
              <mc:Choice xmlns:v="urn:schemas-microsoft-com:vml" Requires="v">
                <p:oleObj spid="_x0000_s125977" name="Equation" r:id="rId5" imgW="2565400" imgH="254000" progId="Equation.3">
                  <p:embed/>
                </p:oleObj>
              </mc:Choice>
              <mc:Fallback>
                <p:oleObj name="Equation" r:id="rId5" imgW="2565400" imgH="254000" progId="Equation.3">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2511" y="4191000"/>
                        <a:ext cx="379588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5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5957" name="Object 5"/>
          <p:cNvGraphicFramePr>
            <a:graphicFrameLocks noChangeAspect="1"/>
          </p:cNvGraphicFramePr>
          <p:nvPr/>
        </p:nvGraphicFramePr>
        <p:xfrm>
          <a:off x="1182511" y="4619625"/>
          <a:ext cx="3612444" cy="381000"/>
        </p:xfrm>
        <a:graphic>
          <a:graphicData uri="http://schemas.openxmlformats.org/presentationml/2006/ole">
            <mc:AlternateContent xmlns:mc="http://schemas.openxmlformats.org/markup-compatibility/2006">
              <mc:Choice xmlns:v="urn:schemas-microsoft-com:vml" Requires="v">
                <p:oleObj spid="_x0000_s125978" name="Equation" r:id="rId7" imgW="2438400" imgH="254000" progId="Equation.3">
                  <p:embed/>
                </p:oleObj>
              </mc:Choice>
              <mc:Fallback>
                <p:oleObj name="Equation" r:id="rId7" imgW="2438400" imgH="254000" progId="Equation.3">
                  <p:embed/>
                  <p:pic>
                    <p:nvPicPr>
                      <p:cNvPr id="0"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2511" y="4619625"/>
                        <a:ext cx="361244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5959" name="Object 7"/>
          <p:cNvGraphicFramePr>
            <a:graphicFrameLocks noChangeAspect="1"/>
          </p:cNvGraphicFramePr>
          <p:nvPr/>
        </p:nvGraphicFramePr>
        <p:xfrm>
          <a:off x="1182511" y="5029200"/>
          <a:ext cx="4303889" cy="381000"/>
        </p:xfrm>
        <a:graphic>
          <a:graphicData uri="http://schemas.openxmlformats.org/presentationml/2006/ole">
            <mc:AlternateContent xmlns:mc="http://schemas.openxmlformats.org/markup-compatibility/2006">
              <mc:Choice xmlns:v="urn:schemas-microsoft-com:vml" Requires="v">
                <p:oleObj spid="_x0000_s125979" name="Equation" r:id="rId9" imgW="2908300" imgH="254000" progId="Equation.3">
                  <p:embed/>
                </p:oleObj>
              </mc:Choice>
              <mc:Fallback>
                <p:oleObj name="Equation" r:id="rId9" imgW="2908300" imgH="254000" progId="Equation.3">
                  <p:embed/>
                  <p:pic>
                    <p:nvPicPr>
                      <p:cNvPr id="0"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2511" y="5029200"/>
                        <a:ext cx="430388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p:cNvSpPr/>
          <p:nvPr/>
        </p:nvSpPr>
        <p:spPr>
          <a:xfrm>
            <a:off x="685800" y="5791200"/>
            <a:ext cx="7239000" cy="646331"/>
          </a:xfrm>
          <a:prstGeom prst="rect">
            <a:avLst/>
          </a:prstGeom>
        </p:spPr>
        <p:txBody>
          <a:bodyPr wrap="square">
            <a:spAutoFit/>
          </a:bodyPr>
          <a:lstStyle/>
          <a:p>
            <a:r>
              <a:rPr lang="en-US" dirty="0" smtClean="0">
                <a:latin typeface="Times New Roman" pitchFamily="18" charset="0"/>
                <a:cs typeface="Times New Roman" pitchFamily="18" charset="0"/>
              </a:rPr>
              <a:t>The inequalities are satisfied for all rows and it is satisfied strictly greater than for at least one row (in this case it is Row 3).</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12 (cont.)</a:t>
            </a:r>
            <a:endParaRPr lang="en-US" dirty="0"/>
          </a:p>
        </p:txBody>
      </p:sp>
      <p:sp>
        <p:nvSpPr>
          <p:cNvPr id="1269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6977" name="Object 1"/>
          <p:cNvGraphicFramePr>
            <a:graphicFrameLocks noChangeAspect="1"/>
          </p:cNvGraphicFramePr>
          <p:nvPr/>
        </p:nvGraphicFramePr>
        <p:xfrm>
          <a:off x="1828800" y="1828800"/>
          <a:ext cx="2580640" cy="1524000"/>
        </p:xfrm>
        <a:graphic>
          <a:graphicData uri="http://schemas.openxmlformats.org/presentationml/2006/ole">
            <mc:AlternateContent xmlns:mc="http://schemas.openxmlformats.org/markup-compatibility/2006">
              <mc:Choice xmlns:v="urn:schemas-microsoft-com:vml" Requires="v">
                <p:oleObj spid="_x0000_s126988" name="Equation" r:id="rId3" imgW="1206500" imgH="711200" progId="Equation.3">
                  <p:embed/>
                </p:oleObj>
              </mc:Choice>
              <mc:Fallback>
                <p:oleObj name="Equation" r:id="rId3" imgW="1206500" imgH="7112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828800"/>
                        <a:ext cx="2580640"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838200" y="3669268"/>
            <a:ext cx="2903359" cy="369332"/>
          </a:xfrm>
          <a:prstGeom prst="rect">
            <a:avLst/>
          </a:prstGeom>
        </p:spPr>
        <p:txBody>
          <a:bodyPr wrap="none">
            <a:spAutoFit/>
          </a:bodyPr>
          <a:lstStyle/>
          <a:p>
            <a:r>
              <a:rPr lang="en-US" dirty="0" smtClean="0">
                <a:latin typeface="Times New Roman" pitchFamily="18" charset="0"/>
                <a:cs typeface="Times New Roman" pitchFamily="18" charset="0"/>
              </a:rPr>
              <a:t>is not diagonally dominant as</a:t>
            </a:r>
            <a:endParaRPr lang="en-US" dirty="0">
              <a:latin typeface="Times New Roman" pitchFamily="18" charset="0"/>
              <a:cs typeface="Times New Roman" pitchFamily="18" charset="0"/>
            </a:endParaRPr>
          </a:p>
        </p:txBody>
      </p:sp>
      <p:sp>
        <p:nvSpPr>
          <p:cNvPr id="1269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6979" name="Object 3"/>
          <p:cNvGraphicFramePr>
            <a:graphicFrameLocks noChangeAspect="1"/>
          </p:cNvGraphicFramePr>
          <p:nvPr/>
        </p:nvGraphicFramePr>
        <p:xfrm>
          <a:off x="914400" y="4217203"/>
          <a:ext cx="4038600" cy="430997"/>
        </p:xfrm>
        <a:graphic>
          <a:graphicData uri="http://schemas.openxmlformats.org/presentationml/2006/ole">
            <mc:AlternateContent xmlns:mc="http://schemas.openxmlformats.org/markup-compatibility/2006">
              <mc:Choice xmlns:v="urn:schemas-microsoft-com:vml" Requires="v">
                <p:oleObj spid="_x0000_s126989" name="Equation" r:id="rId5" imgW="2413000" imgH="254000" progId="Equation.3">
                  <p:embed/>
                </p:oleObj>
              </mc:Choice>
              <mc:Fallback>
                <p:oleObj name="Equation" r:id="rId5" imgW="2413000" imgH="2540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4217203"/>
                        <a:ext cx="4038600" cy="4309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13</a:t>
            </a:r>
            <a:endParaRPr lang="en-US" dirty="0"/>
          </a:p>
        </p:txBody>
      </p:sp>
      <p:sp>
        <p:nvSpPr>
          <p:cNvPr id="4" name="Rectangle 3"/>
          <p:cNvSpPr/>
          <p:nvPr/>
        </p:nvSpPr>
        <p:spPr>
          <a:xfrm>
            <a:off x="381000" y="1752600"/>
            <a:ext cx="5334000" cy="369332"/>
          </a:xfrm>
          <a:prstGeom prst="rect">
            <a:avLst/>
          </a:prstGeom>
        </p:spPr>
        <p:txBody>
          <a:bodyPr wrap="square">
            <a:spAutoFit/>
          </a:bodyPr>
          <a:lstStyle/>
          <a:p>
            <a:r>
              <a:rPr lang="en-US" b="1" dirty="0" smtClean="0">
                <a:latin typeface="Times New Roman" pitchFamily="18" charset="0"/>
                <a:cs typeface="Times New Roman" pitchFamily="18" charset="0"/>
              </a:rPr>
              <a:t>When are two matrices considered to be equal?</a:t>
            </a:r>
            <a:endParaRPr lang="en-US" b="1" dirty="0">
              <a:latin typeface="Times New Roman" pitchFamily="18" charset="0"/>
              <a:cs typeface="Times New Roman" pitchFamily="18" charset="0"/>
            </a:endParaRPr>
          </a:p>
        </p:txBody>
      </p:sp>
      <p:sp>
        <p:nvSpPr>
          <p:cNvPr id="5" name="Rectangle 4"/>
          <p:cNvSpPr/>
          <p:nvPr/>
        </p:nvSpPr>
        <p:spPr>
          <a:xfrm>
            <a:off x="381001" y="2286000"/>
            <a:ext cx="8458200" cy="646331"/>
          </a:xfrm>
          <a:prstGeom prst="rect">
            <a:avLst/>
          </a:prstGeom>
        </p:spPr>
        <p:txBody>
          <a:bodyPr wrap="square">
            <a:spAutoFit/>
          </a:bodyPr>
          <a:lstStyle/>
          <a:p>
            <a:r>
              <a:rPr lang="en-US" dirty="0" smtClean="0">
                <a:latin typeface="Times New Roman" pitchFamily="18" charset="0"/>
                <a:cs typeface="Times New Roman" pitchFamily="18" charset="0"/>
              </a:rPr>
              <a:t>Two matrices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and [</a:t>
            </a:r>
            <a:r>
              <a:rPr lang="en-US" i="1" dirty="0" smtClean="0">
                <a:latin typeface="Times New Roman" pitchFamily="18" charset="0"/>
                <a:cs typeface="Times New Roman" pitchFamily="18" charset="0"/>
              </a:rPr>
              <a:t>B</a:t>
            </a:r>
            <a:r>
              <a:rPr lang="en-US" dirty="0" smtClean="0">
                <a:latin typeface="Times New Roman" pitchFamily="18" charset="0"/>
                <a:cs typeface="Times New Roman" pitchFamily="18" charset="0"/>
              </a:rPr>
              <a:t>] is the same (number of rows and columns are same for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and [</a:t>
            </a:r>
            <a:r>
              <a:rPr lang="en-US" i="1" dirty="0" smtClean="0">
                <a:latin typeface="Times New Roman" pitchFamily="18" charset="0"/>
                <a:cs typeface="Times New Roman" pitchFamily="18" charset="0"/>
              </a:rPr>
              <a:t>B</a:t>
            </a:r>
            <a:r>
              <a:rPr lang="en-US" dirty="0" smtClean="0">
                <a:latin typeface="Times New Roman" pitchFamily="18" charset="0"/>
                <a:cs typeface="Times New Roman" pitchFamily="18" charset="0"/>
              </a:rPr>
              <a:t>]) and </a:t>
            </a:r>
            <a:r>
              <a:rPr lang="en-US" i="1" dirty="0" err="1" smtClean="0">
                <a:latin typeface="Times New Roman" pitchFamily="18" charset="0"/>
                <a:cs typeface="Times New Roman" pitchFamily="18" charset="0"/>
              </a:rPr>
              <a:t>a</a:t>
            </a:r>
            <a:r>
              <a:rPr lang="en-US" i="1" baseline="-25000" dirty="0" err="1" smtClean="0">
                <a:latin typeface="Times New Roman" pitchFamily="18" charset="0"/>
                <a:cs typeface="Times New Roman" pitchFamily="18" charset="0"/>
              </a:rPr>
              <a:t>ij</a:t>
            </a:r>
            <a:r>
              <a:rPr lang="en-US" i="1" dirty="0" smtClean="0">
                <a:latin typeface="Times New Roman" pitchFamily="18" charset="0"/>
                <a:cs typeface="Times New Roman" pitchFamily="18" charset="0"/>
              </a:rPr>
              <a:t>=</a:t>
            </a:r>
            <a:r>
              <a:rPr lang="en-US" i="1" dirty="0" err="1" smtClean="0">
                <a:latin typeface="Times New Roman" pitchFamily="18" charset="0"/>
                <a:cs typeface="Times New Roman" pitchFamily="18" charset="0"/>
              </a:rPr>
              <a:t>b</a:t>
            </a:r>
            <a:r>
              <a:rPr lang="en-US" i="1" baseline="-25000" dirty="0" err="1" smtClean="0">
                <a:latin typeface="Times New Roman" pitchFamily="18" charset="0"/>
                <a:cs typeface="Times New Roman" pitchFamily="18" charset="0"/>
              </a:rPr>
              <a:t>ij</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for all </a:t>
            </a:r>
            <a:r>
              <a:rPr lang="en-US" i="1" dirty="0" err="1" smtClean="0">
                <a:latin typeface="Times New Roman" pitchFamily="18" charset="0"/>
                <a:cs typeface="Times New Roman" pitchFamily="18" charset="0"/>
              </a:rPr>
              <a:t>i</a:t>
            </a:r>
            <a:r>
              <a:rPr lang="en-US" i="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and </a:t>
            </a:r>
            <a:r>
              <a:rPr lang="en-US" i="1" dirty="0" smtClean="0">
                <a:latin typeface="Times New Roman" pitchFamily="18" charset="0"/>
                <a:cs typeface="Times New Roman" pitchFamily="18" charset="0"/>
              </a:rPr>
              <a:t>j</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6" name="Rectangle 5"/>
          <p:cNvSpPr/>
          <p:nvPr/>
        </p:nvSpPr>
        <p:spPr>
          <a:xfrm>
            <a:off x="381000" y="3352800"/>
            <a:ext cx="1935145" cy="369332"/>
          </a:xfrm>
          <a:prstGeom prst="rect">
            <a:avLst/>
          </a:prstGeom>
        </p:spPr>
        <p:txBody>
          <a:bodyPr wrap="none">
            <a:spAutoFit/>
          </a:bodyPr>
          <a:lstStyle/>
          <a:p>
            <a:r>
              <a:rPr lang="en-US" dirty="0" smtClean="0">
                <a:latin typeface="Times New Roman" pitchFamily="18" charset="0"/>
                <a:cs typeface="Times New Roman" pitchFamily="18" charset="0"/>
              </a:rPr>
              <a:t>What would make </a:t>
            </a:r>
            <a:endParaRPr lang="en-US" dirty="0">
              <a:latin typeface="Times New Roman" pitchFamily="18" charset="0"/>
              <a:cs typeface="Times New Roman" pitchFamily="18" charset="0"/>
            </a:endParaRPr>
          </a:p>
        </p:txBody>
      </p:sp>
      <p:sp>
        <p:nvSpPr>
          <p:cNvPr id="1280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8001" name="Object 1"/>
          <p:cNvGraphicFramePr>
            <a:graphicFrameLocks noChangeAspect="1"/>
          </p:cNvGraphicFramePr>
          <p:nvPr/>
        </p:nvGraphicFramePr>
        <p:xfrm>
          <a:off x="1447800" y="3733800"/>
          <a:ext cx="1519238" cy="838200"/>
        </p:xfrm>
        <a:graphic>
          <a:graphicData uri="http://schemas.openxmlformats.org/presentationml/2006/ole">
            <mc:AlternateContent xmlns:mc="http://schemas.openxmlformats.org/markup-compatibility/2006">
              <mc:Choice xmlns:v="urn:schemas-microsoft-com:vml" Requires="v">
                <p:oleObj spid="_x0000_s128012" name="Equation" r:id="rId3" imgW="825500" imgH="457200" progId="Equation.3">
                  <p:embed/>
                </p:oleObj>
              </mc:Choice>
              <mc:Fallback>
                <p:oleObj name="Equation" r:id="rId3" imgW="825500" imgH="4572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3733800"/>
                        <a:ext cx="1519238"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p:cNvSpPr/>
          <p:nvPr/>
        </p:nvSpPr>
        <p:spPr>
          <a:xfrm>
            <a:off x="412284" y="4583668"/>
            <a:ext cx="1492716" cy="369332"/>
          </a:xfrm>
          <a:prstGeom prst="rect">
            <a:avLst/>
          </a:prstGeom>
        </p:spPr>
        <p:txBody>
          <a:bodyPr wrap="none">
            <a:spAutoFit/>
          </a:bodyPr>
          <a:lstStyle/>
          <a:p>
            <a:r>
              <a:rPr lang="en-US" dirty="0" smtClean="0">
                <a:latin typeface="Times New Roman" pitchFamily="18" charset="0"/>
                <a:cs typeface="Times New Roman" pitchFamily="18" charset="0"/>
              </a:rPr>
              <a:t>to be equal to </a:t>
            </a:r>
            <a:endParaRPr lang="en-US" dirty="0">
              <a:latin typeface="Times New Roman" pitchFamily="18" charset="0"/>
              <a:cs typeface="Times New Roman" pitchFamily="18" charset="0"/>
            </a:endParaRPr>
          </a:p>
        </p:txBody>
      </p:sp>
      <p:sp>
        <p:nvSpPr>
          <p:cNvPr id="1280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8003" name="Object 3"/>
          <p:cNvGraphicFramePr>
            <a:graphicFrameLocks noChangeAspect="1"/>
          </p:cNvGraphicFramePr>
          <p:nvPr/>
        </p:nvGraphicFramePr>
        <p:xfrm>
          <a:off x="1441823" y="5105400"/>
          <a:ext cx="1758577" cy="838200"/>
        </p:xfrm>
        <a:graphic>
          <a:graphicData uri="http://schemas.openxmlformats.org/presentationml/2006/ole">
            <mc:AlternateContent xmlns:mc="http://schemas.openxmlformats.org/markup-compatibility/2006">
              <mc:Choice xmlns:v="urn:schemas-microsoft-com:vml" Requires="v">
                <p:oleObj spid="_x0000_s128013" name="Equation" r:id="rId5" imgW="1016000" imgH="482600" progId="Equation.3">
                  <p:embed/>
                </p:oleObj>
              </mc:Choice>
              <mc:Fallback>
                <p:oleObj name="Equation" r:id="rId5" imgW="1016000" imgH="4826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1823" y="5105400"/>
                        <a:ext cx="1758577"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381000" y="6096000"/>
            <a:ext cx="7391400" cy="369332"/>
          </a:xfrm>
          <a:prstGeom prst="rect">
            <a:avLst/>
          </a:prstGeom>
          <a:noFill/>
        </p:spPr>
        <p:txBody>
          <a:bodyPr wrap="square" rtlCol="0">
            <a:spAutoFit/>
          </a:bodyPr>
          <a:lstStyle/>
          <a:p>
            <a:r>
              <a:rPr lang="en-US" dirty="0" smtClean="0">
                <a:latin typeface="Times New Roman" pitchFamily="18" charset="0"/>
                <a:cs typeface="Times New Roman" pitchFamily="18" charset="0"/>
              </a:rPr>
              <a:t>The two matrices [</a:t>
            </a:r>
            <a:r>
              <a:rPr lang="en-US" i="1" dirty="0" smtClean="0">
                <a:latin typeface="Times New Roman" pitchFamily="18" charset="0"/>
                <a:cs typeface="Times New Roman" pitchFamily="18" charset="0"/>
              </a:rPr>
              <a:t>A</a:t>
            </a:r>
            <a:r>
              <a:rPr lang="en-US" dirty="0" smtClean="0">
                <a:latin typeface="Times New Roman" pitchFamily="18" charset="0"/>
                <a:cs typeface="Times New Roman" pitchFamily="18" charset="0"/>
              </a:rPr>
              <a:t>] and [</a:t>
            </a:r>
            <a:r>
              <a:rPr lang="en-US" i="1" dirty="0" smtClean="0">
                <a:latin typeface="Times New Roman" pitchFamily="18" charset="0"/>
                <a:cs typeface="Times New Roman" pitchFamily="18" charset="0"/>
              </a:rPr>
              <a:t>B</a:t>
            </a:r>
            <a:r>
              <a:rPr lang="en-US" dirty="0" smtClean="0">
                <a:latin typeface="Times New Roman" pitchFamily="18" charset="0"/>
                <a:cs typeface="Times New Roman" pitchFamily="18" charset="0"/>
              </a:rPr>
              <a:t>] would be equal if </a:t>
            </a:r>
            <a:r>
              <a:rPr lang="en-US" i="1" dirty="0" smtClean="0">
                <a:latin typeface="Times New Roman" pitchFamily="18" charset="0"/>
                <a:cs typeface="Times New Roman" pitchFamily="18" charset="0"/>
              </a:rPr>
              <a:t>b</a:t>
            </a:r>
            <a:r>
              <a:rPr lang="en-US" baseline="-25000" dirty="0" smtClean="0">
                <a:latin typeface="Times New Roman" pitchFamily="18" charset="0"/>
                <a:cs typeface="Times New Roman" pitchFamily="18" charset="0"/>
              </a:rPr>
              <a:t>11</a:t>
            </a:r>
            <a:r>
              <a:rPr lang="en-US" dirty="0" smtClean="0">
                <a:latin typeface="Times New Roman" pitchFamily="18" charset="0"/>
                <a:cs typeface="Times New Roman" pitchFamily="18" charset="0"/>
              </a:rPr>
              <a:t>=2 and </a:t>
            </a:r>
            <a:r>
              <a:rPr lang="en-US" i="1" dirty="0" smtClean="0">
                <a:latin typeface="Times New Roman" pitchFamily="18" charset="0"/>
                <a:cs typeface="Times New Roman" pitchFamily="18" charset="0"/>
              </a:rPr>
              <a:t>b</a:t>
            </a:r>
            <a:r>
              <a:rPr lang="en-US" baseline="-25000" dirty="0" smtClean="0">
                <a:latin typeface="Times New Roman" pitchFamily="18" charset="0"/>
                <a:cs typeface="Times New Roman" pitchFamily="18" charset="0"/>
              </a:rPr>
              <a:t>22</a:t>
            </a:r>
            <a:r>
              <a:rPr lang="en-US" dirty="0" smtClean="0">
                <a:latin typeface="Times New Roman" pitchFamily="18" charset="0"/>
                <a:cs typeface="Times New Roman" pitchFamily="18" charset="0"/>
              </a:rPr>
              <a:t>=7.</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Terms:</a:t>
            </a:r>
            <a:endParaRPr lang="en-US" dirty="0"/>
          </a:p>
        </p:txBody>
      </p:sp>
      <p:sp>
        <p:nvSpPr>
          <p:cNvPr id="3" name="Content Placeholder 2"/>
          <p:cNvSpPr>
            <a:spLocks noGrp="1"/>
          </p:cNvSpPr>
          <p:nvPr>
            <p:ph idx="1"/>
          </p:nvPr>
        </p:nvSpPr>
        <p:spPr/>
        <p:txBody>
          <a:bodyPr/>
          <a:lstStyle/>
          <a:p>
            <a:pPr marL="119062" indent="0">
              <a:buNone/>
            </a:pPr>
            <a:r>
              <a:rPr lang="en-US" sz="1800" i="1" dirty="0">
                <a:latin typeface="Times New Roman" panose="02020603050405020304" pitchFamily="18" charset="0"/>
                <a:cs typeface="Times New Roman" panose="02020603050405020304" pitchFamily="18" charset="0"/>
              </a:rPr>
              <a:t>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Vector</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err="1">
                <a:latin typeface="Times New Roman" panose="02020603050405020304" pitchFamily="18" charset="0"/>
                <a:cs typeface="Times New Roman" panose="02020603050405020304" pitchFamily="18" charset="0"/>
              </a:rPr>
              <a:t>Submatrix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Square 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Equal matrices</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Zero 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Identity 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Diagonal 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Upper triangular 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Lower triangular 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Tri-diagonal matrix</a:t>
            </a:r>
            <a:endParaRPr lang="en-US" sz="1800" dirty="0">
              <a:latin typeface="Times New Roman" panose="02020603050405020304" pitchFamily="18" charset="0"/>
              <a:cs typeface="Times New Roman" panose="02020603050405020304" pitchFamily="18" charset="0"/>
            </a:endParaRPr>
          </a:p>
          <a:p>
            <a:pPr marL="119062" indent="0">
              <a:buNone/>
            </a:pPr>
            <a:r>
              <a:rPr lang="en-US" sz="1800" i="1" dirty="0">
                <a:latin typeface="Times New Roman" panose="02020603050405020304" pitchFamily="18" charset="0"/>
                <a:cs typeface="Times New Roman" panose="02020603050405020304" pitchFamily="18" charset="0"/>
              </a:rPr>
              <a:t>Diagonally dominant matrix</a:t>
            </a:r>
            <a:endParaRPr lang="en-US" sz="1800" dirty="0">
              <a:latin typeface="Times New Roman" panose="02020603050405020304" pitchFamily="18" charset="0"/>
              <a:cs typeface="Times New Roman" panose="02020603050405020304" pitchFamily="18" charset="0"/>
            </a:endParaRPr>
          </a:p>
          <a:p>
            <a:pPr marL="119062"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22233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00475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smtClean="0"/>
              <a:t>Objectives</a:t>
            </a:r>
          </a:p>
        </p:txBody>
      </p:sp>
      <p:sp>
        <p:nvSpPr>
          <p:cNvPr id="36867" name="Content Placeholder 2"/>
          <p:cNvSpPr>
            <a:spLocks noGrp="1"/>
          </p:cNvSpPr>
          <p:nvPr>
            <p:ph idx="1"/>
          </p:nvPr>
        </p:nvSpPr>
        <p:spPr/>
        <p:txBody>
          <a:bodyPr/>
          <a:lstStyle/>
          <a:p>
            <a:pPr marL="631825" indent="-514350">
              <a:lnSpc>
                <a:spcPct val="200000"/>
              </a:lnSpc>
              <a:spcAft>
                <a:spcPts val="1200"/>
              </a:spcAft>
              <a:buFont typeface="Corbel" pitchFamily="34" charset="0"/>
              <a:buAutoNum type="arabicPeriod"/>
            </a:pPr>
            <a:r>
              <a:rPr lang="en-US" sz="2800" i="1" smtClean="0"/>
              <a:t>add, subtract, and multiply matrices, and</a:t>
            </a:r>
          </a:p>
          <a:p>
            <a:pPr marL="631825" indent="-514350">
              <a:lnSpc>
                <a:spcPct val="200000"/>
              </a:lnSpc>
              <a:spcAft>
                <a:spcPts val="1200"/>
              </a:spcAft>
              <a:buFont typeface="Corbel" pitchFamily="34" charset="0"/>
              <a:buAutoNum type="arabicPeriod"/>
            </a:pPr>
            <a:r>
              <a:rPr lang="en-US" sz="2800" i="1" smtClean="0"/>
              <a:t>apply rules of binary operations on matrices.</a:t>
            </a:r>
          </a:p>
          <a:p>
            <a:pPr marL="631825" indent="-514350">
              <a:spcAft>
                <a:spcPts val="1200"/>
              </a:spcAft>
              <a:buFont typeface="Corbel" pitchFamily="34" charset="0"/>
              <a:buAutoNum type="arabicPeriod"/>
            </a:pPr>
            <a:endParaRPr lang="en-US" sz="2800" smtClean="0"/>
          </a:p>
          <a:p>
            <a:pPr marL="631825" indent="-514350"/>
            <a:endParaRPr lang="en-US" smtClean="0"/>
          </a:p>
        </p:txBody>
      </p:sp>
    </p:spTree>
    <p:extLst>
      <p:ext uri="{BB962C8B-B14F-4D97-AF65-F5344CB8AC3E}">
        <p14:creationId xmlns:p14="http://schemas.microsoft.com/office/powerpoint/2010/main" val="2492261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itle 1"/>
          <p:cNvSpPr>
            <a:spLocks noGrp="1"/>
          </p:cNvSpPr>
          <p:nvPr>
            <p:ph type="title"/>
          </p:nvPr>
        </p:nvSpPr>
        <p:spPr/>
        <p:txBody>
          <a:bodyPr/>
          <a:lstStyle/>
          <a:p>
            <a:r>
              <a:rPr lang="en-US" altLang="en-US" sz="4800" smtClean="0"/>
              <a:t>Matrix Addition</a:t>
            </a:r>
            <a:endParaRPr lang="en-US" smtClean="0"/>
          </a:p>
        </p:txBody>
      </p:sp>
      <p:sp>
        <p:nvSpPr>
          <p:cNvPr id="102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1030" name="TextBox 2"/>
          <p:cNvSpPr txBox="1">
            <a:spLocks noChangeArrowheads="1"/>
          </p:cNvSpPr>
          <p:nvPr/>
        </p:nvSpPr>
        <p:spPr bwMode="auto">
          <a:xfrm>
            <a:off x="762000" y="2209800"/>
            <a:ext cx="7924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atin typeface="Times New Roman" pitchFamily="18" charset="0"/>
                <a:cs typeface="Times New Roman" pitchFamily="18" charset="0"/>
              </a:rPr>
              <a:t>Two matrices   and  can be added only if they are the same size. The addition is then shown as </a:t>
            </a:r>
          </a:p>
        </p:txBody>
      </p:sp>
      <p:sp>
        <p:nvSpPr>
          <p:cNvPr id="1031"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026" name="Object 7"/>
          <p:cNvGraphicFramePr>
            <a:graphicFrameLocks noChangeAspect="1"/>
          </p:cNvGraphicFramePr>
          <p:nvPr/>
        </p:nvGraphicFramePr>
        <p:xfrm>
          <a:off x="1447800" y="3352800"/>
          <a:ext cx="2816225" cy="609600"/>
        </p:xfrm>
        <a:graphic>
          <a:graphicData uri="http://schemas.openxmlformats.org/presentationml/2006/ole">
            <mc:AlternateContent xmlns:mc="http://schemas.openxmlformats.org/markup-compatibility/2006">
              <mc:Choice xmlns:v="urn:schemas-microsoft-com:vml" Requires="v">
                <p:oleObj spid="_x0000_s129032" name="Equation" r:id="rId4" imgW="926698" imgH="203112" progId="Equation.3">
                  <p:embed/>
                </p:oleObj>
              </mc:Choice>
              <mc:Fallback>
                <p:oleObj name="Equation" r:id="rId4" imgW="926698"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3352800"/>
                        <a:ext cx="281622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2"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027" name="Object 9"/>
          <p:cNvGraphicFramePr>
            <a:graphicFrameLocks noChangeAspect="1"/>
          </p:cNvGraphicFramePr>
          <p:nvPr/>
        </p:nvGraphicFramePr>
        <p:xfrm>
          <a:off x="1828800" y="5029200"/>
          <a:ext cx="1974850" cy="609600"/>
        </p:xfrm>
        <a:graphic>
          <a:graphicData uri="http://schemas.openxmlformats.org/presentationml/2006/ole">
            <mc:AlternateContent xmlns:mc="http://schemas.openxmlformats.org/markup-compatibility/2006">
              <mc:Choice xmlns:v="urn:schemas-microsoft-com:vml" Requires="v">
                <p:oleObj spid="_x0000_s129033" name="Equation" r:id="rId6" imgW="774364" imgH="241195" progId="Equation.3">
                  <p:embed/>
                </p:oleObj>
              </mc:Choice>
              <mc:Fallback>
                <p:oleObj name="Equation" r:id="rId6" imgW="774364" imgH="24119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5029200"/>
                        <a:ext cx="197485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Rectangle 11"/>
          <p:cNvSpPr>
            <a:spLocks noChangeArrowheads="1"/>
          </p:cNvSpPr>
          <p:nvPr/>
        </p:nvSpPr>
        <p:spPr bwMode="auto">
          <a:xfrm>
            <a:off x="762000" y="4267200"/>
            <a:ext cx="749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where</a:t>
            </a:r>
          </a:p>
        </p:txBody>
      </p:sp>
    </p:spTree>
    <p:extLst>
      <p:ext uri="{BB962C8B-B14F-4D97-AF65-F5344CB8AC3E}">
        <p14:creationId xmlns:p14="http://schemas.microsoft.com/office/powerpoint/2010/main" val="16541595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itle 1"/>
          <p:cNvSpPr>
            <a:spLocks noGrp="1"/>
          </p:cNvSpPr>
          <p:nvPr>
            <p:ph type="title"/>
          </p:nvPr>
        </p:nvSpPr>
        <p:spPr/>
        <p:txBody>
          <a:bodyPr/>
          <a:lstStyle/>
          <a:p>
            <a:r>
              <a:rPr lang="en-US" smtClean="0"/>
              <a:t>Example 1</a:t>
            </a:r>
          </a:p>
        </p:txBody>
      </p:sp>
      <p:sp>
        <p:nvSpPr>
          <p:cNvPr id="2053" name="Rectangle 3"/>
          <p:cNvSpPr>
            <a:spLocks noChangeArrowheads="1"/>
          </p:cNvSpPr>
          <p:nvPr/>
        </p:nvSpPr>
        <p:spPr bwMode="auto">
          <a:xfrm>
            <a:off x="533400" y="1752600"/>
            <a:ext cx="647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atin typeface="Times New Roman" pitchFamily="18" charset="0"/>
                <a:cs typeface="Times New Roman" pitchFamily="18" charset="0"/>
              </a:rPr>
              <a:t>Add  the following two matrices.</a:t>
            </a:r>
            <a:endParaRPr lang="en-US" altLang="en-US">
              <a:latin typeface="Times New Roman" pitchFamily="18" charset="0"/>
              <a:cs typeface="Times New Roman" pitchFamily="18" charset="0"/>
            </a:endParaRPr>
          </a:p>
        </p:txBody>
      </p:sp>
      <p:sp>
        <p:nvSpPr>
          <p:cNvPr id="205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205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2056" name="TextBox 10"/>
          <p:cNvSpPr txBox="1">
            <a:spLocks noChangeArrowheads="1"/>
          </p:cNvSpPr>
          <p:nvPr/>
        </p:nvSpPr>
        <p:spPr bwMode="auto">
          <a:xfrm>
            <a:off x="5562600" y="47244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a:t>.</a:t>
            </a:r>
          </a:p>
        </p:txBody>
      </p:sp>
      <p:sp>
        <p:nvSpPr>
          <p:cNvPr id="2057"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050" name="Object 11"/>
          <p:cNvGraphicFramePr>
            <a:graphicFrameLocks noChangeAspect="1"/>
          </p:cNvGraphicFramePr>
          <p:nvPr/>
        </p:nvGraphicFramePr>
        <p:xfrm>
          <a:off x="762000" y="3124200"/>
          <a:ext cx="2667000" cy="1174750"/>
        </p:xfrm>
        <a:graphic>
          <a:graphicData uri="http://schemas.openxmlformats.org/presentationml/2006/ole">
            <mc:AlternateContent xmlns:mc="http://schemas.openxmlformats.org/markup-compatibility/2006">
              <mc:Choice xmlns:v="urn:schemas-microsoft-com:vml" Requires="v">
                <p:oleObj spid="_x0000_s130056" name="Equation" r:id="rId4" imgW="1041400" imgH="457200" progId="Equation.3">
                  <p:embed/>
                </p:oleObj>
              </mc:Choice>
              <mc:Fallback>
                <p:oleObj name="Equation" r:id="rId4" imgW="10414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124200"/>
                        <a:ext cx="2667000" cy="1174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8"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051" name="Object 13"/>
          <p:cNvGraphicFramePr>
            <a:graphicFrameLocks noChangeAspect="1"/>
          </p:cNvGraphicFramePr>
          <p:nvPr/>
        </p:nvGraphicFramePr>
        <p:xfrm>
          <a:off x="3962400" y="3124200"/>
          <a:ext cx="2971800" cy="1179513"/>
        </p:xfrm>
        <a:graphic>
          <a:graphicData uri="http://schemas.openxmlformats.org/presentationml/2006/ole">
            <mc:AlternateContent xmlns:mc="http://schemas.openxmlformats.org/markup-compatibility/2006">
              <mc:Choice xmlns:v="urn:schemas-microsoft-com:vml" Requires="v">
                <p:oleObj spid="_x0000_s130057" name="Equation" r:id="rId6" imgW="1155700" imgH="457200" progId="Equation.3">
                  <p:embed/>
                </p:oleObj>
              </mc:Choice>
              <mc:Fallback>
                <p:oleObj name="Equation" r:id="rId6" imgW="11557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400" y="3124200"/>
                        <a:ext cx="2971800" cy="1179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861469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Title 1"/>
          <p:cNvSpPr>
            <a:spLocks noGrp="1"/>
          </p:cNvSpPr>
          <p:nvPr>
            <p:ph type="title"/>
          </p:nvPr>
        </p:nvSpPr>
        <p:spPr/>
        <p:txBody>
          <a:bodyPr/>
          <a:lstStyle/>
          <a:p>
            <a:r>
              <a:rPr lang="en-US" smtClean="0"/>
              <a:t>Example 1 (cont.)</a:t>
            </a:r>
          </a:p>
        </p:txBody>
      </p:sp>
      <p:sp>
        <p:nvSpPr>
          <p:cNvPr id="307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308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3081"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074" name="Object 9"/>
          <p:cNvGraphicFramePr>
            <a:graphicFrameLocks noChangeAspect="1"/>
          </p:cNvGraphicFramePr>
          <p:nvPr/>
        </p:nvGraphicFramePr>
        <p:xfrm>
          <a:off x="838200" y="1905000"/>
          <a:ext cx="2111375" cy="457200"/>
        </p:xfrm>
        <a:graphic>
          <a:graphicData uri="http://schemas.openxmlformats.org/presentationml/2006/ole">
            <mc:AlternateContent xmlns:mc="http://schemas.openxmlformats.org/markup-compatibility/2006">
              <mc:Choice xmlns:v="urn:schemas-microsoft-com:vml" Requires="v">
                <p:oleObj spid="_x0000_s131086" name="Equation" r:id="rId4" imgW="926698" imgH="203112" progId="Equation.3">
                  <p:embed/>
                </p:oleObj>
              </mc:Choice>
              <mc:Fallback>
                <p:oleObj name="Equation" r:id="rId4" imgW="926698"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905000"/>
                        <a:ext cx="21113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2"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075" name="Object 11"/>
          <p:cNvGraphicFramePr>
            <a:graphicFrameLocks noChangeAspect="1"/>
          </p:cNvGraphicFramePr>
          <p:nvPr/>
        </p:nvGraphicFramePr>
        <p:xfrm>
          <a:off x="1371600" y="2667000"/>
          <a:ext cx="3933825" cy="1066800"/>
        </p:xfrm>
        <a:graphic>
          <a:graphicData uri="http://schemas.openxmlformats.org/presentationml/2006/ole">
            <mc:AlternateContent xmlns:mc="http://schemas.openxmlformats.org/markup-compatibility/2006">
              <mc:Choice xmlns:v="urn:schemas-microsoft-com:vml" Requires="v">
                <p:oleObj spid="_x0000_s131087" name="Equation" r:id="rId6" imgW="1689100" imgH="457200" progId="Equation.3">
                  <p:embed/>
                </p:oleObj>
              </mc:Choice>
              <mc:Fallback>
                <p:oleObj name="Equation" r:id="rId6" imgW="16891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2667000"/>
                        <a:ext cx="3933825"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3"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076" name="Object 13"/>
          <p:cNvGraphicFramePr>
            <a:graphicFrameLocks noChangeAspect="1"/>
          </p:cNvGraphicFramePr>
          <p:nvPr/>
        </p:nvGraphicFramePr>
        <p:xfrm>
          <a:off x="1371600" y="3962400"/>
          <a:ext cx="3240088" cy="990600"/>
        </p:xfrm>
        <a:graphic>
          <a:graphicData uri="http://schemas.openxmlformats.org/presentationml/2006/ole">
            <mc:AlternateContent xmlns:mc="http://schemas.openxmlformats.org/markup-compatibility/2006">
              <mc:Choice xmlns:v="urn:schemas-microsoft-com:vml" Requires="v">
                <p:oleObj spid="_x0000_s131088" name="Equation" r:id="rId8" imgW="1498600" imgH="457200" progId="Equation.3">
                  <p:embed/>
                </p:oleObj>
              </mc:Choice>
              <mc:Fallback>
                <p:oleObj name="Equation" r:id="rId8" imgW="1498600" imgH="457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3962400"/>
                        <a:ext cx="324008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84"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077" name="Object 15"/>
          <p:cNvGraphicFramePr>
            <a:graphicFrameLocks noChangeAspect="1"/>
          </p:cNvGraphicFramePr>
          <p:nvPr/>
        </p:nvGraphicFramePr>
        <p:xfrm>
          <a:off x="1371600" y="5257800"/>
          <a:ext cx="2043113" cy="990600"/>
        </p:xfrm>
        <a:graphic>
          <a:graphicData uri="http://schemas.openxmlformats.org/presentationml/2006/ole">
            <mc:AlternateContent xmlns:mc="http://schemas.openxmlformats.org/markup-compatibility/2006">
              <mc:Choice xmlns:v="urn:schemas-microsoft-com:vml" Requires="v">
                <p:oleObj spid="_x0000_s131089" name="Equation" r:id="rId10" imgW="939800" imgH="457200" progId="Equation.3">
                  <p:embed/>
                </p:oleObj>
              </mc:Choice>
              <mc:Fallback>
                <p:oleObj name="Equation" r:id="rId10" imgW="939800" imgH="457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1600" y="5257800"/>
                        <a:ext cx="2043113"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04019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itle 1"/>
          <p:cNvSpPr>
            <a:spLocks noGrp="1"/>
          </p:cNvSpPr>
          <p:nvPr>
            <p:ph type="title"/>
          </p:nvPr>
        </p:nvSpPr>
        <p:spPr/>
        <p:txBody>
          <a:bodyPr/>
          <a:lstStyle/>
          <a:p>
            <a:r>
              <a:rPr lang="en-US" smtClean="0"/>
              <a:t>Example 2</a:t>
            </a:r>
          </a:p>
        </p:txBody>
      </p:sp>
      <p:graphicFrame>
        <p:nvGraphicFramePr>
          <p:cNvPr id="4098" name="Object 1"/>
          <p:cNvGraphicFramePr>
            <a:graphicFrameLocks noChangeAspect="1"/>
          </p:cNvGraphicFramePr>
          <p:nvPr/>
        </p:nvGraphicFramePr>
        <p:xfrm>
          <a:off x="0" y="0"/>
          <a:ext cx="114300" cy="123825"/>
        </p:xfrm>
        <a:graphic>
          <a:graphicData uri="http://schemas.openxmlformats.org/presentationml/2006/ole">
            <mc:AlternateContent xmlns:mc="http://schemas.openxmlformats.org/markup-compatibility/2006">
              <mc:Choice xmlns:v="urn:schemas-microsoft-com:vml" Requires="v">
                <p:oleObj spid="_x0000_s132110" name="Equation" r:id="rId4" imgW="114102" imgH="126780" progId="Equation.3">
                  <p:embed/>
                </p:oleObj>
              </mc:Choice>
              <mc:Fallback>
                <p:oleObj name="Equation" r:id="rId4" imgW="114102" imgH="126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3" name="Rectangle 5"/>
          <p:cNvSpPr>
            <a:spLocks noChangeArrowheads="1"/>
          </p:cNvSpPr>
          <p:nvPr/>
        </p:nvSpPr>
        <p:spPr bwMode="auto">
          <a:xfrm>
            <a:off x="457200" y="1752600"/>
            <a:ext cx="84582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400"/>
              </a:lnSpc>
            </a:pPr>
            <a:r>
              <a:rPr lang="en-US">
                <a:latin typeface="Times New Roman" pitchFamily="18" charset="0"/>
                <a:cs typeface="Times New Roman" pitchFamily="18" charset="0"/>
              </a:rPr>
              <a:t>Blowout r’us store has two store locations  and , and their sales of tires are given by make (in rows) and quarters (in columns) as shown below</a:t>
            </a:r>
            <a:r>
              <a:rPr lang="en-US"/>
              <a:t>.</a:t>
            </a:r>
            <a:endParaRPr lang="en-US" altLang="en-US">
              <a:cs typeface="Times New Roman" pitchFamily="18" charset="0"/>
            </a:endParaRPr>
          </a:p>
        </p:txBody>
      </p:sp>
      <p:graphicFrame>
        <p:nvGraphicFramePr>
          <p:cNvPr id="4099" name="Object 4"/>
          <p:cNvGraphicFramePr>
            <a:graphicFrameLocks noChangeAspect="1"/>
          </p:cNvGraphicFramePr>
          <p:nvPr/>
        </p:nvGraphicFramePr>
        <p:xfrm>
          <a:off x="0" y="0"/>
          <a:ext cx="114300" cy="123825"/>
        </p:xfrm>
        <a:graphic>
          <a:graphicData uri="http://schemas.openxmlformats.org/presentationml/2006/ole">
            <mc:AlternateContent xmlns:mc="http://schemas.openxmlformats.org/markup-compatibility/2006">
              <mc:Choice xmlns:v="urn:schemas-microsoft-com:vml" Requires="v">
                <p:oleObj spid="_x0000_s132111" name="Equation" r:id="rId6" imgW="114102" imgH="126780" progId="Equation.3">
                  <p:embed/>
                </p:oleObj>
              </mc:Choice>
              <mc:Fallback>
                <p:oleObj name="Equation" r:id="rId6" imgW="114102" imgH="126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4105"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4106" name="Rectangle 13"/>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altLang="en-US"/>
          </a:p>
        </p:txBody>
      </p:sp>
      <p:sp>
        <p:nvSpPr>
          <p:cNvPr id="4107" name="Rectangle 14"/>
          <p:cNvSpPr>
            <a:spLocks noChangeArrowheads="1"/>
          </p:cNvSpPr>
          <p:nvPr/>
        </p:nvSpPr>
        <p:spPr bwMode="auto">
          <a:xfrm>
            <a:off x="0" y="4572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altLang="en-US"/>
          </a:p>
        </p:txBody>
      </p:sp>
      <p:sp>
        <p:nvSpPr>
          <p:cNvPr id="4108" name="Rectangle 2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4100" name="Object 25"/>
          <p:cNvGraphicFramePr>
            <a:graphicFrameLocks noChangeAspect="1"/>
          </p:cNvGraphicFramePr>
          <p:nvPr/>
        </p:nvGraphicFramePr>
        <p:xfrm>
          <a:off x="685800" y="3124200"/>
          <a:ext cx="3643313" cy="1676400"/>
        </p:xfrm>
        <a:graphic>
          <a:graphicData uri="http://schemas.openxmlformats.org/presentationml/2006/ole">
            <mc:AlternateContent xmlns:mc="http://schemas.openxmlformats.org/markup-compatibility/2006">
              <mc:Choice xmlns:v="urn:schemas-microsoft-com:vml" Requires="v">
                <p:oleObj spid="_x0000_s132112" name="Equation" r:id="rId7" imgW="1548728" imgH="710891" progId="Equation.3">
                  <p:embed/>
                </p:oleObj>
              </mc:Choice>
              <mc:Fallback>
                <p:oleObj name="Equation" r:id="rId7" imgW="1548728" imgH="71089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124200"/>
                        <a:ext cx="364331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9" name="Rectangle 2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4101" name="Object 27"/>
          <p:cNvGraphicFramePr>
            <a:graphicFrameLocks noChangeAspect="1"/>
          </p:cNvGraphicFramePr>
          <p:nvPr/>
        </p:nvGraphicFramePr>
        <p:xfrm>
          <a:off x="4876800" y="3124200"/>
          <a:ext cx="3505200" cy="1695450"/>
        </p:xfrm>
        <a:graphic>
          <a:graphicData uri="http://schemas.openxmlformats.org/presentationml/2006/ole">
            <mc:AlternateContent xmlns:mc="http://schemas.openxmlformats.org/markup-compatibility/2006">
              <mc:Choice xmlns:v="urn:schemas-microsoft-com:vml" Requires="v">
                <p:oleObj spid="_x0000_s132113" name="Equation" r:id="rId9" imgW="1473200" imgH="711200" progId="Equation.3">
                  <p:embed/>
                </p:oleObj>
              </mc:Choice>
              <mc:Fallback>
                <p:oleObj name="Equation" r:id="rId9" imgW="1473200" imgH="71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3124200"/>
                        <a:ext cx="3505200" cy="169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0" name="Rectangle 5"/>
          <p:cNvSpPr>
            <a:spLocks noChangeArrowheads="1"/>
          </p:cNvSpPr>
          <p:nvPr/>
        </p:nvSpPr>
        <p:spPr bwMode="auto">
          <a:xfrm>
            <a:off x="457200" y="5300663"/>
            <a:ext cx="8458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400"/>
              </a:lnSpc>
            </a:pPr>
            <a:r>
              <a:rPr lang="en-US">
                <a:latin typeface="Times New Roman" pitchFamily="18" charset="0"/>
                <a:cs typeface="Times New Roman" pitchFamily="18" charset="0"/>
              </a:rPr>
              <a:t>where the rows represent the sale of Tirestone, Michigan and Copper tires respectively and the columns represent the quarter number: 1, 2, 3 and 4.  What are the total tire sales for the two locations by make and quarter?</a:t>
            </a:r>
            <a:endParaRPr lang="en-US" altLang="en-US">
              <a:latin typeface="Times New Roman" pitchFamily="18" charset="0"/>
              <a:cs typeface="Times New Roman" pitchFamily="18" charset="0"/>
            </a:endParaRPr>
          </a:p>
        </p:txBody>
      </p:sp>
    </p:spTree>
    <p:extLst>
      <p:ext uri="{BB962C8B-B14F-4D97-AF65-F5344CB8AC3E}">
        <p14:creationId xmlns:p14="http://schemas.microsoft.com/office/powerpoint/2010/main" val="4253178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Title 1"/>
          <p:cNvSpPr>
            <a:spLocks noGrp="1"/>
          </p:cNvSpPr>
          <p:nvPr>
            <p:ph type="title"/>
          </p:nvPr>
        </p:nvSpPr>
        <p:spPr/>
        <p:txBody>
          <a:bodyPr/>
          <a:lstStyle/>
          <a:p>
            <a:r>
              <a:rPr lang="en-US" smtClean="0"/>
              <a:t>Example 2 (cont.)</a:t>
            </a:r>
          </a:p>
        </p:txBody>
      </p:sp>
      <p:sp>
        <p:nvSpPr>
          <p:cNvPr id="512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graphicFrame>
        <p:nvGraphicFramePr>
          <p:cNvPr id="5122" name="Object 1"/>
          <p:cNvGraphicFramePr>
            <a:graphicFrameLocks noChangeAspect="1"/>
          </p:cNvGraphicFramePr>
          <p:nvPr/>
        </p:nvGraphicFramePr>
        <p:xfrm>
          <a:off x="0" y="0"/>
          <a:ext cx="1876425" cy="200025"/>
        </p:xfrm>
        <a:graphic>
          <a:graphicData uri="http://schemas.openxmlformats.org/presentationml/2006/ole">
            <mc:AlternateContent xmlns:mc="http://schemas.openxmlformats.org/markup-compatibility/2006">
              <mc:Choice xmlns:v="urn:schemas-microsoft-com:vml" Requires="v">
                <p:oleObj spid="_x0000_s133137" name="Equation" r:id="rId4" imgW="1879600" imgH="203200" progId="Equation.3">
                  <p:embed/>
                </p:oleObj>
              </mc:Choice>
              <mc:Fallback>
                <p:oleObj name="Equation" r:id="rId4" imgW="1879600" imgH="203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87642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0"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1"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2"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3"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4"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5"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6" name="Rectangle 1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7" name="Rectangle 2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8" name="Rectangle 2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39" name="Rectangle 2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5140" name="Rectangle 3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5123" name="Object 29"/>
          <p:cNvGraphicFramePr>
            <a:graphicFrameLocks noChangeAspect="1"/>
          </p:cNvGraphicFramePr>
          <p:nvPr/>
        </p:nvGraphicFramePr>
        <p:xfrm>
          <a:off x="609600" y="1828800"/>
          <a:ext cx="2590800" cy="560388"/>
        </p:xfrm>
        <a:graphic>
          <a:graphicData uri="http://schemas.openxmlformats.org/presentationml/2006/ole">
            <mc:AlternateContent xmlns:mc="http://schemas.openxmlformats.org/markup-compatibility/2006">
              <mc:Choice xmlns:v="urn:schemas-microsoft-com:vml" Requires="v">
                <p:oleObj spid="_x0000_s133138" name="Equation" r:id="rId6" imgW="926698" imgH="203112" progId="Equation.3">
                  <p:embed/>
                </p:oleObj>
              </mc:Choice>
              <mc:Fallback>
                <p:oleObj name="Equation" r:id="rId6" imgW="926698" imgH="20311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1828800"/>
                        <a:ext cx="2590800"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1" name="Rectangle 3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5124" name="Object 31"/>
          <p:cNvGraphicFramePr>
            <a:graphicFrameLocks noChangeAspect="1"/>
          </p:cNvGraphicFramePr>
          <p:nvPr/>
        </p:nvGraphicFramePr>
        <p:xfrm>
          <a:off x="1476375" y="2974975"/>
          <a:ext cx="2157413" cy="1089025"/>
        </p:xfrm>
        <a:graphic>
          <a:graphicData uri="http://schemas.openxmlformats.org/presentationml/2006/ole">
            <mc:AlternateContent xmlns:mc="http://schemas.openxmlformats.org/markup-compatibility/2006">
              <mc:Choice xmlns:v="urn:schemas-microsoft-com:vml" Requires="v">
                <p:oleObj spid="_x0000_s133139" name="Equation" r:id="rId8" imgW="1422360" imgH="711000" progId="Equation.3">
                  <p:embed/>
                </p:oleObj>
              </mc:Choice>
              <mc:Fallback>
                <p:oleObj name="Equation" r:id="rId8" imgW="1422360" imgH="711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6375" y="2974975"/>
                        <a:ext cx="2157413" cy="1089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2" name="Rectangle 3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5125" name="Object 33"/>
          <p:cNvGraphicFramePr>
            <a:graphicFrameLocks noChangeAspect="1"/>
          </p:cNvGraphicFramePr>
          <p:nvPr/>
        </p:nvGraphicFramePr>
        <p:xfrm>
          <a:off x="3581400" y="2971800"/>
          <a:ext cx="1704975" cy="1092200"/>
        </p:xfrm>
        <a:graphic>
          <a:graphicData uri="http://schemas.openxmlformats.org/presentationml/2006/ole">
            <mc:AlternateContent xmlns:mc="http://schemas.openxmlformats.org/markup-compatibility/2006">
              <mc:Choice xmlns:v="urn:schemas-microsoft-com:vml" Requires="v">
                <p:oleObj spid="_x0000_s133140" name="Equation" r:id="rId10" imgW="1117600" imgH="711200" progId="Equation.3">
                  <p:embed/>
                </p:oleObj>
              </mc:Choice>
              <mc:Fallback>
                <p:oleObj name="Equation" r:id="rId10" imgW="1117600" imgH="711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1400" y="2971800"/>
                        <a:ext cx="1704975" cy="109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3" name="Rectangle 3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5126" name="Object 35"/>
          <p:cNvGraphicFramePr>
            <a:graphicFrameLocks noChangeAspect="1"/>
          </p:cNvGraphicFramePr>
          <p:nvPr/>
        </p:nvGraphicFramePr>
        <p:xfrm>
          <a:off x="1508125" y="4495800"/>
          <a:ext cx="4054475" cy="1066800"/>
        </p:xfrm>
        <a:graphic>
          <a:graphicData uri="http://schemas.openxmlformats.org/presentationml/2006/ole">
            <mc:AlternateContent xmlns:mc="http://schemas.openxmlformats.org/markup-compatibility/2006">
              <mc:Choice xmlns:v="urn:schemas-microsoft-com:vml" Requires="v">
                <p:oleObj spid="_x0000_s133141" name="Equation" r:id="rId12" imgW="2717640" imgH="711000" progId="Equation.3">
                  <p:embed/>
                </p:oleObj>
              </mc:Choice>
              <mc:Fallback>
                <p:oleObj name="Equation" r:id="rId12" imgW="2717640" imgH="7110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08125" y="4495800"/>
                        <a:ext cx="4054475"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4" name="Rectangle 3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Tree>
    <p:extLst>
      <p:ext uri="{BB962C8B-B14F-4D97-AF65-F5344CB8AC3E}">
        <p14:creationId xmlns:p14="http://schemas.microsoft.com/office/powerpoint/2010/main" val="14998655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noGrp="1"/>
          </p:cNvSpPr>
          <p:nvPr>
            <p:ph type="title"/>
          </p:nvPr>
        </p:nvSpPr>
        <p:spPr/>
        <p:txBody>
          <a:bodyPr/>
          <a:lstStyle/>
          <a:p>
            <a:r>
              <a:rPr lang="en-US" smtClean="0"/>
              <a:t>Example 2 (cont.)</a:t>
            </a:r>
          </a:p>
        </p:txBody>
      </p:sp>
      <p:sp>
        <p:nvSpPr>
          <p:cNvPr id="614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615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615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6152"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6153"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6154" name="Rectangle 23"/>
          <p:cNvSpPr>
            <a:spLocks noChangeArrowheads="1"/>
          </p:cNvSpPr>
          <p:nvPr/>
        </p:nvSpPr>
        <p:spPr bwMode="auto">
          <a:xfrm>
            <a:off x="533400" y="4625975"/>
            <a:ext cx="7848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400"/>
              </a:lnSpc>
            </a:pPr>
            <a:r>
              <a:rPr lang="en-US">
                <a:latin typeface="Times New Roman" pitchFamily="18" charset="0"/>
                <a:cs typeface="Times New Roman" pitchFamily="18" charset="0"/>
              </a:rPr>
              <a:t>So if one wants to know the total number of Copper tires sold in quarter 4 at the two locations, we would look at Row 3 – Column 4 to give </a:t>
            </a:r>
          </a:p>
        </p:txBody>
      </p:sp>
      <p:sp>
        <p:nvSpPr>
          <p:cNvPr id="6155"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6146" name="Object 24"/>
          <p:cNvGraphicFramePr>
            <a:graphicFrameLocks noChangeAspect="1"/>
          </p:cNvGraphicFramePr>
          <p:nvPr/>
        </p:nvGraphicFramePr>
        <p:xfrm>
          <a:off x="6096000" y="4930775"/>
          <a:ext cx="914400" cy="365125"/>
        </p:xfrm>
        <a:graphic>
          <a:graphicData uri="http://schemas.openxmlformats.org/presentationml/2006/ole">
            <mc:AlternateContent xmlns:mc="http://schemas.openxmlformats.org/markup-compatibility/2006">
              <mc:Choice xmlns:v="urn:schemas-microsoft-com:vml" Requires="v">
                <p:oleObj spid="_x0000_s134152" name="Equation" r:id="rId4" imgW="571252" imgH="228501" progId="Equation.3">
                  <p:embed/>
                </p:oleObj>
              </mc:Choice>
              <mc:Fallback>
                <p:oleObj name="Equation" r:id="rId4" imgW="571252" imgH="22850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930775"/>
                        <a:ext cx="914400"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37"/>
          <p:cNvGraphicFramePr>
            <a:graphicFrameLocks noChangeAspect="1"/>
          </p:cNvGraphicFramePr>
          <p:nvPr/>
        </p:nvGraphicFramePr>
        <p:xfrm>
          <a:off x="2133600" y="2590800"/>
          <a:ext cx="2590800" cy="1387475"/>
        </p:xfrm>
        <a:graphic>
          <a:graphicData uri="http://schemas.openxmlformats.org/presentationml/2006/ole">
            <mc:AlternateContent xmlns:mc="http://schemas.openxmlformats.org/markup-compatibility/2006">
              <mc:Choice xmlns:v="urn:schemas-microsoft-com:vml" Requires="v">
                <p:oleObj spid="_x0000_s134153" name="Equation" r:id="rId6" imgW="1333500" imgH="711200" progId="Equation.3">
                  <p:embed/>
                </p:oleObj>
              </mc:Choice>
              <mc:Fallback>
                <p:oleObj name="Equation" r:id="rId6" imgW="1333500" imgH="711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2590800"/>
                        <a:ext cx="2590800" cy="1387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6" name="TextBox 11"/>
          <p:cNvSpPr txBox="1">
            <a:spLocks noChangeArrowheads="1"/>
          </p:cNvSpPr>
          <p:nvPr/>
        </p:nvSpPr>
        <p:spPr bwMode="auto">
          <a:xfrm>
            <a:off x="533400" y="1687513"/>
            <a:ext cx="2743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atin typeface="Times New Roman" pitchFamily="18" charset="0"/>
                <a:cs typeface="Times New Roman" pitchFamily="18" charset="0"/>
              </a:rPr>
              <a:t>The answer then is,</a:t>
            </a:r>
          </a:p>
        </p:txBody>
      </p:sp>
    </p:spTree>
    <p:extLst>
      <p:ext uri="{BB962C8B-B14F-4D97-AF65-F5344CB8AC3E}">
        <p14:creationId xmlns:p14="http://schemas.microsoft.com/office/powerpoint/2010/main" val="1101221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Title 1"/>
          <p:cNvSpPr>
            <a:spLocks noGrp="1"/>
          </p:cNvSpPr>
          <p:nvPr>
            <p:ph type="title"/>
          </p:nvPr>
        </p:nvSpPr>
        <p:spPr/>
        <p:txBody>
          <a:bodyPr/>
          <a:lstStyle/>
          <a:p>
            <a:r>
              <a:rPr lang="en-US" smtClean="0"/>
              <a:t>Matrix Subtraction</a:t>
            </a:r>
          </a:p>
        </p:txBody>
      </p:sp>
      <p:sp>
        <p:nvSpPr>
          <p:cNvPr id="7175"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7176"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7177"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7178"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7179"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7180" name="Rectangle 15"/>
          <p:cNvSpPr>
            <a:spLocks noChangeArrowheads="1"/>
          </p:cNvSpPr>
          <p:nvPr/>
        </p:nvSpPr>
        <p:spPr bwMode="auto">
          <a:xfrm>
            <a:off x="609600" y="1844675"/>
            <a:ext cx="15446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Two matrices</a:t>
            </a:r>
          </a:p>
        </p:txBody>
      </p:sp>
      <p:sp>
        <p:nvSpPr>
          <p:cNvPr id="7181"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7170" name="Object 16"/>
          <p:cNvGraphicFramePr>
            <a:graphicFrameLocks noChangeAspect="1"/>
          </p:cNvGraphicFramePr>
          <p:nvPr/>
        </p:nvGraphicFramePr>
        <p:xfrm>
          <a:off x="2133600" y="1844675"/>
          <a:ext cx="381000" cy="319088"/>
        </p:xfrm>
        <a:graphic>
          <a:graphicData uri="http://schemas.openxmlformats.org/presentationml/2006/ole">
            <mc:AlternateContent xmlns:mc="http://schemas.openxmlformats.org/markup-compatibility/2006">
              <mc:Choice xmlns:v="urn:schemas-microsoft-com:vml" Requires="v">
                <p:oleObj spid="_x0000_s135182" name="Equation" r:id="rId4" imgW="241195" imgH="203112" progId="Equation.3">
                  <p:embed/>
                </p:oleObj>
              </mc:Choice>
              <mc:Fallback>
                <p:oleObj name="Equation" r:id="rId4" imgW="241195" imgH="203112"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1844675"/>
                        <a:ext cx="381000"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2" name="Rectangle 18"/>
          <p:cNvSpPr>
            <a:spLocks noChangeArrowheads="1"/>
          </p:cNvSpPr>
          <p:nvPr/>
        </p:nvSpPr>
        <p:spPr bwMode="auto">
          <a:xfrm>
            <a:off x="2438400" y="1844675"/>
            <a:ext cx="5699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and</a:t>
            </a:r>
          </a:p>
        </p:txBody>
      </p:sp>
      <p:sp>
        <p:nvSpPr>
          <p:cNvPr id="7183"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7171" name="Object 18"/>
          <p:cNvGraphicFramePr>
            <a:graphicFrameLocks noChangeAspect="1"/>
          </p:cNvGraphicFramePr>
          <p:nvPr/>
        </p:nvGraphicFramePr>
        <p:xfrm>
          <a:off x="2971800" y="1828800"/>
          <a:ext cx="381000" cy="320675"/>
        </p:xfrm>
        <a:graphic>
          <a:graphicData uri="http://schemas.openxmlformats.org/presentationml/2006/ole">
            <mc:AlternateContent xmlns:mc="http://schemas.openxmlformats.org/markup-compatibility/2006">
              <mc:Choice xmlns:v="urn:schemas-microsoft-com:vml" Requires="v">
                <p:oleObj spid="_x0000_s135183" name="Equation" r:id="rId6" imgW="241195" imgH="203112" progId="Equation.3">
                  <p:embed/>
                </p:oleObj>
              </mc:Choice>
              <mc:Fallback>
                <p:oleObj name="Equation" r:id="rId6" imgW="241195" imgH="203112"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1800" y="1828800"/>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4" name="Rectangle 21"/>
          <p:cNvSpPr>
            <a:spLocks noChangeArrowheads="1"/>
          </p:cNvSpPr>
          <p:nvPr/>
        </p:nvSpPr>
        <p:spPr bwMode="auto">
          <a:xfrm>
            <a:off x="609600" y="1844675"/>
            <a:ext cx="7924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atin typeface="Times New Roman" pitchFamily="18" charset="0"/>
                <a:cs typeface="Times New Roman" pitchFamily="18" charset="0"/>
              </a:rPr>
              <a:t>		             can be subtracted only if they are the same size. The subtraction is then given by </a:t>
            </a:r>
          </a:p>
        </p:txBody>
      </p:sp>
      <p:sp>
        <p:nvSpPr>
          <p:cNvPr id="7185"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7172" name="Object 20"/>
          <p:cNvGraphicFramePr>
            <a:graphicFrameLocks noChangeAspect="1"/>
          </p:cNvGraphicFramePr>
          <p:nvPr/>
        </p:nvGraphicFramePr>
        <p:xfrm>
          <a:off x="1371600" y="2819400"/>
          <a:ext cx="2971800" cy="630238"/>
        </p:xfrm>
        <a:graphic>
          <a:graphicData uri="http://schemas.openxmlformats.org/presentationml/2006/ole">
            <mc:AlternateContent xmlns:mc="http://schemas.openxmlformats.org/markup-compatibility/2006">
              <mc:Choice xmlns:v="urn:schemas-microsoft-com:vml" Requires="v">
                <p:oleObj spid="_x0000_s135184" name="Equation" r:id="rId8" imgW="939392" imgH="203112" progId="Equation.3">
                  <p:embed/>
                </p:oleObj>
              </mc:Choice>
              <mc:Fallback>
                <p:oleObj name="Equation" r:id="rId8" imgW="939392" imgH="203112"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2819400"/>
                        <a:ext cx="2971800"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6" name="Rectangle 24"/>
          <p:cNvSpPr>
            <a:spLocks noChangeArrowheads="1"/>
          </p:cNvSpPr>
          <p:nvPr/>
        </p:nvSpPr>
        <p:spPr bwMode="auto">
          <a:xfrm>
            <a:off x="762000" y="3821113"/>
            <a:ext cx="800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Where</a:t>
            </a:r>
          </a:p>
        </p:txBody>
      </p:sp>
      <p:sp>
        <p:nvSpPr>
          <p:cNvPr id="7187"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7173" name="Object 22"/>
          <p:cNvGraphicFramePr>
            <a:graphicFrameLocks noChangeAspect="1"/>
          </p:cNvGraphicFramePr>
          <p:nvPr/>
        </p:nvGraphicFramePr>
        <p:xfrm>
          <a:off x="1524000" y="4492625"/>
          <a:ext cx="2286000" cy="688975"/>
        </p:xfrm>
        <a:graphic>
          <a:graphicData uri="http://schemas.openxmlformats.org/presentationml/2006/ole">
            <mc:AlternateContent xmlns:mc="http://schemas.openxmlformats.org/markup-compatibility/2006">
              <mc:Choice xmlns:v="urn:schemas-microsoft-com:vml" Requires="v">
                <p:oleObj spid="_x0000_s135185" name="Equation" r:id="rId10" imgW="787400" imgH="241300" progId="Equation.3">
                  <p:embed/>
                </p:oleObj>
              </mc:Choice>
              <mc:Fallback>
                <p:oleObj name="Equation" r:id="rId10" imgW="787400" imgH="2413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4000" y="4492625"/>
                        <a:ext cx="2286000"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2120709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Title 1"/>
          <p:cNvSpPr>
            <a:spLocks noGrp="1"/>
          </p:cNvSpPr>
          <p:nvPr>
            <p:ph type="title"/>
          </p:nvPr>
        </p:nvSpPr>
        <p:spPr/>
        <p:txBody>
          <a:bodyPr/>
          <a:lstStyle/>
          <a:p>
            <a:r>
              <a:rPr lang="en-US" smtClean="0"/>
              <a:t>Example 3</a:t>
            </a:r>
          </a:p>
        </p:txBody>
      </p:sp>
      <p:sp>
        <p:nvSpPr>
          <p:cNvPr id="8199" name="Rectangle 3"/>
          <p:cNvSpPr>
            <a:spLocks noChangeArrowheads="1"/>
          </p:cNvSpPr>
          <p:nvPr/>
        </p:nvSpPr>
        <p:spPr bwMode="auto">
          <a:xfrm>
            <a:off x="457200" y="1905000"/>
            <a:ext cx="1671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Subtract matrix </a:t>
            </a:r>
          </a:p>
        </p:txBody>
      </p:sp>
      <p:sp>
        <p:nvSpPr>
          <p:cNvPr id="820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8194" name="Object 1"/>
          <p:cNvGraphicFramePr>
            <a:graphicFrameLocks noChangeAspect="1"/>
          </p:cNvGraphicFramePr>
          <p:nvPr/>
        </p:nvGraphicFramePr>
        <p:xfrm>
          <a:off x="2209800" y="1954213"/>
          <a:ext cx="304800" cy="255587"/>
        </p:xfrm>
        <a:graphic>
          <a:graphicData uri="http://schemas.openxmlformats.org/presentationml/2006/ole">
            <mc:AlternateContent xmlns:mc="http://schemas.openxmlformats.org/markup-compatibility/2006">
              <mc:Choice xmlns:v="urn:schemas-microsoft-com:vml" Requires="v">
                <p:oleObj spid="_x0000_s136206" name="Equation" r:id="rId3" imgW="241195" imgH="203112" progId="Equation.3">
                  <p:embed/>
                </p:oleObj>
              </mc:Choice>
              <mc:Fallback>
                <p:oleObj name="Equation" r:id="rId3" imgW="241195"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954213"/>
                        <a:ext cx="304800" cy="255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1" name="Rectangle 6"/>
          <p:cNvSpPr>
            <a:spLocks noChangeArrowheads="1"/>
          </p:cNvSpPr>
          <p:nvPr/>
        </p:nvSpPr>
        <p:spPr bwMode="auto">
          <a:xfrm>
            <a:off x="2514600" y="1905000"/>
            <a:ext cx="1704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from matrix      </a:t>
            </a:r>
            <a:r>
              <a:rPr lang="en-US"/>
              <a:t>.</a:t>
            </a:r>
          </a:p>
        </p:txBody>
      </p:sp>
      <p:sp>
        <p:nvSpPr>
          <p:cNvPr id="820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8195" name="Object 3"/>
          <p:cNvGraphicFramePr>
            <a:graphicFrameLocks noChangeAspect="1"/>
          </p:cNvGraphicFramePr>
          <p:nvPr/>
        </p:nvGraphicFramePr>
        <p:xfrm>
          <a:off x="3810000" y="1954213"/>
          <a:ext cx="304800" cy="255587"/>
        </p:xfrm>
        <a:graphic>
          <a:graphicData uri="http://schemas.openxmlformats.org/presentationml/2006/ole">
            <mc:AlternateContent xmlns:mc="http://schemas.openxmlformats.org/markup-compatibility/2006">
              <mc:Choice xmlns:v="urn:schemas-microsoft-com:vml" Requires="v">
                <p:oleObj spid="_x0000_s136207" name="Equation" r:id="rId5" imgW="241195" imgH="203112" progId="Equation.3">
                  <p:embed/>
                </p:oleObj>
              </mc:Choice>
              <mc:Fallback>
                <p:oleObj name="Equation" r:id="rId5" imgW="241195" imgH="20311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1954213"/>
                        <a:ext cx="304800" cy="255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8196" name="Object 5"/>
          <p:cNvGraphicFramePr>
            <a:graphicFrameLocks noChangeAspect="1"/>
          </p:cNvGraphicFramePr>
          <p:nvPr/>
        </p:nvGraphicFramePr>
        <p:xfrm>
          <a:off x="1143000" y="2590800"/>
          <a:ext cx="2941638" cy="1295400"/>
        </p:xfrm>
        <a:graphic>
          <a:graphicData uri="http://schemas.openxmlformats.org/presentationml/2006/ole">
            <mc:AlternateContent xmlns:mc="http://schemas.openxmlformats.org/markup-compatibility/2006">
              <mc:Choice xmlns:v="urn:schemas-microsoft-com:vml" Requires="v">
                <p:oleObj spid="_x0000_s136208" name="Equation" r:id="rId7" imgW="1041400" imgH="457200" progId="Equation.3">
                  <p:embed/>
                </p:oleObj>
              </mc:Choice>
              <mc:Fallback>
                <p:oleObj name="Equation" r:id="rId7" imgW="10414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2590800"/>
                        <a:ext cx="2941638"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8197" name="Object 7"/>
          <p:cNvGraphicFramePr>
            <a:graphicFrameLocks noChangeAspect="1"/>
          </p:cNvGraphicFramePr>
          <p:nvPr/>
        </p:nvGraphicFramePr>
        <p:xfrm>
          <a:off x="1219200" y="4267200"/>
          <a:ext cx="3073400" cy="1219200"/>
        </p:xfrm>
        <a:graphic>
          <a:graphicData uri="http://schemas.openxmlformats.org/presentationml/2006/ole">
            <mc:AlternateContent xmlns:mc="http://schemas.openxmlformats.org/markup-compatibility/2006">
              <mc:Choice xmlns:v="urn:schemas-microsoft-com:vml" Requires="v">
                <p:oleObj spid="_x0000_s136209" name="Equation" r:id="rId9" imgW="1155700" imgH="457200" progId="Equation.3">
                  <p:embed/>
                </p:oleObj>
              </mc:Choice>
              <mc:Fallback>
                <p:oleObj name="Equation" r:id="rId9" imgW="11557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9200" y="4267200"/>
                        <a:ext cx="30734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946151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Title 1"/>
          <p:cNvSpPr>
            <a:spLocks noGrp="1"/>
          </p:cNvSpPr>
          <p:nvPr>
            <p:ph type="title"/>
          </p:nvPr>
        </p:nvSpPr>
        <p:spPr/>
        <p:txBody>
          <a:bodyPr/>
          <a:lstStyle/>
          <a:p>
            <a:r>
              <a:rPr lang="en-US" smtClean="0"/>
              <a:t>Example 3 (cont.)</a:t>
            </a:r>
          </a:p>
        </p:txBody>
      </p:sp>
      <p:sp>
        <p:nvSpPr>
          <p:cNvPr id="922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9218" name="Object 1"/>
          <p:cNvGraphicFramePr>
            <a:graphicFrameLocks noChangeAspect="1"/>
          </p:cNvGraphicFramePr>
          <p:nvPr/>
        </p:nvGraphicFramePr>
        <p:xfrm>
          <a:off x="762000" y="1828800"/>
          <a:ext cx="2362200" cy="501650"/>
        </p:xfrm>
        <a:graphic>
          <a:graphicData uri="http://schemas.openxmlformats.org/presentationml/2006/ole">
            <mc:AlternateContent xmlns:mc="http://schemas.openxmlformats.org/markup-compatibility/2006">
              <mc:Choice xmlns:v="urn:schemas-microsoft-com:vml" Requires="v">
                <p:oleObj spid="_x0000_s137230" name="Equation" r:id="rId3" imgW="939392" imgH="203112" progId="Equation.3">
                  <p:embed/>
                </p:oleObj>
              </mc:Choice>
              <mc:Fallback>
                <p:oleObj name="Equation" r:id="rId3" imgW="939392"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828800"/>
                        <a:ext cx="236220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9219" name="Object 3"/>
          <p:cNvGraphicFramePr>
            <a:graphicFrameLocks noChangeAspect="1"/>
          </p:cNvGraphicFramePr>
          <p:nvPr/>
        </p:nvGraphicFramePr>
        <p:xfrm>
          <a:off x="1524000" y="2514600"/>
          <a:ext cx="2809875" cy="762000"/>
        </p:xfrm>
        <a:graphic>
          <a:graphicData uri="http://schemas.openxmlformats.org/presentationml/2006/ole">
            <mc:AlternateContent xmlns:mc="http://schemas.openxmlformats.org/markup-compatibility/2006">
              <mc:Choice xmlns:v="urn:schemas-microsoft-com:vml" Requires="v">
                <p:oleObj spid="_x0000_s137231" name="Equation" r:id="rId5" imgW="1689100" imgH="457200" progId="Equation.3">
                  <p:embed/>
                </p:oleObj>
              </mc:Choice>
              <mc:Fallback>
                <p:oleObj name="Equation" r:id="rId5" imgW="16891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2514600"/>
                        <a:ext cx="280987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9220" name="Object 5"/>
          <p:cNvGraphicFramePr>
            <a:graphicFrameLocks noChangeAspect="1"/>
          </p:cNvGraphicFramePr>
          <p:nvPr/>
        </p:nvGraphicFramePr>
        <p:xfrm>
          <a:off x="1524000" y="3505200"/>
          <a:ext cx="3254375" cy="762000"/>
        </p:xfrm>
        <a:graphic>
          <a:graphicData uri="http://schemas.openxmlformats.org/presentationml/2006/ole">
            <mc:AlternateContent xmlns:mc="http://schemas.openxmlformats.org/markup-compatibility/2006">
              <mc:Choice xmlns:v="urn:schemas-microsoft-com:vml" Requires="v">
                <p:oleObj spid="_x0000_s137232" name="Equation" r:id="rId7" imgW="1955800" imgH="457200" progId="Equation.3">
                  <p:embed/>
                </p:oleObj>
              </mc:Choice>
              <mc:Fallback>
                <p:oleObj name="Equation" r:id="rId7" imgW="19558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3505200"/>
                        <a:ext cx="325437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6"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9221" name="Object 7"/>
          <p:cNvGraphicFramePr>
            <a:graphicFrameLocks noChangeAspect="1"/>
          </p:cNvGraphicFramePr>
          <p:nvPr/>
        </p:nvGraphicFramePr>
        <p:xfrm>
          <a:off x="1447800" y="4906963"/>
          <a:ext cx="2743200" cy="1036637"/>
        </p:xfrm>
        <a:graphic>
          <a:graphicData uri="http://schemas.openxmlformats.org/presentationml/2006/ole">
            <mc:AlternateContent xmlns:mc="http://schemas.openxmlformats.org/markup-compatibility/2006">
              <mc:Choice xmlns:v="urn:schemas-microsoft-com:vml" Requires="v">
                <p:oleObj spid="_x0000_s137233" name="Equation" r:id="rId9" imgW="1206500" imgH="457200" progId="Equation.3">
                  <p:embed/>
                </p:oleObj>
              </mc:Choice>
              <mc:Fallback>
                <p:oleObj name="Equation" r:id="rId9" imgW="12065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906963"/>
                        <a:ext cx="2743200" cy="1036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21482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Title 1"/>
          <p:cNvSpPr>
            <a:spLocks noGrp="1"/>
          </p:cNvSpPr>
          <p:nvPr>
            <p:ph type="title"/>
          </p:nvPr>
        </p:nvSpPr>
        <p:spPr/>
        <p:txBody>
          <a:bodyPr/>
          <a:lstStyle/>
          <a:p>
            <a:r>
              <a:rPr lang="en-US" smtClean="0"/>
              <a:t>Example 4</a:t>
            </a:r>
          </a:p>
        </p:txBody>
      </p:sp>
      <p:graphicFrame>
        <p:nvGraphicFramePr>
          <p:cNvPr id="10242" name="Object 1"/>
          <p:cNvGraphicFramePr>
            <a:graphicFrameLocks noChangeAspect="1"/>
          </p:cNvGraphicFramePr>
          <p:nvPr/>
        </p:nvGraphicFramePr>
        <p:xfrm>
          <a:off x="0" y="0"/>
          <a:ext cx="114300" cy="123825"/>
        </p:xfrm>
        <a:graphic>
          <a:graphicData uri="http://schemas.openxmlformats.org/presentationml/2006/ole">
            <mc:AlternateContent xmlns:mc="http://schemas.openxmlformats.org/markup-compatibility/2006">
              <mc:Choice xmlns:v="urn:schemas-microsoft-com:vml" Requires="v">
                <p:oleObj spid="_x0000_s138254" name="Equation" r:id="rId4" imgW="114102" imgH="126780" progId="Equation.3">
                  <p:embed/>
                </p:oleObj>
              </mc:Choice>
              <mc:Fallback>
                <p:oleObj name="Equation" r:id="rId4" imgW="114102" imgH="126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7" name="Rectangle 5"/>
          <p:cNvSpPr>
            <a:spLocks noChangeArrowheads="1"/>
          </p:cNvSpPr>
          <p:nvPr/>
        </p:nvSpPr>
        <p:spPr bwMode="auto">
          <a:xfrm>
            <a:off x="457200" y="1752600"/>
            <a:ext cx="84582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400"/>
              </a:lnSpc>
            </a:pPr>
            <a:r>
              <a:rPr lang="en-US">
                <a:latin typeface="Times New Roman" pitchFamily="18" charset="0"/>
                <a:cs typeface="Times New Roman" pitchFamily="18" charset="0"/>
              </a:rPr>
              <a:t>Blowout r’us store has two store locations  and , and their sales of tires are given by make (in rows) and quarters (in columns) as shown below.</a:t>
            </a:r>
            <a:endParaRPr lang="en-US" altLang="en-US">
              <a:latin typeface="Times New Roman" pitchFamily="18" charset="0"/>
              <a:cs typeface="Times New Roman" pitchFamily="18" charset="0"/>
            </a:endParaRPr>
          </a:p>
        </p:txBody>
      </p:sp>
      <p:graphicFrame>
        <p:nvGraphicFramePr>
          <p:cNvPr id="10243" name="Object 4"/>
          <p:cNvGraphicFramePr>
            <a:graphicFrameLocks noChangeAspect="1"/>
          </p:cNvGraphicFramePr>
          <p:nvPr/>
        </p:nvGraphicFramePr>
        <p:xfrm>
          <a:off x="0" y="0"/>
          <a:ext cx="114300" cy="123825"/>
        </p:xfrm>
        <a:graphic>
          <a:graphicData uri="http://schemas.openxmlformats.org/presentationml/2006/ole">
            <mc:AlternateContent xmlns:mc="http://schemas.openxmlformats.org/markup-compatibility/2006">
              <mc:Choice xmlns:v="urn:schemas-microsoft-com:vml" Requires="v">
                <p:oleObj spid="_x0000_s138255" name="Equation" r:id="rId6" imgW="114102" imgH="126780" progId="Equation.3">
                  <p:embed/>
                </p:oleObj>
              </mc:Choice>
              <mc:Fallback>
                <p:oleObj name="Equation" r:id="rId6" imgW="114102" imgH="126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10249"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10250" name="Rectangle 13"/>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altLang="en-US"/>
          </a:p>
        </p:txBody>
      </p:sp>
      <p:sp>
        <p:nvSpPr>
          <p:cNvPr id="10251" name="Rectangle 2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0244" name="Object 25"/>
          <p:cNvGraphicFramePr>
            <a:graphicFrameLocks noChangeAspect="1"/>
          </p:cNvGraphicFramePr>
          <p:nvPr/>
        </p:nvGraphicFramePr>
        <p:xfrm>
          <a:off x="685800" y="3124200"/>
          <a:ext cx="3643313" cy="1676400"/>
        </p:xfrm>
        <a:graphic>
          <a:graphicData uri="http://schemas.openxmlformats.org/presentationml/2006/ole">
            <mc:AlternateContent xmlns:mc="http://schemas.openxmlformats.org/markup-compatibility/2006">
              <mc:Choice xmlns:v="urn:schemas-microsoft-com:vml" Requires="v">
                <p:oleObj spid="_x0000_s138256" name="Equation" r:id="rId7" imgW="1548728" imgH="710891" progId="Equation.3">
                  <p:embed/>
                </p:oleObj>
              </mc:Choice>
              <mc:Fallback>
                <p:oleObj name="Equation" r:id="rId7" imgW="1548728" imgH="71089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124200"/>
                        <a:ext cx="364331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2" name="Rectangle 2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0245" name="Object 27"/>
          <p:cNvGraphicFramePr>
            <a:graphicFrameLocks noChangeAspect="1"/>
          </p:cNvGraphicFramePr>
          <p:nvPr/>
        </p:nvGraphicFramePr>
        <p:xfrm>
          <a:off x="4876800" y="3124200"/>
          <a:ext cx="3429000" cy="1658938"/>
        </p:xfrm>
        <a:graphic>
          <a:graphicData uri="http://schemas.openxmlformats.org/presentationml/2006/ole">
            <mc:AlternateContent xmlns:mc="http://schemas.openxmlformats.org/markup-compatibility/2006">
              <mc:Choice xmlns:v="urn:schemas-microsoft-com:vml" Requires="v">
                <p:oleObj spid="_x0000_s138257" name="Equation" r:id="rId9" imgW="1473200" imgH="711200" progId="Equation.3">
                  <p:embed/>
                </p:oleObj>
              </mc:Choice>
              <mc:Fallback>
                <p:oleObj name="Equation" r:id="rId9" imgW="1473200" imgH="71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3124200"/>
                        <a:ext cx="3429000" cy="165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3" name="Rectangle 5"/>
          <p:cNvSpPr>
            <a:spLocks noChangeArrowheads="1"/>
          </p:cNvSpPr>
          <p:nvPr/>
        </p:nvSpPr>
        <p:spPr bwMode="auto">
          <a:xfrm>
            <a:off x="457200" y="5300663"/>
            <a:ext cx="8458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400"/>
              </a:lnSpc>
            </a:pPr>
            <a:r>
              <a:rPr lang="en-US">
                <a:latin typeface="Times New Roman" pitchFamily="18" charset="0"/>
                <a:cs typeface="Times New Roman" pitchFamily="18" charset="0"/>
              </a:rPr>
              <a:t>where the rows represent the sale of Tirestone, Michigan and Copper tires respectively and the columns represent the quarter number: 1, 2, 3 and 4.  What are the total tire sales for the two locations by make and quarter?</a:t>
            </a:r>
            <a:endParaRPr lang="en-US" altLang="en-US">
              <a:latin typeface="Times New Roman" pitchFamily="18" charset="0"/>
              <a:cs typeface="Times New Roman" pitchFamily="18" charset="0"/>
            </a:endParaRPr>
          </a:p>
        </p:txBody>
      </p:sp>
    </p:spTree>
    <p:extLst>
      <p:ext uri="{BB962C8B-B14F-4D97-AF65-F5344CB8AC3E}">
        <p14:creationId xmlns:p14="http://schemas.microsoft.com/office/powerpoint/2010/main" val="254647908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Title 1"/>
          <p:cNvSpPr>
            <a:spLocks noGrp="1"/>
          </p:cNvSpPr>
          <p:nvPr>
            <p:ph type="title"/>
          </p:nvPr>
        </p:nvSpPr>
        <p:spPr/>
        <p:txBody>
          <a:bodyPr/>
          <a:lstStyle/>
          <a:p>
            <a:r>
              <a:rPr lang="en-US" smtClean="0"/>
              <a:t>Example 4 (cont.)</a:t>
            </a:r>
          </a:p>
        </p:txBody>
      </p:sp>
      <p:sp>
        <p:nvSpPr>
          <p:cNvPr id="1127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1266" name="Object 1"/>
          <p:cNvGraphicFramePr>
            <a:graphicFrameLocks noChangeAspect="1"/>
          </p:cNvGraphicFramePr>
          <p:nvPr/>
        </p:nvGraphicFramePr>
        <p:xfrm>
          <a:off x="685800" y="1828800"/>
          <a:ext cx="2590800" cy="549275"/>
        </p:xfrm>
        <a:graphic>
          <a:graphicData uri="http://schemas.openxmlformats.org/presentationml/2006/ole">
            <mc:AlternateContent xmlns:mc="http://schemas.openxmlformats.org/markup-compatibility/2006">
              <mc:Choice xmlns:v="urn:schemas-microsoft-com:vml" Requires="v">
                <p:oleObj spid="_x0000_s139278" name="Equation" r:id="rId3" imgW="939392" imgH="203112" progId="Equation.3">
                  <p:embed/>
                </p:oleObj>
              </mc:Choice>
              <mc:Fallback>
                <p:oleObj name="Equation" r:id="rId3" imgW="939392"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828800"/>
                        <a:ext cx="2590800"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7" name="Object 31"/>
          <p:cNvGraphicFramePr>
            <a:graphicFrameLocks noChangeAspect="1"/>
          </p:cNvGraphicFramePr>
          <p:nvPr/>
        </p:nvGraphicFramePr>
        <p:xfrm>
          <a:off x="1447800" y="2900363"/>
          <a:ext cx="2254250" cy="1136650"/>
        </p:xfrm>
        <a:graphic>
          <a:graphicData uri="http://schemas.openxmlformats.org/presentationml/2006/ole">
            <mc:AlternateContent xmlns:mc="http://schemas.openxmlformats.org/markup-compatibility/2006">
              <mc:Choice xmlns:v="urn:schemas-microsoft-com:vml" Requires="v">
                <p:oleObj spid="_x0000_s139279" name="Equation" r:id="rId5" imgW="1422360" imgH="711000" progId="Equation.3">
                  <p:embed/>
                </p:oleObj>
              </mc:Choice>
              <mc:Fallback>
                <p:oleObj name="Equation" r:id="rId5" imgW="1422360" imgH="711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2900363"/>
                        <a:ext cx="2254250" cy="1136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 name="Object 33"/>
          <p:cNvGraphicFramePr>
            <a:graphicFrameLocks noChangeAspect="1"/>
          </p:cNvGraphicFramePr>
          <p:nvPr/>
        </p:nvGraphicFramePr>
        <p:xfrm>
          <a:off x="3657600" y="2897188"/>
          <a:ext cx="1781175" cy="1141412"/>
        </p:xfrm>
        <a:graphic>
          <a:graphicData uri="http://schemas.openxmlformats.org/presentationml/2006/ole">
            <mc:AlternateContent xmlns:mc="http://schemas.openxmlformats.org/markup-compatibility/2006">
              <mc:Choice xmlns:v="urn:schemas-microsoft-com:vml" Requires="v">
                <p:oleObj spid="_x0000_s139280" name="Equation" r:id="rId7" imgW="1117600" imgH="711200" progId="Equation.3">
                  <p:embed/>
                </p:oleObj>
              </mc:Choice>
              <mc:Fallback>
                <p:oleObj name="Equation" r:id="rId7" imgW="1117600" imgH="71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2897188"/>
                        <a:ext cx="1781175" cy="1141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2"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1269" name="Object 7"/>
          <p:cNvGraphicFramePr>
            <a:graphicFrameLocks noChangeAspect="1"/>
          </p:cNvGraphicFramePr>
          <p:nvPr/>
        </p:nvGraphicFramePr>
        <p:xfrm>
          <a:off x="1447800" y="4572000"/>
          <a:ext cx="3584575" cy="1066800"/>
        </p:xfrm>
        <a:graphic>
          <a:graphicData uri="http://schemas.openxmlformats.org/presentationml/2006/ole">
            <mc:AlternateContent xmlns:mc="http://schemas.openxmlformats.org/markup-compatibility/2006">
              <mc:Choice xmlns:v="urn:schemas-microsoft-com:vml" Requires="v">
                <p:oleObj spid="_x0000_s139281" name="Equation" r:id="rId9" imgW="2400300" imgH="711200" progId="Equation.3">
                  <p:embed/>
                </p:oleObj>
              </mc:Choice>
              <mc:Fallback>
                <p:oleObj name="Equation" r:id="rId9" imgW="2400300" imgH="71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7800" y="4572000"/>
                        <a:ext cx="3584575"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3"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Tree>
    <p:extLst>
      <p:ext uri="{BB962C8B-B14F-4D97-AF65-F5344CB8AC3E}">
        <p14:creationId xmlns:p14="http://schemas.microsoft.com/office/powerpoint/2010/main" val="29314910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Title 1"/>
          <p:cNvSpPr>
            <a:spLocks noGrp="1"/>
          </p:cNvSpPr>
          <p:nvPr>
            <p:ph type="title"/>
          </p:nvPr>
        </p:nvSpPr>
        <p:spPr/>
        <p:txBody>
          <a:bodyPr/>
          <a:lstStyle/>
          <a:p>
            <a:r>
              <a:rPr lang="en-US" smtClean="0"/>
              <a:t>Example 4 (cont.)</a:t>
            </a:r>
          </a:p>
        </p:txBody>
      </p:sp>
      <p:sp>
        <p:nvSpPr>
          <p:cNvPr id="12294" name="Rectangle 3"/>
          <p:cNvSpPr>
            <a:spLocks noChangeArrowheads="1"/>
          </p:cNvSpPr>
          <p:nvPr/>
        </p:nvSpPr>
        <p:spPr bwMode="auto">
          <a:xfrm>
            <a:off x="304800" y="4562475"/>
            <a:ext cx="8610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atin typeface="Times New Roman" pitchFamily="18" charset="0"/>
                <a:cs typeface="Times New Roman" pitchFamily="18" charset="0"/>
              </a:rPr>
              <a:t>So if you want to know how many more Copper tires were sold in quarter 4 in store </a:t>
            </a:r>
            <a:r>
              <a:rPr lang="en-US" i="1">
                <a:latin typeface="Times New Roman" pitchFamily="18" charset="0"/>
                <a:cs typeface="Times New Roman" pitchFamily="18" charset="0"/>
              </a:rPr>
              <a:t>A</a:t>
            </a:r>
            <a:r>
              <a:rPr lang="en-US">
                <a:latin typeface="Times New Roman" pitchFamily="18" charset="0"/>
                <a:cs typeface="Times New Roman" pitchFamily="18" charset="0"/>
              </a:rPr>
              <a:t> than store </a:t>
            </a:r>
            <a:r>
              <a:rPr lang="en-US" i="1">
                <a:latin typeface="Times New Roman" pitchFamily="18" charset="0"/>
                <a:cs typeface="Times New Roman" pitchFamily="18" charset="0"/>
              </a:rPr>
              <a:t>B</a:t>
            </a:r>
            <a:r>
              <a:rPr lang="en-US">
                <a:latin typeface="Times New Roman" pitchFamily="18" charset="0"/>
                <a:cs typeface="Times New Roman" pitchFamily="18" charset="0"/>
              </a:rPr>
              <a:t>,	        .  Note that 	        implies that store </a:t>
            </a:r>
            <a:r>
              <a:rPr lang="en-US" i="1">
                <a:latin typeface="Times New Roman" pitchFamily="18" charset="0"/>
                <a:cs typeface="Times New Roman" pitchFamily="18" charset="0"/>
              </a:rPr>
              <a:t>A</a:t>
            </a:r>
            <a:r>
              <a:rPr lang="en-US">
                <a:latin typeface="Times New Roman" pitchFamily="18" charset="0"/>
                <a:cs typeface="Times New Roman" pitchFamily="18" charset="0"/>
              </a:rPr>
              <a:t> sold 1 less in Michigan tire than store </a:t>
            </a:r>
            <a:r>
              <a:rPr lang="en-US" i="1">
                <a:latin typeface="Times New Roman" pitchFamily="18" charset="0"/>
                <a:cs typeface="Times New Roman" pitchFamily="18" charset="0"/>
              </a:rPr>
              <a:t>B</a:t>
            </a:r>
            <a:r>
              <a:rPr lang="en-US">
                <a:latin typeface="Times New Roman" pitchFamily="18" charset="0"/>
                <a:cs typeface="Times New Roman" pitchFamily="18" charset="0"/>
              </a:rPr>
              <a:t> in quarter 3.</a:t>
            </a:r>
          </a:p>
        </p:txBody>
      </p:sp>
      <p:sp>
        <p:nvSpPr>
          <p:cNvPr id="1229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1229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1229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2290" name="Object 5"/>
          <p:cNvGraphicFramePr>
            <a:graphicFrameLocks noChangeAspect="1"/>
          </p:cNvGraphicFramePr>
          <p:nvPr/>
        </p:nvGraphicFramePr>
        <p:xfrm>
          <a:off x="1143000" y="4876800"/>
          <a:ext cx="647700" cy="304800"/>
        </p:xfrm>
        <a:graphic>
          <a:graphicData uri="http://schemas.openxmlformats.org/presentationml/2006/ole">
            <mc:AlternateContent xmlns:mc="http://schemas.openxmlformats.org/markup-compatibility/2006">
              <mc:Choice xmlns:v="urn:schemas-microsoft-com:vml" Requires="v">
                <p:oleObj spid="_x0000_s140299" name="Equation" r:id="rId3" imgW="482391" imgH="228501" progId="Equation.3">
                  <p:embed/>
                </p:oleObj>
              </mc:Choice>
              <mc:Fallback>
                <p:oleObj name="Equation" r:id="rId3" imgW="482391"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876800"/>
                        <a:ext cx="647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2291" name="Object 7"/>
          <p:cNvGraphicFramePr>
            <a:graphicFrameLocks noChangeAspect="1"/>
          </p:cNvGraphicFramePr>
          <p:nvPr/>
        </p:nvGraphicFramePr>
        <p:xfrm>
          <a:off x="2857500" y="4876800"/>
          <a:ext cx="723900" cy="304800"/>
        </p:xfrm>
        <a:graphic>
          <a:graphicData uri="http://schemas.openxmlformats.org/presentationml/2006/ole">
            <mc:AlternateContent xmlns:mc="http://schemas.openxmlformats.org/markup-compatibility/2006">
              <mc:Choice xmlns:v="urn:schemas-microsoft-com:vml" Requires="v">
                <p:oleObj spid="_x0000_s140300" name="Equation" r:id="rId5" imgW="545863" imgH="228501" progId="Equation.3">
                  <p:embed/>
                </p:oleObj>
              </mc:Choice>
              <mc:Fallback>
                <p:oleObj name="Equation" r:id="rId5" imgW="545863" imgH="22850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0" y="4876800"/>
                        <a:ext cx="7239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9"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2292" name="Object 9"/>
          <p:cNvGraphicFramePr>
            <a:graphicFrameLocks noChangeAspect="1"/>
          </p:cNvGraphicFramePr>
          <p:nvPr/>
        </p:nvGraphicFramePr>
        <p:xfrm>
          <a:off x="1905000" y="2487613"/>
          <a:ext cx="2438400" cy="1474787"/>
        </p:xfrm>
        <a:graphic>
          <a:graphicData uri="http://schemas.openxmlformats.org/presentationml/2006/ole">
            <mc:AlternateContent xmlns:mc="http://schemas.openxmlformats.org/markup-compatibility/2006">
              <mc:Choice xmlns:v="urn:schemas-microsoft-com:vml" Requires="v">
                <p:oleObj spid="_x0000_s140301" name="Equation" r:id="rId7" imgW="1180588" imgH="710891" progId="Equation.3">
                  <p:embed/>
                </p:oleObj>
              </mc:Choice>
              <mc:Fallback>
                <p:oleObj name="Equation" r:id="rId7" imgW="1180588" imgH="71089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2487613"/>
                        <a:ext cx="2438400" cy="1474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00" name="TextBox 20"/>
          <p:cNvSpPr txBox="1">
            <a:spLocks noChangeArrowheads="1"/>
          </p:cNvSpPr>
          <p:nvPr/>
        </p:nvSpPr>
        <p:spPr bwMode="auto">
          <a:xfrm>
            <a:off x="533400" y="1687513"/>
            <a:ext cx="2743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atin typeface="Times New Roman" pitchFamily="18" charset="0"/>
                <a:cs typeface="Times New Roman" pitchFamily="18" charset="0"/>
              </a:rPr>
              <a:t>The answer then is,</a:t>
            </a:r>
          </a:p>
        </p:txBody>
      </p:sp>
    </p:spTree>
    <p:extLst>
      <p:ext uri="{BB962C8B-B14F-4D97-AF65-F5344CB8AC3E}">
        <p14:creationId xmlns:p14="http://schemas.microsoft.com/office/powerpoint/2010/main" val="1663788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1" name="Title 1"/>
          <p:cNvSpPr>
            <a:spLocks noGrp="1"/>
          </p:cNvSpPr>
          <p:nvPr>
            <p:ph type="title"/>
          </p:nvPr>
        </p:nvSpPr>
        <p:spPr/>
        <p:txBody>
          <a:bodyPr/>
          <a:lstStyle/>
          <a:p>
            <a:r>
              <a:rPr lang="en-US" smtClean="0"/>
              <a:t>Matrix Multiplication</a:t>
            </a:r>
          </a:p>
        </p:txBody>
      </p:sp>
      <p:sp>
        <p:nvSpPr>
          <p:cNvPr id="13322" name="Rectangle 12"/>
          <p:cNvSpPr>
            <a:spLocks noChangeArrowheads="1"/>
          </p:cNvSpPr>
          <p:nvPr/>
        </p:nvSpPr>
        <p:spPr bwMode="auto">
          <a:xfrm>
            <a:off x="582613" y="2068513"/>
            <a:ext cx="79517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atin typeface="Times New Roman" pitchFamily="18" charset="0"/>
                <a:cs typeface="Times New Roman" pitchFamily="18" charset="0"/>
              </a:rPr>
              <a:t>Two matrices [</a:t>
            </a:r>
            <a:r>
              <a:rPr lang="en-US" i="1">
                <a:latin typeface="Times New Roman" pitchFamily="18" charset="0"/>
                <a:cs typeface="Times New Roman" pitchFamily="18" charset="0"/>
              </a:rPr>
              <a:t>A</a:t>
            </a:r>
            <a:r>
              <a:rPr lang="en-US">
                <a:latin typeface="Times New Roman" pitchFamily="18" charset="0"/>
                <a:cs typeface="Times New Roman" pitchFamily="18" charset="0"/>
              </a:rPr>
              <a:t>] and [</a:t>
            </a:r>
            <a:r>
              <a:rPr lang="en-US" i="1">
                <a:latin typeface="Times New Roman" pitchFamily="18" charset="0"/>
                <a:cs typeface="Times New Roman" pitchFamily="18" charset="0"/>
              </a:rPr>
              <a:t>B</a:t>
            </a:r>
            <a:r>
              <a:rPr lang="en-US">
                <a:latin typeface="Times New Roman" pitchFamily="18" charset="0"/>
                <a:cs typeface="Times New Roman" pitchFamily="18" charset="0"/>
              </a:rPr>
              <a:t>] can be multiplied only if the number of columns of [</a:t>
            </a:r>
            <a:r>
              <a:rPr lang="en-US" i="1">
                <a:latin typeface="Times New Roman" pitchFamily="18" charset="0"/>
                <a:cs typeface="Times New Roman" pitchFamily="18" charset="0"/>
              </a:rPr>
              <a:t>A</a:t>
            </a:r>
            <a:r>
              <a:rPr lang="en-US">
                <a:latin typeface="Times New Roman" pitchFamily="18" charset="0"/>
                <a:cs typeface="Times New Roman" pitchFamily="18" charset="0"/>
              </a:rPr>
              <a:t>] is equal to the number of rows of [</a:t>
            </a:r>
            <a:r>
              <a:rPr lang="en-US" i="1">
                <a:latin typeface="Times New Roman" pitchFamily="18" charset="0"/>
                <a:cs typeface="Times New Roman" pitchFamily="18" charset="0"/>
              </a:rPr>
              <a:t>B</a:t>
            </a:r>
            <a:r>
              <a:rPr lang="en-US">
                <a:latin typeface="Times New Roman" pitchFamily="18" charset="0"/>
                <a:cs typeface="Times New Roman" pitchFamily="18" charset="0"/>
              </a:rPr>
              <a:t>] to give</a:t>
            </a:r>
          </a:p>
        </p:txBody>
      </p:sp>
      <p:sp>
        <p:nvSpPr>
          <p:cNvPr id="13323"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3314" name="Object 13"/>
          <p:cNvGraphicFramePr>
            <a:graphicFrameLocks noChangeAspect="1"/>
          </p:cNvGraphicFramePr>
          <p:nvPr/>
        </p:nvGraphicFramePr>
        <p:xfrm>
          <a:off x="762000" y="3479800"/>
          <a:ext cx="3200400" cy="558800"/>
        </p:xfrm>
        <a:graphic>
          <a:graphicData uri="http://schemas.openxmlformats.org/presentationml/2006/ole">
            <mc:AlternateContent xmlns:mc="http://schemas.openxmlformats.org/markup-compatibility/2006">
              <mc:Choice xmlns:v="urn:schemas-microsoft-com:vml" Requires="v">
                <p:oleObj spid="_x0000_s141335" name="Equation" r:id="rId3" imgW="1358310" imgH="241195" progId="Equation.3">
                  <p:embed/>
                </p:oleObj>
              </mc:Choice>
              <mc:Fallback>
                <p:oleObj name="Equation" r:id="rId3" imgW="1358310" imgH="24119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479800"/>
                        <a:ext cx="3200400"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4" name="Rectangle 18"/>
          <p:cNvSpPr>
            <a:spLocks noChangeArrowheads="1"/>
          </p:cNvSpPr>
          <p:nvPr/>
        </p:nvSpPr>
        <p:spPr bwMode="auto">
          <a:xfrm>
            <a:off x="533400" y="4659313"/>
            <a:ext cx="396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If </a:t>
            </a:r>
          </a:p>
        </p:txBody>
      </p:sp>
      <p:sp>
        <p:nvSpPr>
          <p:cNvPr id="13325"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3315" name="Object 15"/>
          <p:cNvGraphicFramePr>
            <a:graphicFrameLocks noChangeAspect="1"/>
          </p:cNvGraphicFramePr>
          <p:nvPr/>
        </p:nvGraphicFramePr>
        <p:xfrm>
          <a:off x="838200" y="4659313"/>
          <a:ext cx="381000" cy="320675"/>
        </p:xfrm>
        <a:graphic>
          <a:graphicData uri="http://schemas.openxmlformats.org/presentationml/2006/ole">
            <mc:AlternateContent xmlns:mc="http://schemas.openxmlformats.org/markup-compatibility/2006">
              <mc:Choice xmlns:v="urn:schemas-microsoft-com:vml" Requires="v">
                <p:oleObj spid="_x0000_s141336" name="Equation" r:id="rId5" imgW="241195" imgH="203112" progId="Equation.3">
                  <p:embed/>
                </p:oleObj>
              </mc:Choice>
              <mc:Fallback>
                <p:oleObj name="Equation" r:id="rId5" imgW="241195" imgH="20311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659313"/>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6" name="Rectangle 21"/>
          <p:cNvSpPr>
            <a:spLocks noChangeArrowheads="1"/>
          </p:cNvSpPr>
          <p:nvPr/>
        </p:nvSpPr>
        <p:spPr bwMode="auto">
          <a:xfrm>
            <a:off x="1143000" y="4659313"/>
            <a:ext cx="498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is a</a:t>
            </a:r>
          </a:p>
        </p:txBody>
      </p:sp>
      <p:sp>
        <p:nvSpPr>
          <p:cNvPr id="13327" name="Rectangle 1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3316" name="Object 17"/>
          <p:cNvGraphicFramePr>
            <a:graphicFrameLocks noChangeAspect="1"/>
          </p:cNvGraphicFramePr>
          <p:nvPr/>
        </p:nvGraphicFramePr>
        <p:xfrm>
          <a:off x="1676400" y="4756150"/>
          <a:ext cx="685800" cy="284163"/>
        </p:xfrm>
        <a:graphic>
          <a:graphicData uri="http://schemas.openxmlformats.org/presentationml/2006/ole">
            <mc:AlternateContent xmlns:mc="http://schemas.openxmlformats.org/markup-compatibility/2006">
              <mc:Choice xmlns:v="urn:schemas-microsoft-com:vml" Requires="v">
                <p:oleObj spid="_x0000_s141337" name="Equation" r:id="rId7" imgW="393359" imgH="164957" progId="Equation.3">
                  <p:embed/>
                </p:oleObj>
              </mc:Choice>
              <mc:Fallback>
                <p:oleObj name="Equation" r:id="rId7" imgW="393359" imgH="164957"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6400" y="4756150"/>
                        <a:ext cx="685800" cy="28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8" name="Rectangle 24"/>
          <p:cNvSpPr>
            <a:spLocks noChangeArrowheads="1"/>
          </p:cNvSpPr>
          <p:nvPr/>
        </p:nvSpPr>
        <p:spPr bwMode="auto">
          <a:xfrm>
            <a:off x="2286000" y="4659313"/>
            <a:ext cx="1177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matrix and</a:t>
            </a:r>
          </a:p>
        </p:txBody>
      </p:sp>
      <p:sp>
        <p:nvSpPr>
          <p:cNvPr id="13329" name="Rectangle 2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3317" name="Object 19"/>
          <p:cNvGraphicFramePr>
            <a:graphicFrameLocks noChangeAspect="1"/>
          </p:cNvGraphicFramePr>
          <p:nvPr/>
        </p:nvGraphicFramePr>
        <p:xfrm>
          <a:off x="3429000" y="4659313"/>
          <a:ext cx="381000" cy="320675"/>
        </p:xfrm>
        <a:graphic>
          <a:graphicData uri="http://schemas.openxmlformats.org/presentationml/2006/ole">
            <mc:AlternateContent xmlns:mc="http://schemas.openxmlformats.org/markup-compatibility/2006">
              <mc:Choice xmlns:v="urn:schemas-microsoft-com:vml" Requires="v">
                <p:oleObj spid="_x0000_s141338" name="Equation" r:id="rId9" imgW="241195" imgH="203112" progId="Equation.3">
                  <p:embed/>
                </p:oleObj>
              </mc:Choice>
              <mc:Fallback>
                <p:oleObj name="Equation" r:id="rId9" imgW="241195" imgH="2031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4659313"/>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0" name="Rectangle 27"/>
          <p:cNvSpPr>
            <a:spLocks noChangeArrowheads="1"/>
          </p:cNvSpPr>
          <p:nvPr/>
        </p:nvSpPr>
        <p:spPr bwMode="auto">
          <a:xfrm>
            <a:off x="3810000" y="4659313"/>
            <a:ext cx="498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is a</a:t>
            </a:r>
          </a:p>
        </p:txBody>
      </p:sp>
      <p:sp>
        <p:nvSpPr>
          <p:cNvPr id="13331" name="Rectangle 2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3318" name="Object 21"/>
          <p:cNvGraphicFramePr>
            <a:graphicFrameLocks noChangeAspect="1"/>
          </p:cNvGraphicFramePr>
          <p:nvPr/>
        </p:nvGraphicFramePr>
        <p:xfrm>
          <a:off x="4267200" y="4760913"/>
          <a:ext cx="609600" cy="279400"/>
        </p:xfrm>
        <a:graphic>
          <a:graphicData uri="http://schemas.openxmlformats.org/presentationml/2006/ole">
            <mc:AlternateContent xmlns:mc="http://schemas.openxmlformats.org/markup-compatibility/2006">
              <mc:Choice xmlns:v="urn:schemas-microsoft-com:vml" Requires="v">
                <p:oleObj spid="_x0000_s141339" name="Equation" r:id="rId11" imgW="355292" imgH="164957" progId="Equation.3">
                  <p:embed/>
                </p:oleObj>
              </mc:Choice>
              <mc:Fallback>
                <p:oleObj name="Equation" r:id="rId11" imgW="355292" imgH="16495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67200" y="4760913"/>
                        <a:ext cx="6096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2" name="Rectangle 23"/>
          <p:cNvSpPr>
            <a:spLocks noChangeArrowheads="1"/>
          </p:cNvSpPr>
          <p:nvPr/>
        </p:nvSpPr>
        <p:spPr bwMode="auto">
          <a:xfrm>
            <a:off x="4876800" y="4659313"/>
            <a:ext cx="3124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atin typeface="Times New Roman" pitchFamily="18" charset="0"/>
                <a:cs typeface="Times New Roman" pitchFamily="18" charset="0"/>
              </a:rPr>
              <a:t>matrix, the resulting matrix </a:t>
            </a:r>
          </a:p>
        </p:txBody>
      </p:sp>
      <p:sp>
        <p:nvSpPr>
          <p:cNvPr id="13333"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3319" name="Object 24"/>
          <p:cNvGraphicFramePr>
            <a:graphicFrameLocks noChangeAspect="1"/>
          </p:cNvGraphicFramePr>
          <p:nvPr/>
        </p:nvGraphicFramePr>
        <p:xfrm>
          <a:off x="7543800" y="4659313"/>
          <a:ext cx="381000" cy="320675"/>
        </p:xfrm>
        <a:graphic>
          <a:graphicData uri="http://schemas.openxmlformats.org/presentationml/2006/ole">
            <mc:AlternateContent xmlns:mc="http://schemas.openxmlformats.org/markup-compatibility/2006">
              <mc:Choice xmlns:v="urn:schemas-microsoft-com:vml" Requires="v">
                <p:oleObj spid="_x0000_s141340" name="Equation" r:id="rId13" imgW="241195" imgH="203112" progId="Equation.3">
                  <p:embed/>
                </p:oleObj>
              </mc:Choice>
              <mc:Fallback>
                <p:oleObj name="Equation" r:id="rId13" imgW="241195" imgH="20311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43800" y="4659313"/>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4" name="Rectangle 33"/>
          <p:cNvSpPr>
            <a:spLocks noChangeArrowheads="1"/>
          </p:cNvSpPr>
          <p:nvPr/>
        </p:nvSpPr>
        <p:spPr bwMode="auto">
          <a:xfrm>
            <a:off x="533400" y="5040313"/>
            <a:ext cx="4984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is a</a:t>
            </a:r>
          </a:p>
        </p:txBody>
      </p:sp>
      <p:sp>
        <p:nvSpPr>
          <p:cNvPr id="13335"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3320" name="Object 26"/>
          <p:cNvGraphicFramePr>
            <a:graphicFrameLocks noChangeAspect="1"/>
          </p:cNvGraphicFramePr>
          <p:nvPr/>
        </p:nvGraphicFramePr>
        <p:xfrm>
          <a:off x="1066800" y="5114925"/>
          <a:ext cx="569913" cy="219075"/>
        </p:xfrm>
        <a:graphic>
          <a:graphicData uri="http://schemas.openxmlformats.org/presentationml/2006/ole">
            <mc:AlternateContent xmlns:mc="http://schemas.openxmlformats.org/markup-compatibility/2006">
              <mc:Choice xmlns:v="urn:schemas-microsoft-com:vml" Requires="v">
                <p:oleObj spid="_x0000_s141341" name="Equation" r:id="rId15" imgW="368300" imgH="139700" progId="Equation.3">
                  <p:embed/>
                </p:oleObj>
              </mc:Choice>
              <mc:Fallback>
                <p:oleObj name="Equation" r:id="rId15" imgW="368300" imgH="1397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800" y="5114925"/>
                        <a:ext cx="569913"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6" name="Rectangle 36"/>
          <p:cNvSpPr>
            <a:spLocks noChangeArrowheads="1"/>
          </p:cNvSpPr>
          <p:nvPr/>
        </p:nvSpPr>
        <p:spPr bwMode="auto">
          <a:xfrm>
            <a:off x="1636713" y="5040313"/>
            <a:ext cx="877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atin typeface="Times New Roman" pitchFamily="18" charset="0"/>
                <a:cs typeface="Times New Roman" pitchFamily="18" charset="0"/>
              </a:rPr>
              <a:t>matrix.</a:t>
            </a:r>
          </a:p>
        </p:txBody>
      </p:sp>
    </p:spTree>
    <p:extLst>
      <p:ext uri="{BB962C8B-B14F-4D97-AF65-F5344CB8AC3E}">
        <p14:creationId xmlns:p14="http://schemas.microsoft.com/office/powerpoint/2010/main" val="4117848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1" name="Title 1"/>
          <p:cNvSpPr>
            <a:spLocks noGrp="1"/>
          </p:cNvSpPr>
          <p:nvPr>
            <p:ph type="title"/>
          </p:nvPr>
        </p:nvSpPr>
        <p:spPr/>
        <p:txBody>
          <a:bodyPr/>
          <a:lstStyle/>
          <a:p>
            <a:r>
              <a:rPr lang="en-US" smtClean="0"/>
              <a:t>Matrix Multiplication</a:t>
            </a:r>
          </a:p>
        </p:txBody>
      </p:sp>
      <p:sp>
        <p:nvSpPr>
          <p:cNvPr id="14352" name="Rectangle 3"/>
          <p:cNvSpPr>
            <a:spLocks noChangeArrowheads="1"/>
          </p:cNvSpPr>
          <p:nvPr/>
        </p:nvSpPr>
        <p:spPr bwMode="auto">
          <a:xfrm>
            <a:off x="381000" y="1905000"/>
            <a:ext cx="464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So how does one calculate the elements of </a:t>
            </a:r>
          </a:p>
        </p:txBody>
      </p:sp>
      <p:sp>
        <p:nvSpPr>
          <p:cNvPr id="1435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38" name="Object 1"/>
          <p:cNvGraphicFramePr>
            <a:graphicFrameLocks noChangeAspect="1"/>
          </p:cNvGraphicFramePr>
          <p:nvPr/>
        </p:nvGraphicFramePr>
        <p:xfrm>
          <a:off x="4953000" y="1905000"/>
          <a:ext cx="381000" cy="320675"/>
        </p:xfrm>
        <a:graphic>
          <a:graphicData uri="http://schemas.openxmlformats.org/presentationml/2006/ole">
            <mc:AlternateContent xmlns:mc="http://schemas.openxmlformats.org/markup-compatibility/2006">
              <mc:Choice xmlns:v="urn:schemas-microsoft-com:vml" Requires="v">
                <p:oleObj spid="_x0000_s142377" name="Equation" r:id="rId3" imgW="241195" imgH="203112" progId="Equation.3">
                  <p:embed/>
                </p:oleObj>
              </mc:Choice>
              <mc:Fallback>
                <p:oleObj name="Equation" r:id="rId3" imgW="241195"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905000"/>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4" name="Rectangle 6"/>
          <p:cNvSpPr>
            <a:spLocks noChangeArrowheads="1"/>
          </p:cNvSpPr>
          <p:nvPr/>
        </p:nvSpPr>
        <p:spPr bwMode="auto">
          <a:xfrm>
            <a:off x="5334000" y="1905000"/>
            <a:ext cx="941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matrix?</a:t>
            </a:r>
          </a:p>
        </p:txBody>
      </p:sp>
      <p:sp>
        <p:nvSpPr>
          <p:cNvPr id="1435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39" name="Object 3"/>
          <p:cNvGraphicFramePr>
            <a:graphicFrameLocks noChangeAspect="1"/>
          </p:cNvGraphicFramePr>
          <p:nvPr/>
        </p:nvGraphicFramePr>
        <p:xfrm>
          <a:off x="990600" y="2286000"/>
          <a:ext cx="1371600" cy="693738"/>
        </p:xfrm>
        <a:graphic>
          <a:graphicData uri="http://schemas.openxmlformats.org/presentationml/2006/ole">
            <mc:AlternateContent xmlns:mc="http://schemas.openxmlformats.org/markup-compatibility/2006">
              <mc:Choice xmlns:v="urn:schemas-microsoft-com:vml" Requires="v">
                <p:oleObj spid="_x0000_s142378" name="Equation" r:id="rId5" imgW="850531" imgH="431613" progId="Equation.3">
                  <p:embed/>
                </p:oleObj>
              </mc:Choice>
              <mc:Fallback>
                <p:oleObj name="Equation" r:id="rId5" imgW="850531" imgH="43161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2286000"/>
                        <a:ext cx="1371600" cy="693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0" name="Object 5"/>
          <p:cNvGraphicFramePr>
            <a:graphicFrameLocks noChangeAspect="1"/>
          </p:cNvGraphicFramePr>
          <p:nvPr/>
        </p:nvGraphicFramePr>
        <p:xfrm>
          <a:off x="1238250" y="3048000"/>
          <a:ext cx="3638550" cy="457200"/>
        </p:xfrm>
        <a:graphic>
          <a:graphicData uri="http://schemas.openxmlformats.org/presentationml/2006/ole">
            <mc:AlternateContent xmlns:mc="http://schemas.openxmlformats.org/markup-compatibility/2006">
              <mc:Choice xmlns:v="urn:schemas-microsoft-com:vml" Requires="v">
                <p:oleObj spid="_x0000_s142379" name="Equation" r:id="rId7" imgW="1892300" imgH="241300" progId="Equation.3">
                  <p:embed/>
                </p:oleObj>
              </mc:Choice>
              <mc:Fallback>
                <p:oleObj name="Equation" r:id="rId7" imgW="18923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8250" y="3048000"/>
                        <a:ext cx="363855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7" name="Rectangle 11"/>
          <p:cNvSpPr>
            <a:spLocks noChangeArrowheads="1"/>
          </p:cNvSpPr>
          <p:nvPr/>
        </p:nvSpPr>
        <p:spPr bwMode="auto">
          <a:xfrm>
            <a:off x="457200" y="3573463"/>
            <a:ext cx="1082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for each </a:t>
            </a:r>
          </a:p>
        </p:txBody>
      </p:sp>
      <p:sp>
        <p:nvSpPr>
          <p:cNvPr id="1435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1" name="Object 7"/>
          <p:cNvGraphicFramePr>
            <a:graphicFrameLocks noChangeAspect="1"/>
          </p:cNvGraphicFramePr>
          <p:nvPr/>
        </p:nvGraphicFramePr>
        <p:xfrm>
          <a:off x="1524000" y="3649663"/>
          <a:ext cx="1447800" cy="292100"/>
        </p:xfrm>
        <a:graphic>
          <a:graphicData uri="http://schemas.openxmlformats.org/presentationml/2006/ole">
            <mc:AlternateContent xmlns:mc="http://schemas.openxmlformats.org/markup-compatibility/2006">
              <mc:Choice xmlns:v="urn:schemas-microsoft-com:vml" Requires="v">
                <p:oleObj spid="_x0000_s142380" name="Equation" r:id="rId9" imgW="990170" imgH="203112" progId="Equation.3">
                  <p:embed/>
                </p:oleObj>
              </mc:Choice>
              <mc:Fallback>
                <p:oleObj name="Equation" r:id="rId9" imgW="990170" imgH="2031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0" y="3649663"/>
                        <a:ext cx="14478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9" name="Rectangle 14"/>
          <p:cNvSpPr>
            <a:spLocks noChangeArrowheads="1"/>
          </p:cNvSpPr>
          <p:nvPr/>
        </p:nvSpPr>
        <p:spPr bwMode="auto">
          <a:xfrm>
            <a:off x="2971800" y="3573463"/>
            <a:ext cx="6334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and </a:t>
            </a:r>
          </a:p>
        </p:txBody>
      </p:sp>
      <p:sp>
        <p:nvSpPr>
          <p:cNvPr id="14360"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2" name="Object 9"/>
          <p:cNvGraphicFramePr>
            <a:graphicFrameLocks noChangeAspect="1"/>
          </p:cNvGraphicFramePr>
          <p:nvPr/>
        </p:nvGraphicFramePr>
        <p:xfrm>
          <a:off x="3581400" y="3646488"/>
          <a:ext cx="1524000" cy="307975"/>
        </p:xfrm>
        <a:graphic>
          <a:graphicData uri="http://schemas.openxmlformats.org/presentationml/2006/ole">
            <mc:AlternateContent xmlns:mc="http://schemas.openxmlformats.org/markup-compatibility/2006">
              <mc:Choice xmlns:v="urn:schemas-microsoft-com:vml" Requires="v">
                <p:oleObj spid="_x0000_s142381" name="Equation" r:id="rId11" imgW="990170" imgH="203112" progId="Equation.3">
                  <p:embed/>
                </p:oleObj>
              </mc:Choice>
              <mc:Fallback>
                <p:oleObj name="Equation" r:id="rId11" imgW="990170" imgH="20311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81400" y="3646488"/>
                        <a:ext cx="1524000"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61" name="Rectangle 11"/>
          <p:cNvSpPr>
            <a:spLocks noChangeArrowheads="1"/>
          </p:cNvSpPr>
          <p:nvPr/>
        </p:nvSpPr>
        <p:spPr bwMode="auto">
          <a:xfrm>
            <a:off x="466725" y="4729163"/>
            <a:ext cx="3200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t>To put it in simpler terms, the </a:t>
            </a:r>
          </a:p>
        </p:txBody>
      </p:sp>
      <p:sp>
        <p:nvSpPr>
          <p:cNvPr id="14362"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3" name="Object 12"/>
          <p:cNvGraphicFramePr>
            <a:graphicFrameLocks noChangeAspect="1"/>
          </p:cNvGraphicFramePr>
          <p:nvPr/>
        </p:nvGraphicFramePr>
        <p:xfrm>
          <a:off x="3514725" y="4648200"/>
          <a:ext cx="381000" cy="420688"/>
        </p:xfrm>
        <a:graphic>
          <a:graphicData uri="http://schemas.openxmlformats.org/presentationml/2006/ole">
            <mc:AlternateContent xmlns:mc="http://schemas.openxmlformats.org/markup-compatibility/2006">
              <mc:Choice xmlns:v="urn:schemas-microsoft-com:vml" Requires="v">
                <p:oleObj spid="_x0000_s142382" name="Equation" r:id="rId13" imgW="177569" imgH="202936" progId="Equation.3">
                  <p:embed/>
                </p:oleObj>
              </mc:Choice>
              <mc:Fallback>
                <p:oleObj name="Equation" r:id="rId13" imgW="177569" imgH="202936"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14725" y="4648200"/>
                        <a:ext cx="381000" cy="420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63" name="Rectangle 20"/>
          <p:cNvSpPr>
            <a:spLocks noChangeArrowheads="1"/>
          </p:cNvSpPr>
          <p:nvPr/>
        </p:nvSpPr>
        <p:spPr bwMode="auto">
          <a:xfrm>
            <a:off x="3819525" y="4729163"/>
            <a:ext cx="1069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row and </a:t>
            </a:r>
          </a:p>
        </p:txBody>
      </p:sp>
      <p:sp>
        <p:nvSpPr>
          <p:cNvPr id="14364"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4" name="Object 14"/>
          <p:cNvGraphicFramePr>
            <a:graphicFrameLocks noChangeAspect="1"/>
          </p:cNvGraphicFramePr>
          <p:nvPr/>
        </p:nvGraphicFramePr>
        <p:xfrm>
          <a:off x="4810125" y="4738688"/>
          <a:ext cx="381000" cy="434975"/>
        </p:xfrm>
        <a:graphic>
          <a:graphicData uri="http://schemas.openxmlformats.org/presentationml/2006/ole">
            <mc:AlternateContent xmlns:mc="http://schemas.openxmlformats.org/markup-compatibility/2006">
              <mc:Choice xmlns:v="urn:schemas-microsoft-com:vml" Requires="v">
                <p:oleObj spid="_x0000_s142383" name="Equation" r:id="rId15" imgW="203040" imgH="228600" progId="Equation.3">
                  <p:embed/>
                </p:oleObj>
              </mc:Choice>
              <mc:Fallback>
                <p:oleObj name="Equation" r:id="rId15" imgW="203040" imgH="2286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10125" y="4738688"/>
                        <a:ext cx="3810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65" name="Rectangle 23"/>
          <p:cNvSpPr>
            <a:spLocks noChangeArrowheads="1"/>
          </p:cNvSpPr>
          <p:nvPr/>
        </p:nvSpPr>
        <p:spPr bwMode="auto">
          <a:xfrm>
            <a:off x="5191125" y="4716463"/>
            <a:ext cx="1635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column of the </a:t>
            </a:r>
          </a:p>
        </p:txBody>
      </p:sp>
      <p:sp>
        <p:nvSpPr>
          <p:cNvPr id="14366"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5" name="Object 16"/>
          <p:cNvGraphicFramePr>
            <a:graphicFrameLocks noChangeAspect="1"/>
          </p:cNvGraphicFramePr>
          <p:nvPr/>
        </p:nvGraphicFramePr>
        <p:xfrm>
          <a:off x="6715125" y="4716463"/>
          <a:ext cx="381000" cy="320675"/>
        </p:xfrm>
        <a:graphic>
          <a:graphicData uri="http://schemas.openxmlformats.org/presentationml/2006/ole">
            <mc:AlternateContent xmlns:mc="http://schemas.openxmlformats.org/markup-compatibility/2006">
              <mc:Choice xmlns:v="urn:schemas-microsoft-com:vml" Requires="v">
                <p:oleObj spid="_x0000_s142384" name="Equation" r:id="rId17" imgW="241195" imgH="203112" progId="Equation.3">
                  <p:embed/>
                </p:oleObj>
              </mc:Choice>
              <mc:Fallback>
                <p:oleObj name="Equation" r:id="rId17" imgW="241195" imgH="20311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15125" y="4716463"/>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67" name="Rectangle 26"/>
          <p:cNvSpPr>
            <a:spLocks noChangeArrowheads="1"/>
          </p:cNvSpPr>
          <p:nvPr/>
        </p:nvSpPr>
        <p:spPr bwMode="auto">
          <a:xfrm>
            <a:off x="7096125" y="4716463"/>
            <a:ext cx="1057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matrix in</a:t>
            </a:r>
            <a:br>
              <a:rPr lang="en-US"/>
            </a:br>
            <a:endParaRPr lang="en-US"/>
          </a:p>
        </p:txBody>
      </p:sp>
      <p:sp>
        <p:nvSpPr>
          <p:cNvPr id="14368"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6" name="Object 18"/>
          <p:cNvGraphicFramePr>
            <a:graphicFrameLocks noChangeAspect="1"/>
          </p:cNvGraphicFramePr>
          <p:nvPr/>
        </p:nvGraphicFramePr>
        <p:xfrm>
          <a:off x="542925" y="5173663"/>
          <a:ext cx="1219200" cy="304800"/>
        </p:xfrm>
        <a:graphic>
          <a:graphicData uri="http://schemas.openxmlformats.org/presentationml/2006/ole">
            <mc:AlternateContent xmlns:mc="http://schemas.openxmlformats.org/markup-compatibility/2006">
              <mc:Choice xmlns:v="urn:schemas-microsoft-com:vml" Requires="v">
                <p:oleObj spid="_x0000_s142385" name="Equation" r:id="rId19" imgW="799753" imgH="203112" progId="Equation.3">
                  <p:embed/>
                </p:oleObj>
              </mc:Choice>
              <mc:Fallback>
                <p:oleObj name="Equation" r:id="rId19" imgW="799753" imgH="203112"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2925" y="5173663"/>
                        <a:ext cx="1219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69" name="Rectangle 29"/>
          <p:cNvSpPr>
            <a:spLocks noChangeArrowheads="1"/>
          </p:cNvSpPr>
          <p:nvPr/>
        </p:nvSpPr>
        <p:spPr bwMode="auto">
          <a:xfrm>
            <a:off x="1762125" y="5110163"/>
            <a:ext cx="330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is calculated by multiplying the</a:t>
            </a:r>
          </a:p>
        </p:txBody>
      </p:sp>
      <p:graphicFrame>
        <p:nvGraphicFramePr>
          <p:cNvPr id="14347" name="Object 20"/>
          <p:cNvGraphicFramePr>
            <a:graphicFrameLocks noChangeAspect="1"/>
          </p:cNvGraphicFramePr>
          <p:nvPr/>
        </p:nvGraphicFramePr>
        <p:xfrm>
          <a:off x="5038725" y="5021263"/>
          <a:ext cx="381000" cy="420687"/>
        </p:xfrm>
        <a:graphic>
          <a:graphicData uri="http://schemas.openxmlformats.org/presentationml/2006/ole">
            <mc:AlternateContent xmlns:mc="http://schemas.openxmlformats.org/markup-compatibility/2006">
              <mc:Choice xmlns:v="urn:schemas-microsoft-com:vml" Requires="v">
                <p:oleObj spid="_x0000_s142386" name="Equation" r:id="rId21" imgW="177569" imgH="202936" progId="Equation.3">
                  <p:embed/>
                </p:oleObj>
              </mc:Choice>
              <mc:Fallback>
                <p:oleObj name="Equation" r:id="rId21" imgW="177569" imgH="202936"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38725" y="5021263"/>
                        <a:ext cx="381000"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70" name="Rectangle 31"/>
          <p:cNvSpPr>
            <a:spLocks noChangeArrowheads="1"/>
          </p:cNvSpPr>
          <p:nvPr/>
        </p:nvSpPr>
        <p:spPr bwMode="auto">
          <a:xfrm>
            <a:off x="5343525" y="5097463"/>
            <a:ext cx="814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row of</a:t>
            </a:r>
          </a:p>
        </p:txBody>
      </p:sp>
      <p:sp>
        <p:nvSpPr>
          <p:cNvPr id="14371" name="Rectangle 2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48" name="Object 21"/>
          <p:cNvGraphicFramePr>
            <a:graphicFrameLocks noChangeAspect="1"/>
          </p:cNvGraphicFramePr>
          <p:nvPr/>
        </p:nvGraphicFramePr>
        <p:xfrm>
          <a:off x="6181725" y="5097463"/>
          <a:ext cx="381000" cy="320675"/>
        </p:xfrm>
        <a:graphic>
          <a:graphicData uri="http://schemas.openxmlformats.org/presentationml/2006/ole">
            <mc:AlternateContent xmlns:mc="http://schemas.openxmlformats.org/markup-compatibility/2006">
              <mc:Choice xmlns:v="urn:schemas-microsoft-com:vml" Requires="v">
                <p:oleObj spid="_x0000_s142387" name="Equation" r:id="rId22" imgW="241195" imgH="203112" progId="Equation.3">
                  <p:embed/>
                </p:oleObj>
              </mc:Choice>
              <mc:Fallback>
                <p:oleObj name="Equation" r:id="rId22" imgW="241195" imgH="203112"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181725" y="5097463"/>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72" name="Rectangle 34"/>
          <p:cNvSpPr>
            <a:spLocks noChangeArrowheads="1"/>
          </p:cNvSpPr>
          <p:nvPr/>
        </p:nvSpPr>
        <p:spPr bwMode="auto">
          <a:xfrm>
            <a:off x="6524625" y="5110163"/>
            <a:ext cx="876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by the </a:t>
            </a:r>
          </a:p>
        </p:txBody>
      </p:sp>
      <p:graphicFrame>
        <p:nvGraphicFramePr>
          <p:cNvPr id="14349" name="Object 23"/>
          <p:cNvGraphicFramePr>
            <a:graphicFrameLocks noChangeAspect="1"/>
          </p:cNvGraphicFramePr>
          <p:nvPr/>
        </p:nvGraphicFramePr>
        <p:xfrm>
          <a:off x="7324725" y="5097463"/>
          <a:ext cx="381000" cy="434975"/>
        </p:xfrm>
        <a:graphic>
          <a:graphicData uri="http://schemas.openxmlformats.org/presentationml/2006/ole">
            <mc:AlternateContent xmlns:mc="http://schemas.openxmlformats.org/markup-compatibility/2006">
              <mc:Choice xmlns:v="urn:schemas-microsoft-com:vml" Requires="v">
                <p:oleObj spid="_x0000_s142388" name="Equation" r:id="rId24" imgW="203040" imgH="228600" progId="Equation.3">
                  <p:embed/>
                </p:oleObj>
              </mc:Choice>
              <mc:Fallback>
                <p:oleObj name="Equation" r:id="rId24" imgW="203040" imgH="2286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24725" y="5097463"/>
                        <a:ext cx="3810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73" name="Rectangle 36"/>
          <p:cNvSpPr>
            <a:spLocks noChangeArrowheads="1"/>
          </p:cNvSpPr>
          <p:nvPr/>
        </p:nvSpPr>
        <p:spPr bwMode="auto">
          <a:xfrm>
            <a:off x="542925" y="5554663"/>
            <a:ext cx="1827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column of        . </a:t>
            </a:r>
          </a:p>
        </p:txBody>
      </p:sp>
      <p:sp>
        <p:nvSpPr>
          <p:cNvPr id="14374"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4350" name="Object 24"/>
          <p:cNvGraphicFramePr>
            <a:graphicFrameLocks noChangeAspect="1"/>
          </p:cNvGraphicFramePr>
          <p:nvPr/>
        </p:nvGraphicFramePr>
        <p:xfrm>
          <a:off x="1762125" y="5554663"/>
          <a:ext cx="381000" cy="320675"/>
        </p:xfrm>
        <a:graphic>
          <a:graphicData uri="http://schemas.openxmlformats.org/presentationml/2006/ole">
            <mc:AlternateContent xmlns:mc="http://schemas.openxmlformats.org/markup-compatibility/2006">
              <mc:Choice xmlns:v="urn:schemas-microsoft-com:vml" Requires="v">
                <p:oleObj spid="_x0000_s142389" name="Equation" r:id="rId25" imgW="241195" imgH="203112" progId="Equation.3">
                  <p:embed/>
                </p:oleObj>
              </mc:Choice>
              <mc:Fallback>
                <p:oleObj name="Equation" r:id="rId25" imgW="241195" imgH="203112"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762125" y="5554663"/>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1022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Title 1"/>
          <p:cNvSpPr>
            <a:spLocks noGrp="1"/>
          </p:cNvSpPr>
          <p:nvPr>
            <p:ph type="title"/>
          </p:nvPr>
        </p:nvSpPr>
        <p:spPr/>
        <p:txBody>
          <a:bodyPr/>
          <a:lstStyle/>
          <a:p>
            <a:r>
              <a:rPr lang="en-US" smtClean="0"/>
              <a:t>Example 5</a:t>
            </a:r>
          </a:p>
        </p:txBody>
      </p:sp>
      <p:sp>
        <p:nvSpPr>
          <p:cNvPr id="15366" name="TextBox 19"/>
          <p:cNvSpPr txBox="1">
            <a:spLocks noChangeArrowheads="1"/>
          </p:cNvSpPr>
          <p:nvPr/>
        </p:nvSpPr>
        <p:spPr bwMode="auto">
          <a:xfrm>
            <a:off x="533400" y="1676400"/>
            <a:ext cx="426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Given the following two matrices,</a:t>
            </a:r>
          </a:p>
        </p:txBody>
      </p:sp>
      <p:sp>
        <p:nvSpPr>
          <p:cNvPr id="15367"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5362" name="Object 10"/>
          <p:cNvGraphicFramePr>
            <a:graphicFrameLocks noChangeAspect="1"/>
          </p:cNvGraphicFramePr>
          <p:nvPr/>
        </p:nvGraphicFramePr>
        <p:xfrm>
          <a:off x="1447800" y="2852738"/>
          <a:ext cx="1828800" cy="804862"/>
        </p:xfrm>
        <a:graphic>
          <a:graphicData uri="http://schemas.openxmlformats.org/presentationml/2006/ole">
            <mc:AlternateContent xmlns:mc="http://schemas.openxmlformats.org/markup-compatibility/2006">
              <mc:Choice xmlns:v="urn:schemas-microsoft-com:vml" Requires="v">
                <p:oleObj spid="_x0000_s143371" name="Equation" r:id="rId3" imgW="1041400" imgH="457200" progId="Equation.3">
                  <p:embed/>
                </p:oleObj>
              </mc:Choice>
              <mc:Fallback>
                <p:oleObj name="Equation" r:id="rId3" imgW="1041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852738"/>
                        <a:ext cx="1828800" cy="804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8"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5363" name="Object 12"/>
          <p:cNvGraphicFramePr>
            <a:graphicFrameLocks noChangeAspect="1"/>
          </p:cNvGraphicFramePr>
          <p:nvPr/>
        </p:nvGraphicFramePr>
        <p:xfrm>
          <a:off x="4495800" y="2622550"/>
          <a:ext cx="1752600" cy="1263650"/>
        </p:xfrm>
        <a:graphic>
          <a:graphicData uri="http://schemas.openxmlformats.org/presentationml/2006/ole">
            <mc:AlternateContent xmlns:mc="http://schemas.openxmlformats.org/markup-compatibility/2006">
              <mc:Choice xmlns:v="urn:schemas-microsoft-com:vml" Requires="v">
                <p:oleObj spid="_x0000_s143372" name="Equation" r:id="rId5" imgW="990170" imgH="710891" progId="Equation.3">
                  <p:embed/>
                </p:oleObj>
              </mc:Choice>
              <mc:Fallback>
                <p:oleObj name="Equation" r:id="rId5" imgW="990170" imgH="7108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622550"/>
                        <a:ext cx="1752600" cy="126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TextBox 24"/>
          <p:cNvSpPr txBox="1">
            <a:spLocks noChangeArrowheads="1"/>
          </p:cNvSpPr>
          <p:nvPr/>
        </p:nvSpPr>
        <p:spPr bwMode="auto">
          <a:xfrm>
            <a:off x="914400" y="4191000"/>
            <a:ext cx="236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Find their product,</a:t>
            </a:r>
          </a:p>
        </p:txBody>
      </p:sp>
      <p:sp>
        <p:nvSpPr>
          <p:cNvPr id="15370"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5364" name="Object 14"/>
          <p:cNvGraphicFramePr>
            <a:graphicFrameLocks noChangeAspect="1"/>
          </p:cNvGraphicFramePr>
          <p:nvPr/>
        </p:nvGraphicFramePr>
        <p:xfrm>
          <a:off x="1905000" y="4876800"/>
          <a:ext cx="2295525" cy="685800"/>
        </p:xfrm>
        <a:graphic>
          <a:graphicData uri="http://schemas.openxmlformats.org/presentationml/2006/ole">
            <mc:AlternateContent xmlns:mc="http://schemas.openxmlformats.org/markup-compatibility/2006">
              <mc:Choice xmlns:v="urn:schemas-microsoft-com:vml" Requires="v">
                <p:oleObj spid="_x0000_s143373" name="Equation" r:id="rId7" imgW="736280" imgH="215806" progId="Equation.3">
                  <p:embed/>
                </p:oleObj>
              </mc:Choice>
              <mc:Fallback>
                <p:oleObj name="Equation" r:id="rId7" imgW="736280" imgH="21580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4876800"/>
                        <a:ext cx="229552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27751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2" name="Title 1"/>
          <p:cNvSpPr>
            <a:spLocks noGrp="1"/>
          </p:cNvSpPr>
          <p:nvPr>
            <p:ph type="title"/>
          </p:nvPr>
        </p:nvSpPr>
        <p:spPr/>
        <p:txBody>
          <a:bodyPr/>
          <a:lstStyle/>
          <a:p>
            <a:r>
              <a:rPr lang="en-US" smtClean="0"/>
              <a:t>Example 5 (cont.)</a:t>
            </a:r>
          </a:p>
        </p:txBody>
      </p:sp>
      <p:sp>
        <p:nvSpPr>
          <p:cNvPr id="1639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6386" name="Object 1"/>
          <p:cNvGraphicFramePr>
            <a:graphicFrameLocks noChangeAspect="1"/>
          </p:cNvGraphicFramePr>
          <p:nvPr/>
        </p:nvGraphicFramePr>
        <p:xfrm>
          <a:off x="457200" y="1828800"/>
          <a:ext cx="381000" cy="417513"/>
        </p:xfrm>
        <a:graphic>
          <a:graphicData uri="http://schemas.openxmlformats.org/presentationml/2006/ole">
            <mc:AlternateContent xmlns:mc="http://schemas.openxmlformats.org/markup-compatibility/2006">
              <mc:Choice xmlns:v="urn:schemas-microsoft-com:vml" Requires="v">
                <p:oleObj spid="_x0000_s144404" name="Equation" r:id="rId3" imgW="203024" imgH="215713" progId="Equation.3">
                  <p:embed/>
                </p:oleObj>
              </mc:Choice>
              <mc:Fallback>
                <p:oleObj name="Equation" r:id="rId3" imgW="203024" imgH="2157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828800"/>
                        <a:ext cx="381000"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4" name="Rectangle 5"/>
          <p:cNvSpPr>
            <a:spLocks noChangeArrowheads="1"/>
          </p:cNvSpPr>
          <p:nvPr/>
        </p:nvSpPr>
        <p:spPr bwMode="auto">
          <a:xfrm>
            <a:off x="838200" y="1839913"/>
            <a:ext cx="4057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be found by multiplying the first row of</a:t>
            </a:r>
          </a:p>
        </p:txBody>
      </p:sp>
      <p:sp>
        <p:nvSpPr>
          <p:cNvPr id="1639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6387" name="Object 3"/>
          <p:cNvGraphicFramePr>
            <a:graphicFrameLocks noChangeAspect="1"/>
          </p:cNvGraphicFramePr>
          <p:nvPr/>
        </p:nvGraphicFramePr>
        <p:xfrm>
          <a:off x="4800600" y="1828800"/>
          <a:ext cx="454025" cy="381000"/>
        </p:xfrm>
        <a:graphic>
          <a:graphicData uri="http://schemas.openxmlformats.org/presentationml/2006/ole">
            <mc:AlternateContent xmlns:mc="http://schemas.openxmlformats.org/markup-compatibility/2006">
              <mc:Choice xmlns:v="urn:schemas-microsoft-com:vml" Requires="v">
                <p:oleObj spid="_x0000_s144405" name="Equation" r:id="rId5" imgW="241195" imgH="203112" progId="Equation.3">
                  <p:embed/>
                </p:oleObj>
              </mc:Choice>
              <mc:Fallback>
                <p:oleObj name="Equation" r:id="rId5" imgW="241195" imgH="20311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1828800"/>
                        <a:ext cx="4540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6" name="Rectangle 8"/>
          <p:cNvSpPr>
            <a:spLocks noChangeArrowheads="1"/>
          </p:cNvSpPr>
          <p:nvPr/>
        </p:nvSpPr>
        <p:spPr bwMode="auto">
          <a:xfrm>
            <a:off x="5162550" y="1828800"/>
            <a:ext cx="3135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by the second column of      ,</a:t>
            </a:r>
          </a:p>
        </p:txBody>
      </p:sp>
      <p:sp>
        <p:nvSpPr>
          <p:cNvPr id="1639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6388" name="Object 5"/>
          <p:cNvGraphicFramePr>
            <a:graphicFrameLocks noChangeAspect="1"/>
          </p:cNvGraphicFramePr>
          <p:nvPr/>
        </p:nvGraphicFramePr>
        <p:xfrm>
          <a:off x="7772400" y="1860550"/>
          <a:ext cx="381000" cy="320675"/>
        </p:xfrm>
        <a:graphic>
          <a:graphicData uri="http://schemas.openxmlformats.org/presentationml/2006/ole">
            <mc:AlternateContent xmlns:mc="http://schemas.openxmlformats.org/markup-compatibility/2006">
              <mc:Choice xmlns:v="urn:schemas-microsoft-com:vml" Requires="v">
                <p:oleObj spid="_x0000_s144406" name="Equation" r:id="rId7" imgW="241195" imgH="203112" progId="Equation.3">
                  <p:embed/>
                </p:oleObj>
              </mc:Choice>
              <mc:Fallback>
                <p:oleObj name="Equation" r:id="rId7" imgW="241195" imgH="203112"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72400" y="1860550"/>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6389" name="Object 7"/>
          <p:cNvGraphicFramePr>
            <a:graphicFrameLocks noChangeAspect="1"/>
          </p:cNvGraphicFramePr>
          <p:nvPr/>
        </p:nvGraphicFramePr>
        <p:xfrm>
          <a:off x="1295400" y="2362200"/>
          <a:ext cx="2560638" cy="1371600"/>
        </p:xfrm>
        <a:graphic>
          <a:graphicData uri="http://schemas.openxmlformats.org/presentationml/2006/ole">
            <mc:AlternateContent xmlns:mc="http://schemas.openxmlformats.org/markup-compatibility/2006">
              <mc:Choice xmlns:v="urn:schemas-microsoft-com:vml" Requires="v">
                <p:oleObj spid="_x0000_s144407" name="Equation" r:id="rId9" imgW="1333500" imgH="711200" progId="Equation.3">
                  <p:embed/>
                </p:oleObj>
              </mc:Choice>
              <mc:Fallback>
                <p:oleObj name="Equation" r:id="rId9" imgW="1333500" imgH="71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95400" y="2362200"/>
                        <a:ext cx="2560638"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9"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6390" name="Object 9"/>
          <p:cNvGraphicFramePr>
            <a:graphicFrameLocks noChangeAspect="1"/>
          </p:cNvGraphicFramePr>
          <p:nvPr/>
        </p:nvGraphicFramePr>
        <p:xfrm>
          <a:off x="1676400" y="4129088"/>
          <a:ext cx="4114800" cy="442912"/>
        </p:xfrm>
        <a:graphic>
          <a:graphicData uri="http://schemas.openxmlformats.org/presentationml/2006/ole">
            <mc:AlternateContent xmlns:mc="http://schemas.openxmlformats.org/markup-compatibility/2006">
              <mc:Choice xmlns:v="urn:schemas-microsoft-com:vml" Requires="v">
                <p:oleObj spid="_x0000_s144408" name="Equation" r:id="rId11" imgW="1854200" imgH="203200" progId="Equation.3">
                  <p:embed/>
                </p:oleObj>
              </mc:Choice>
              <mc:Fallback>
                <p:oleObj name="Equation" r:id="rId11" imgW="1854200" imgH="203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6400" y="4129088"/>
                        <a:ext cx="4114800" cy="44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00"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6391" name="Object 11"/>
          <p:cNvGraphicFramePr>
            <a:graphicFrameLocks noChangeAspect="1"/>
          </p:cNvGraphicFramePr>
          <p:nvPr/>
        </p:nvGraphicFramePr>
        <p:xfrm>
          <a:off x="1676400" y="4953000"/>
          <a:ext cx="1035050" cy="457200"/>
        </p:xfrm>
        <a:graphic>
          <a:graphicData uri="http://schemas.openxmlformats.org/presentationml/2006/ole">
            <mc:AlternateContent xmlns:mc="http://schemas.openxmlformats.org/markup-compatibility/2006">
              <mc:Choice xmlns:v="urn:schemas-microsoft-com:vml" Requires="v">
                <p:oleObj spid="_x0000_s144409" name="Equation" r:id="rId13" imgW="405872" imgH="177569" progId="Equation.3">
                  <p:embed/>
                </p:oleObj>
              </mc:Choice>
              <mc:Fallback>
                <p:oleObj name="Equation" r:id="rId13" imgW="405872" imgH="17756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76400" y="4953000"/>
                        <a:ext cx="103505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363387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1"/>
          <p:cNvSpPr>
            <a:spLocks noGrp="1"/>
          </p:cNvSpPr>
          <p:nvPr>
            <p:ph type="title"/>
          </p:nvPr>
        </p:nvSpPr>
        <p:spPr/>
        <p:txBody>
          <a:bodyPr/>
          <a:lstStyle/>
          <a:p>
            <a:r>
              <a:rPr lang="en-US" smtClean="0"/>
              <a:t>Example 5 (cont.)</a:t>
            </a:r>
          </a:p>
        </p:txBody>
      </p:sp>
      <p:sp>
        <p:nvSpPr>
          <p:cNvPr id="17413" name="Rectangle 1"/>
          <p:cNvSpPr>
            <a:spLocks noChangeArrowheads="1"/>
          </p:cNvSpPr>
          <p:nvPr/>
        </p:nvSpPr>
        <p:spPr bwMode="auto">
          <a:xfrm>
            <a:off x="609600" y="1763713"/>
            <a:ext cx="647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t>Similarly, one can find the other elements of </a:t>
            </a:r>
          </a:p>
        </p:txBody>
      </p:sp>
      <p:sp>
        <p:nvSpPr>
          <p:cNvPr id="17414"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7410" name="Object 2"/>
          <p:cNvGraphicFramePr>
            <a:graphicFrameLocks noChangeAspect="1"/>
          </p:cNvGraphicFramePr>
          <p:nvPr/>
        </p:nvGraphicFramePr>
        <p:xfrm>
          <a:off x="5257800" y="1784350"/>
          <a:ext cx="381000" cy="320675"/>
        </p:xfrm>
        <a:graphic>
          <a:graphicData uri="http://schemas.openxmlformats.org/presentationml/2006/ole">
            <mc:AlternateContent xmlns:mc="http://schemas.openxmlformats.org/markup-compatibility/2006">
              <mc:Choice xmlns:v="urn:schemas-microsoft-com:vml" Requires="v">
                <p:oleObj spid="_x0000_s145416" name="Equation" r:id="rId3" imgW="241195" imgH="203112" progId="Equation.3">
                  <p:embed/>
                </p:oleObj>
              </mc:Choice>
              <mc:Fallback>
                <p:oleObj name="Equation" r:id="rId3" imgW="241195"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784350"/>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5" name="Rectangle 6"/>
          <p:cNvSpPr>
            <a:spLocks noChangeArrowheads="1"/>
          </p:cNvSpPr>
          <p:nvPr/>
        </p:nvSpPr>
        <p:spPr bwMode="auto">
          <a:xfrm>
            <a:off x="5638800" y="1752600"/>
            <a:ext cx="86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to give</a:t>
            </a:r>
          </a:p>
        </p:txBody>
      </p:sp>
      <p:sp>
        <p:nvSpPr>
          <p:cNvPr id="1741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7411" name="Object 4"/>
          <p:cNvGraphicFramePr>
            <a:graphicFrameLocks noChangeAspect="1"/>
          </p:cNvGraphicFramePr>
          <p:nvPr/>
        </p:nvGraphicFramePr>
        <p:xfrm>
          <a:off x="2209800" y="3048000"/>
          <a:ext cx="3657600" cy="1527175"/>
        </p:xfrm>
        <a:graphic>
          <a:graphicData uri="http://schemas.openxmlformats.org/presentationml/2006/ole">
            <mc:AlternateContent xmlns:mc="http://schemas.openxmlformats.org/markup-compatibility/2006">
              <mc:Choice xmlns:v="urn:schemas-microsoft-com:vml" Requires="v">
                <p:oleObj spid="_x0000_s145417" name="Equation" r:id="rId5" imgW="1092200" imgH="457200" progId="Equation.3">
                  <p:embed/>
                </p:oleObj>
              </mc:Choice>
              <mc:Fallback>
                <p:oleObj name="Equation" r:id="rId5" imgW="10922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048000"/>
                        <a:ext cx="3657600" cy="152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86833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Title 1"/>
          <p:cNvSpPr>
            <a:spLocks noGrp="1"/>
          </p:cNvSpPr>
          <p:nvPr>
            <p:ph type="title"/>
          </p:nvPr>
        </p:nvSpPr>
        <p:spPr/>
        <p:txBody>
          <a:bodyPr/>
          <a:lstStyle/>
          <a:p>
            <a:r>
              <a:rPr lang="en-US" smtClean="0"/>
              <a:t>Example 6</a:t>
            </a:r>
          </a:p>
        </p:txBody>
      </p:sp>
      <p:graphicFrame>
        <p:nvGraphicFramePr>
          <p:cNvPr id="18434" name="Object 1"/>
          <p:cNvGraphicFramePr>
            <a:graphicFrameLocks noChangeAspect="1"/>
          </p:cNvGraphicFramePr>
          <p:nvPr/>
        </p:nvGraphicFramePr>
        <p:xfrm>
          <a:off x="0" y="0"/>
          <a:ext cx="114300" cy="123825"/>
        </p:xfrm>
        <a:graphic>
          <a:graphicData uri="http://schemas.openxmlformats.org/presentationml/2006/ole">
            <mc:AlternateContent xmlns:mc="http://schemas.openxmlformats.org/markup-compatibility/2006">
              <mc:Choice xmlns:v="urn:schemas-microsoft-com:vml" Requires="v">
                <p:oleObj spid="_x0000_s146446" name="Equation" r:id="rId4" imgW="114102" imgH="126780" progId="Equation.3">
                  <p:embed/>
                </p:oleObj>
              </mc:Choice>
              <mc:Fallback>
                <p:oleObj name="Equation" r:id="rId4" imgW="114102" imgH="126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9" name="Rectangle 5"/>
          <p:cNvSpPr>
            <a:spLocks noChangeArrowheads="1"/>
          </p:cNvSpPr>
          <p:nvPr/>
        </p:nvSpPr>
        <p:spPr bwMode="auto">
          <a:xfrm>
            <a:off x="457200" y="1752600"/>
            <a:ext cx="84582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400"/>
              </a:lnSpc>
            </a:pPr>
            <a:r>
              <a:rPr lang="en-US"/>
              <a:t>Blowout r’us store has two store locations  and , and their sales of tires are given by make (in rows) and quarters (in columns) as shown below.</a:t>
            </a:r>
            <a:endParaRPr lang="en-US" altLang="en-US">
              <a:cs typeface="Times New Roman" pitchFamily="18" charset="0"/>
            </a:endParaRPr>
          </a:p>
        </p:txBody>
      </p:sp>
      <p:graphicFrame>
        <p:nvGraphicFramePr>
          <p:cNvPr id="18435" name="Object 4"/>
          <p:cNvGraphicFramePr>
            <a:graphicFrameLocks noChangeAspect="1"/>
          </p:cNvGraphicFramePr>
          <p:nvPr/>
        </p:nvGraphicFramePr>
        <p:xfrm>
          <a:off x="0" y="0"/>
          <a:ext cx="114300" cy="123825"/>
        </p:xfrm>
        <a:graphic>
          <a:graphicData uri="http://schemas.openxmlformats.org/presentationml/2006/ole">
            <mc:AlternateContent xmlns:mc="http://schemas.openxmlformats.org/markup-compatibility/2006">
              <mc:Choice xmlns:v="urn:schemas-microsoft-com:vml" Requires="v">
                <p:oleObj spid="_x0000_s146447" name="Equation" r:id="rId6" imgW="114102" imgH="126780" progId="Equation.3">
                  <p:embed/>
                </p:oleObj>
              </mc:Choice>
              <mc:Fallback>
                <p:oleObj name="Equation" r:id="rId6" imgW="114102" imgH="1267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14300" cy="12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0"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18441"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en-US"/>
          </a:p>
        </p:txBody>
      </p:sp>
      <p:sp>
        <p:nvSpPr>
          <p:cNvPr id="18442" name="Rectangle 13"/>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en-US" altLang="en-US"/>
          </a:p>
        </p:txBody>
      </p:sp>
      <p:sp>
        <p:nvSpPr>
          <p:cNvPr id="18443" name="Rectangle 2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8436" name="Object 25"/>
          <p:cNvGraphicFramePr>
            <a:graphicFrameLocks noChangeAspect="1"/>
          </p:cNvGraphicFramePr>
          <p:nvPr/>
        </p:nvGraphicFramePr>
        <p:xfrm>
          <a:off x="685800" y="3124200"/>
          <a:ext cx="3643313" cy="1676400"/>
        </p:xfrm>
        <a:graphic>
          <a:graphicData uri="http://schemas.openxmlformats.org/presentationml/2006/ole">
            <mc:AlternateContent xmlns:mc="http://schemas.openxmlformats.org/markup-compatibility/2006">
              <mc:Choice xmlns:v="urn:schemas-microsoft-com:vml" Requires="v">
                <p:oleObj spid="_x0000_s146448" name="Equation" r:id="rId7" imgW="1548728" imgH="710891" progId="Equation.3">
                  <p:embed/>
                </p:oleObj>
              </mc:Choice>
              <mc:Fallback>
                <p:oleObj name="Equation" r:id="rId7" imgW="1548728" imgH="71089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3124200"/>
                        <a:ext cx="3643313"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4" name="Rectangle 2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8437" name="Object 27"/>
          <p:cNvGraphicFramePr>
            <a:graphicFrameLocks noChangeAspect="1"/>
          </p:cNvGraphicFramePr>
          <p:nvPr/>
        </p:nvGraphicFramePr>
        <p:xfrm>
          <a:off x="4876800" y="3124200"/>
          <a:ext cx="3429000" cy="1658938"/>
        </p:xfrm>
        <a:graphic>
          <a:graphicData uri="http://schemas.openxmlformats.org/presentationml/2006/ole">
            <mc:AlternateContent xmlns:mc="http://schemas.openxmlformats.org/markup-compatibility/2006">
              <mc:Choice xmlns:v="urn:schemas-microsoft-com:vml" Requires="v">
                <p:oleObj spid="_x0000_s146449" name="Equation" r:id="rId9" imgW="1473200" imgH="711200" progId="Equation.3">
                  <p:embed/>
                </p:oleObj>
              </mc:Choice>
              <mc:Fallback>
                <p:oleObj name="Equation" r:id="rId9" imgW="1473200" imgH="71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3124200"/>
                        <a:ext cx="3429000" cy="165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5" name="Rectangle 5"/>
          <p:cNvSpPr>
            <a:spLocks noChangeArrowheads="1"/>
          </p:cNvSpPr>
          <p:nvPr/>
        </p:nvSpPr>
        <p:spPr bwMode="auto">
          <a:xfrm>
            <a:off x="457200" y="5454650"/>
            <a:ext cx="84582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400"/>
              </a:lnSpc>
            </a:pPr>
            <a:r>
              <a:rPr lang="en-US"/>
              <a:t>where the rows represent the sale of Tirestone, Michigan and Copper tires respectively and the columns represent the quarter number: 1, 2, 3 and 4.  </a:t>
            </a:r>
            <a:endParaRPr lang="en-US" altLang="en-US">
              <a:cs typeface="Times New Roman" pitchFamily="18" charset="0"/>
            </a:endParaRPr>
          </a:p>
        </p:txBody>
      </p:sp>
    </p:spTree>
    <p:extLst>
      <p:ext uri="{BB962C8B-B14F-4D97-AF65-F5344CB8AC3E}">
        <p14:creationId xmlns:p14="http://schemas.microsoft.com/office/powerpoint/2010/main" val="2658534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Title 1"/>
          <p:cNvSpPr>
            <a:spLocks noGrp="1"/>
          </p:cNvSpPr>
          <p:nvPr>
            <p:ph type="title"/>
          </p:nvPr>
        </p:nvSpPr>
        <p:spPr>
          <a:xfrm>
            <a:off x="457200" y="146050"/>
            <a:ext cx="8229600" cy="1252538"/>
          </a:xfrm>
        </p:spPr>
        <p:txBody>
          <a:bodyPr/>
          <a:lstStyle/>
          <a:p>
            <a:r>
              <a:rPr lang="en-US" smtClean="0"/>
              <a:t>Example 6 (cont.)</a:t>
            </a:r>
          </a:p>
        </p:txBody>
      </p:sp>
      <p:sp>
        <p:nvSpPr>
          <p:cNvPr id="19464" name="Rectangle 2"/>
          <p:cNvSpPr>
            <a:spLocks noChangeArrowheads="1"/>
          </p:cNvSpPr>
          <p:nvPr/>
        </p:nvSpPr>
        <p:spPr bwMode="auto">
          <a:xfrm>
            <a:off x="381000" y="1752600"/>
            <a:ext cx="3711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just" eaLnBrk="0" hangingPunct="0"/>
            <a:r>
              <a:rPr lang="en-US"/>
              <a:t>Find the per quarter sales of store </a:t>
            </a:r>
          </a:p>
        </p:txBody>
      </p:sp>
      <p:graphicFrame>
        <p:nvGraphicFramePr>
          <p:cNvPr id="19458" name="Object 1"/>
          <p:cNvGraphicFramePr>
            <a:graphicFrameLocks noChangeAspect="1"/>
          </p:cNvGraphicFramePr>
          <p:nvPr/>
        </p:nvGraphicFramePr>
        <p:xfrm>
          <a:off x="3957638" y="1752600"/>
          <a:ext cx="233362" cy="304800"/>
        </p:xfrm>
        <a:graphic>
          <a:graphicData uri="http://schemas.openxmlformats.org/presentationml/2006/ole">
            <mc:AlternateContent xmlns:mc="http://schemas.openxmlformats.org/markup-compatibility/2006">
              <mc:Choice xmlns:v="urn:schemas-microsoft-com:vml" Requires="v">
                <p:oleObj spid="_x0000_s147473" name="Equation" r:id="rId4" imgW="152268" imgH="164957" progId="Equation.3">
                  <p:embed/>
                </p:oleObj>
              </mc:Choice>
              <mc:Fallback>
                <p:oleObj name="Equation" r:id="rId4" imgW="152268" imgH="16495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7638" y="1752600"/>
                        <a:ext cx="23336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5" name="Rectangle 3"/>
          <p:cNvSpPr>
            <a:spLocks noChangeArrowheads="1"/>
          </p:cNvSpPr>
          <p:nvPr/>
        </p:nvSpPr>
        <p:spPr bwMode="auto">
          <a:xfrm>
            <a:off x="381000" y="1751013"/>
            <a:ext cx="78486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sz="1200">
                <a:cs typeface="Times New Roman" pitchFamily="18" charset="0"/>
              </a:rPr>
              <a:t>	                                  	                        </a:t>
            </a:r>
            <a:r>
              <a:rPr lang="en-US"/>
              <a:t>if the following are the prices of each tire.</a:t>
            </a:r>
          </a:p>
          <a:p>
            <a:pPr algn="just" eaLnBrk="0" hangingPunct="0"/>
            <a:endParaRPr lang="en-US"/>
          </a:p>
          <a:p>
            <a:pPr algn="just" eaLnBrk="0" hangingPunct="0"/>
            <a:r>
              <a:rPr lang="en-US"/>
              <a:t>Tirestone = $33.25</a:t>
            </a:r>
          </a:p>
          <a:p>
            <a:pPr algn="just" eaLnBrk="0" hangingPunct="0"/>
            <a:r>
              <a:rPr lang="en-US"/>
              <a:t>Michigan = $40.19</a:t>
            </a:r>
          </a:p>
          <a:p>
            <a:pPr algn="just" eaLnBrk="0" hangingPunct="0"/>
            <a:r>
              <a:rPr lang="en-US"/>
              <a:t>Copper = $25.03</a:t>
            </a:r>
          </a:p>
        </p:txBody>
      </p:sp>
      <p:sp>
        <p:nvSpPr>
          <p:cNvPr id="19466" name="Rectangle 5"/>
          <p:cNvSpPr>
            <a:spLocks noChangeArrowheads="1"/>
          </p:cNvSpPr>
          <p:nvPr/>
        </p:nvSpPr>
        <p:spPr bwMode="auto">
          <a:xfrm>
            <a:off x="381000" y="4543425"/>
            <a:ext cx="769620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ts val="2600"/>
              </a:lnSpc>
            </a:pPr>
            <a:r>
              <a:rPr lang="en-US"/>
              <a:t>The answer is given by multiplying the price matrix by the quantity of sales of store </a:t>
            </a:r>
          </a:p>
        </p:txBody>
      </p:sp>
      <p:graphicFrame>
        <p:nvGraphicFramePr>
          <p:cNvPr id="19459" name="Object 4"/>
          <p:cNvGraphicFramePr>
            <a:graphicFrameLocks noChangeAspect="1"/>
          </p:cNvGraphicFramePr>
          <p:nvPr/>
        </p:nvGraphicFramePr>
        <p:xfrm>
          <a:off x="0" y="0"/>
          <a:ext cx="152400" cy="161925"/>
        </p:xfrm>
        <a:graphic>
          <a:graphicData uri="http://schemas.openxmlformats.org/presentationml/2006/ole">
            <mc:AlternateContent xmlns:mc="http://schemas.openxmlformats.org/markup-compatibility/2006">
              <mc:Choice xmlns:v="urn:schemas-microsoft-com:vml" Requires="v">
                <p:oleObj spid="_x0000_s147474" name="Equation" r:id="rId6" imgW="152268" imgH="164957" progId="Equation.3">
                  <p:embed/>
                </p:oleObj>
              </mc:Choice>
              <mc:Fallback>
                <p:oleObj name="Equation" r:id="rId6" imgW="152268" imgH="16495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2400"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7" name="Rectangle 6"/>
          <p:cNvSpPr>
            <a:spLocks noChangeArrowheads="1"/>
          </p:cNvSpPr>
          <p:nvPr/>
        </p:nvSpPr>
        <p:spPr bwMode="auto">
          <a:xfrm>
            <a:off x="0" y="161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sz="1200">
                <a:cs typeface="Times New Roman" pitchFamily="18" charset="0"/>
              </a:rPr>
              <a:t>.  The price matrix is </a:t>
            </a:r>
            <a:endParaRPr lang="en-US"/>
          </a:p>
        </p:txBody>
      </p:sp>
      <p:graphicFrame>
        <p:nvGraphicFramePr>
          <p:cNvPr id="19460" name="Object 7"/>
          <p:cNvGraphicFramePr>
            <a:graphicFrameLocks noChangeAspect="1"/>
          </p:cNvGraphicFramePr>
          <p:nvPr/>
        </p:nvGraphicFramePr>
        <p:xfrm>
          <a:off x="1295400" y="4848225"/>
          <a:ext cx="233363" cy="304800"/>
        </p:xfrm>
        <a:graphic>
          <a:graphicData uri="http://schemas.openxmlformats.org/presentationml/2006/ole">
            <mc:AlternateContent xmlns:mc="http://schemas.openxmlformats.org/markup-compatibility/2006">
              <mc:Choice xmlns:v="urn:schemas-microsoft-com:vml" Requires="v">
                <p:oleObj spid="_x0000_s147475" name="Equation" r:id="rId8" imgW="152268" imgH="164957" progId="Equation.3">
                  <p:embed/>
                </p:oleObj>
              </mc:Choice>
              <mc:Fallback>
                <p:oleObj name="Equation" r:id="rId8" imgW="152268" imgH="16495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4848225"/>
                        <a:ext cx="233363"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8"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9461" name="Object 8"/>
          <p:cNvGraphicFramePr>
            <a:graphicFrameLocks noChangeAspect="1"/>
          </p:cNvGraphicFramePr>
          <p:nvPr/>
        </p:nvGraphicFramePr>
        <p:xfrm>
          <a:off x="0" y="0"/>
          <a:ext cx="152400" cy="161925"/>
        </p:xfrm>
        <a:graphic>
          <a:graphicData uri="http://schemas.openxmlformats.org/presentationml/2006/ole">
            <mc:AlternateContent xmlns:mc="http://schemas.openxmlformats.org/markup-compatibility/2006">
              <mc:Choice xmlns:v="urn:schemas-microsoft-com:vml" Requires="v">
                <p:oleObj spid="_x0000_s147476" name="Equation" r:id="rId9" imgW="152268" imgH="164957" progId="Equation.3">
                  <p:embed/>
                </p:oleObj>
              </mc:Choice>
              <mc:Fallback>
                <p:oleObj name="Equation" r:id="rId9" imgW="152268" imgH="16495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52400"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9" name="Rectangle 10"/>
          <p:cNvSpPr>
            <a:spLocks noChangeArrowheads="1"/>
          </p:cNvSpPr>
          <p:nvPr/>
        </p:nvSpPr>
        <p:spPr bwMode="auto">
          <a:xfrm>
            <a:off x="1447800" y="4887913"/>
            <a:ext cx="472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t>.  The price matrix is 		       .</a:t>
            </a:r>
          </a:p>
        </p:txBody>
      </p:sp>
      <p:sp>
        <p:nvSpPr>
          <p:cNvPr id="19470"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19462" name="Object 11"/>
          <p:cNvGraphicFramePr>
            <a:graphicFrameLocks noChangeAspect="1"/>
          </p:cNvGraphicFramePr>
          <p:nvPr/>
        </p:nvGraphicFramePr>
        <p:xfrm>
          <a:off x="3663950" y="4924425"/>
          <a:ext cx="1974850" cy="304800"/>
        </p:xfrm>
        <a:graphic>
          <a:graphicData uri="http://schemas.openxmlformats.org/presentationml/2006/ole">
            <mc:AlternateContent xmlns:mc="http://schemas.openxmlformats.org/markup-compatibility/2006">
              <mc:Choice xmlns:v="urn:schemas-microsoft-com:vml" Requires="v">
                <p:oleObj spid="_x0000_s147477" name="Equation" r:id="rId10" imgW="1422400" imgH="215900" progId="Equation.3">
                  <p:embed/>
                </p:oleObj>
              </mc:Choice>
              <mc:Fallback>
                <p:oleObj name="Equation" r:id="rId10" imgW="1422400" imgH="2159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63950" y="4924425"/>
                        <a:ext cx="19748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950956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Title 1"/>
          <p:cNvSpPr>
            <a:spLocks noGrp="1"/>
          </p:cNvSpPr>
          <p:nvPr>
            <p:ph type="title"/>
          </p:nvPr>
        </p:nvSpPr>
        <p:spPr/>
        <p:txBody>
          <a:bodyPr/>
          <a:lstStyle/>
          <a:p>
            <a:r>
              <a:rPr lang="en-US" smtClean="0"/>
              <a:t>Example 6 (cont.)</a:t>
            </a:r>
          </a:p>
        </p:txBody>
      </p:sp>
      <p:sp>
        <p:nvSpPr>
          <p:cNvPr id="2048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20489" name="Rectangle 5"/>
          <p:cNvSpPr>
            <a:spLocks noChangeArrowheads="1"/>
          </p:cNvSpPr>
          <p:nvPr/>
        </p:nvSpPr>
        <p:spPr bwMode="auto">
          <a:xfrm>
            <a:off x="457200" y="1828800"/>
            <a:ext cx="4327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Therefore, the per quarter sales of store </a:t>
            </a:r>
          </a:p>
        </p:txBody>
      </p:sp>
      <p:sp>
        <p:nvSpPr>
          <p:cNvPr id="2049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0482" name="Object 3"/>
          <p:cNvGraphicFramePr>
            <a:graphicFrameLocks noChangeAspect="1"/>
          </p:cNvGraphicFramePr>
          <p:nvPr/>
        </p:nvGraphicFramePr>
        <p:xfrm>
          <a:off x="4648200" y="1819275"/>
          <a:ext cx="304800" cy="323850"/>
        </p:xfrm>
        <a:graphic>
          <a:graphicData uri="http://schemas.openxmlformats.org/presentationml/2006/ole">
            <mc:AlternateContent xmlns:mc="http://schemas.openxmlformats.org/markup-compatibility/2006">
              <mc:Choice xmlns:v="urn:schemas-microsoft-com:vml" Requires="v">
                <p:oleObj spid="_x0000_s148497" name="Equation" r:id="rId3" imgW="152268" imgH="164957" progId="Equation.3">
                  <p:embed/>
                </p:oleObj>
              </mc:Choice>
              <mc:Fallback>
                <p:oleObj name="Equation" r:id="rId3" imgW="152268" imgH="16495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819275"/>
                        <a:ext cx="30480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1" name="Rectangle 8"/>
          <p:cNvSpPr>
            <a:spLocks noChangeArrowheads="1"/>
          </p:cNvSpPr>
          <p:nvPr/>
        </p:nvSpPr>
        <p:spPr bwMode="auto">
          <a:xfrm>
            <a:off x="457200" y="1828800"/>
            <a:ext cx="777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t>				            dollars is given by the four columns of the row vector </a:t>
            </a:r>
          </a:p>
        </p:txBody>
      </p:sp>
      <p:graphicFrame>
        <p:nvGraphicFramePr>
          <p:cNvPr id="20483" name="Object 5"/>
          <p:cNvGraphicFramePr>
            <a:graphicFrameLocks noChangeAspect="1"/>
          </p:cNvGraphicFramePr>
          <p:nvPr/>
        </p:nvGraphicFramePr>
        <p:xfrm>
          <a:off x="1143000" y="3089275"/>
          <a:ext cx="6096000" cy="492125"/>
        </p:xfrm>
        <a:graphic>
          <a:graphicData uri="http://schemas.openxmlformats.org/presentationml/2006/ole">
            <mc:AlternateContent xmlns:mc="http://schemas.openxmlformats.org/markup-compatibility/2006">
              <mc:Choice xmlns:v="urn:schemas-microsoft-com:vml" Requires="v">
                <p:oleObj spid="_x0000_s148498" name="Equation" r:id="rId5" imgW="2717800" imgH="215900" progId="Equation.3">
                  <p:embed/>
                </p:oleObj>
              </mc:Choice>
              <mc:Fallback>
                <p:oleObj name="Equation" r:id="rId5" imgW="2717800" imgH="215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089275"/>
                        <a:ext cx="6096000"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4" name="Object 9"/>
          <p:cNvGraphicFramePr>
            <a:graphicFrameLocks noChangeAspect="1"/>
          </p:cNvGraphicFramePr>
          <p:nvPr/>
        </p:nvGraphicFramePr>
        <p:xfrm>
          <a:off x="4572000" y="4670425"/>
          <a:ext cx="190500" cy="206375"/>
        </p:xfrm>
        <a:graphic>
          <a:graphicData uri="http://schemas.openxmlformats.org/presentationml/2006/ole">
            <mc:AlternateContent xmlns:mc="http://schemas.openxmlformats.org/markup-compatibility/2006">
              <mc:Choice xmlns:v="urn:schemas-microsoft-com:vml" Requires="v">
                <p:oleObj spid="_x0000_s148499" name="Equation" r:id="rId7" imgW="114102" imgH="126780" progId="Equation.3">
                  <p:embed/>
                </p:oleObj>
              </mc:Choice>
              <mc:Fallback>
                <p:oleObj name="Equation" r:id="rId7" imgW="114102" imgH="126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4670425"/>
                        <a:ext cx="190500" cy="206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2" name="Rectangle 10"/>
          <p:cNvSpPr>
            <a:spLocks noChangeArrowheads="1"/>
          </p:cNvSpPr>
          <p:nvPr/>
        </p:nvSpPr>
        <p:spPr bwMode="auto">
          <a:xfrm>
            <a:off x="533400" y="4572000"/>
            <a:ext cx="426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a:t>Remember since we are multiplying a 1</a:t>
            </a:r>
          </a:p>
        </p:txBody>
      </p:sp>
      <p:sp>
        <p:nvSpPr>
          <p:cNvPr id="20493" name="Rectangle 11"/>
          <p:cNvSpPr>
            <a:spLocks noChangeArrowheads="1"/>
          </p:cNvSpPr>
          <p:nvPr/>
        </p:nvSpPr>
        <p:spPr bwMode="auto">
          <a:xfrm>
            <a:off x="4648200" y="4572000"/>
            <a:ext cx="1905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a:t>3 matrix by a 3</a:t>
            </a:r>
          </a:p>
        </p:txBody>
      </p:sp>
      <p:sp>
        <p:nvSpPr>
          <p:cNvPr id="20494" name="Rectangle 12"/>
          <p:cNvSpPr>
            <a:spLocks noChangeArrowheads="1"/>
          </p:cNvSpPr>
          <p:nvPr/>
        </p:nvSpPr>
        <p:spPr bwMode="auto">
          <a:xfrm>
            <a:off x="533400" y="4953000"/>
            <a:ext cx="373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a:t>resulting matrix is a 1  4 matrix.</a:t>
            </a:r>
          </a:p>
        </p:txBody>
      </p:sp>
      <p:sp>
        <p:nvSpPr>
          <p:cNvPr id="20495" name="Rectangle 13"/>
          <p:cNvSpPr>
            <a:spLocks noChangeArrowheads="1"/>
          </p:cNvSpPr>
          <p:nvPr/>
        </p:nvSpPr>
        <p:spPr bwMode="auto">
          <a:xfrm>
            <a:off x="6248400" y="45720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a:t> 4 matrix, the</a:t>
            </a:r>
          </a:p>
        </p:txBody>
      </p:sp>
      <p:graphicFrame>
        <p:nvGraphicFramePr>
          <p:cNvPr id="20485" name="Object 14"/>
          <p:cNvGraphicFramePr>
            <a:graphicFrameLocks noChangeAspect="1"/>
          </p:cNvGraphicFramePr>
          <p:nvPr/>
        </p:nvGraphicFramePr>
        <p:xfrm>
          <a:off x="6210300" y="4670425"/>
          <a:ext cx="190500" cy="206375"/>
        </p:xfrm>
        <a:graphic>
          <a:graphicData uri="http://schemas.openxmlformats.org/presentationml/2006/ole">
            <mc:AlternateContent xmlns:mc="http://schemas.openxmlformats.org/markup-compatibility/2006">
              <mc:Choice xmlns:v="urn:schemas-microsoft-com:vml" Requires="v">
                <p:oleObj spid="_x0000_s148500" name="Equation" r:id="rId9" imgW="114102" imgH="126780" progId="Equation.3">
                  <p:embed/>
                </p:oleObj>
              </mc:Choice>
              <mc:Fallback>
                <p:oleObj name="Equation" r:id="rId9" imgW="114102" imgH="126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10300" y="4670425"/>
                        <a:ext cx="190500" cy="206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6" name="Object 15"/>
          <p:cNvGraphicFramePr>
            <a:graphicFrameLocks noChangeAspect="1"/>
          </p:cNvGraphicFramePr>
          <p:nvPr/>
        </p:nvGraphicFramePr>
        <p:xfrm>
          <a:off x="2743200" y="5029200"/>
          <a:ext cx="190500" cy="206375"/>
        </p:xfrm>
        <a:graphic>
          <a:graphicData uri="http://schemas.openxmlformats.org/presentationml/2006/ole">
            <mc:AlternateContent xmlns:mc="http://schemas.openxmlformats.org/markup-compatibility/2006">
              <mc:Choice xmlns:v="urn:schemas-microsoft-com:vml" Requires="v">
                <p:oleObj spid="_x0000_s148501" name="Equation" r:id="rId10" imgW="114102" imgH="126780" progId="Equation.3">
                  <p:embed/>
                </p:oleObj>
              </mc:Choice>
              <mc:Fallback>
                <p:oleObj name="Equation" r:id="rId10" imgW="114102" imgH="1267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00" y="5029200"/>
                        <a:ext cx="190500" cy="206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027969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4" name="Title 1"/>
          <p:cNvSpPr>
            <a:spLocks noGrp="1"/>
          </p:cNvSpPr>
          <p:nvPr>
            <p:ph type="title"/>
          </p:nvPr>
        </p:nvSpPr>
        <p:spPr/>
        <p:txBody>
          <a:bodyPr/>
          <a:lstStyle/>
          <a:p>
            <a:r>
              <a:rPr lang="en-US" sz="3200" smtClean="0"/>
              <a:t>Scalar Product Of a Constant And a Matrix</a:t>
            </a:r>
          </a:p>
        </p:txBody>
      </p:sp>
      <p:sp>
        <p:nvSpPr>
          <p:cNvPr id="21515" name="Rectangle 3"/>
          <p:cNvSpPr>
            <a:spLocks noChangeArrowheads="1"/>
          </p:cNvSpPr>
          <p:nvPr/>
        </p:nvSpPr>
        <p:spPr bwMode="auto">
          <a:xfrm>
            <a:off x="609600" y="18288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If</a:t>
            </a:r>
          </a:p>
        </p:txBody>
      </p:sp>
      <p:sp>
        <p:nvSpPr>
          <p:cNvPr id="21516"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1506" name="Object 1"/>
          <p:cNvGraphicFramePr>
            <a:graphicFrameLocks noChangeAspect="1"/>
          </p:cNvGraphicFramePr>
          <p:nvPr/>
        </p:nvGraphicFramePr>
        <p:xfrm>
          <a:off x="914400" y="1828800"/>
          <a:ext cx="381000" cy="320675"/>
        </p:xfrm>
        <a:graphic>
          <a:graphicData uri="http://schemas.openxmlformats.org/presentationml/2006/ole">
            <mc:AlternateContent xmlns:mc="http://schemas.openxmlformats.org/markup-compatibility/2006">
              <mc:Choice xmlns:v="urn:schemas-microsoft-com:vml" Requires="v">
                <p:oleObj spid="_x0000_s149530" name="Equation" r:id="rId3" imgW="241195" imgH="203112" progId="Equation.3">
                  <p:embed/>
                </p:oleObj>
              </mc:Choice>
              <mc:Fallback>
                <p:oleObj name="Equation" r:id="rId3" imgW="241195"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828800"/>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7" name="Rectangle 6"/>
          <p:cNvSpPr>
            <a:spLocks noChangeArrowheads="1"/>
          </p:cNvSpPr>
          <p:nvPr/>
        </p:nvSpPr>
        <p:spPr bwMode="auto">
          <a:xfrm>
            <a:off x="1219200" y="1828800"/>
            <a:ext cx="544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is a</a:t>
            </a:r>
          </a:p>
        </p:txBody>
      </p:sp>
      <p:graphicFrame>
        <p:nvGraphicFramePr>
          <p:cNvPr id="21507" name="Object 3"/>
          <p:cNvGraphicFramePr>
            <a:graphicFrameLocks noChangeAspect="1"/>
          </p:cNvGraphicFramePr>
          <p:nvPr/>
        </p:nvGraphicFramePr>
        <p:xfrm>
          <a:off x="1774825" y="1914525"/>
          <a:ext cx="511175" cy="219075"/>
        </p:xfrm>
        <a:graphic>
          <a:graphicData uri="http://schemas.openxmlformats.org/presentationml/2006/ole">
            <mc:AlternateContent xmlns:mc="http://schemas.openxmlformats.org/markup-compatibility/2006">
              <mc:Choice xmlns:v="urn:schemas-microsoft-com:vml" Requires="v">
                <p:oleObj spid="_x0000_s149531" name="Equation" r:id="rId5" imgW="330200" imgH="139700" progId="Equation.3">
                  <p:embed/>
                </p:oleObj>
              </mc:Choice>
              <mc:Fallback>
                <p:oleObj name="Equation" r:id="rId5" imgW="330200" imgH="139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4825" y="1914525"/>
                        <a:ext cx="511175"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18" name="Rectangle 9"/>
          <p:cNvSpPr>
            <a:spLocks noChangeArrowheads="1"/>
          </p:cNvSpPr>
          <p:nvPr/>
        </p:nvSpPr>
        <p:spPr bwMode="auto">
          <a:xfrm>
            <a:off x="2255838" y="1828800"/>
            <a:ext cx="13255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matrix and </a:t>
            </a:r>
          </a:p>
        </p:txBody>
      </p:sp>
      <p:sp>
        <p:nvSpPr>
          <p:cNvPr id="21519"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1508" name="Object 5"/>
          <p:cNvGraphicFramePr>
            <a:graphicFrameLocks noChangeAspect="1"/>
          </p:cNvGraphicFramePr>
          <p:nvPr/>
        </p:nvGraphicFramePr>
        <p:xfrm>
          <a:off x="3505200" y="1905000"/>
          <a:ext cx="176213" cy="257175"/>
        </p:xfrm>
        <a:graphic>
          <a:graphicData uri="http://schemas.openxmlformats.org/presentationml/2006/ole">
            <mc:AlternateContent xmlns:mc="http://schemas.openxmlformats.org/markup-compatibility/2006">
              <mc:Choice xmlns:v="urn:schemas-microsoft-com:vml" Requires="v">
                <p:oleObj spid="_x0000_s149532" name="Equation" r:id="rId7" imgW="126725" imgH="177415" progId="Equation.3">
                  <p:embed/>
                </p:oleObj>
              </mc:Choice>
              <mc:Fallback>
                <p:oleObj name="Equation" r:id="rId7" imgW="126725" imgH="17741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5200" y="1905000"/>
                        <a:ext cx="176213"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0" name="Rectangle 7"/>
          <p:cNvSpPr>
            <a:spLocks noChangeArrowheads="1"/>
          </p:cNvSpPr>
          <p:nvPr/>
        </p:nvSpPr>
        <p:spPr bwMode="auto">
          <a:xfrm>
            <a:off x="3657600" y="1828800"/>
            <a:ext cx="464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t>is a real number, then the scalar product of </a:t>
            </a:r>
          </a:p>
        </p:txBody>
      </p:sp>
      <p:graphicFrame>
        <p:nvGraphicFramePr>
          <p:cNvPr id="21509" name="Object 8"/>
          <p:cNvGraphicFramePr>
            <a:graphicFrameLocks noChangeAspect="1"/>
          </p:cNvGraphicFramePr>
          <p:nvPr/>
        </p:nvGraphicFramePr>
        <p:xfrm>
          <a:off x="685800" y="2362200"/>
          <a:ext cx="176213" cy="257175"/>
        </p:xfrm>
        <a:graphic>
          <a:graphicData uri="http://schemas.openxmlformats.org/presentationml/2006/ole">
            <mc:AlternateContent xmlns:mc="http://schemas.openxmlformats.org/markup-compatibility/2006">
              <mc:Choice xmlns:v="urn:schemas-microsoft-com:vml" Requires="v">
                <p:oleObj spid="_x0000_s149533" name="Equation" r:id="rId9" imgW="126725" imgH="177415" progId="Equation.3">
                  <p:embed/>
                </p:oleObj>
              </mc:Choice>
              <mc:Fallback>
                <p:oleObj name="Equation" r:id="rId9" imgW="126725" imgH="17741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2362200"/>
                        <a:ext cx="176213" cy="257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1" name="Rectangle 14"/>
          <p:cNvSpPr>
            <a:spLocks noChangeArrowheads="1"/>
          </p:cNvSpPr>
          <p:nvPr/>
        </p:nvSpPr>
        <p:spPr bwMode="auto">
          <a:xfrm>
            <a:off x="838200" y="2286000"/>
            <a:ext cx="5699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and</a:t>
            </a:r>
          </a:p>
        </p:txBody>
      </p:sp>
      <p:sp>
        <p:nvSpPr>
          <p:cNvPr id="21522"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1510" name="Object 11"/>
          <p:cNvGraphicFramePr>
            <a:graphicFrameLocks noChangeAspect="1"/>
          </p:cNvGraphicFramePr>
          <p:nvPr/>
        </p:nvGraphicFramePr>
        <p:xfrm>
          <a:off x="1371600" y="2286000"/>
          <a:ext cx="381000" cy="320675"/>
        </p:xfrm>
        <a:graphic>
          <a:graphicData uri="http://schemas.openxmlformats.org/presentationml/2006/ole">
            <mc:AlternateContent xmlns:mc="http://schemas.openxmlformats.org/markup-compatibility/2006">
              <mc:Choice xmlns:v="urn:schemas-microsoft-com:vml" Requires="v">
                <p:oleObj spid="_x0000_s149534" name="Equation" r:id="rId10" imgW="241195" imgH="203112" progId="Equation.3">
                  <p:embed/>
                </p:oleObj>
              </mc:Choice>
              <mc:Fallback>
                <p:oleObj name="Equation" r:id="rId10" imgW="241195"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286000"/>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3" name="Rectangle 18"/>
          <p:cNvSpPr>
            <a:spLocks noChangeArrowheads="1"/>
          </p:cNvSpPr>
          <p:nvPr/>
        </p:nvSpPr>
        <p:spPr bwMode="auto">
          <a:xfrm>
            <a:off x="1752600" y="2286000"/>
            <a:ext cx="1262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is another </a:t>
            </a:r>
          </a:p>
        </p:txBody>
      </p:sp>
      <p:graphicFrame>
        <p:nvGraphicFramePr>
          <p:cNvPr id="21511" name="Object 12"/>
          <p:cNvGraphicFramePr>
            <a:graphicFrameLocks noChangeAspect="1"/>
          </p:cNvGraphicFramePr>
          <p:nvPr/>
        </p:nvGraphicFramePr>
        <p:xfrm>
          <a:off x="2971800" y="2362200"/>
          <a:ext cx="533400" cy="228600"/>
        </p:xfrm>
        <a:graphic>
          <a:graphicData uri="http://schemas.openxmlformats.org/presentationml/2006/ole">
            <mc:AlternateContent xmlns:mc="http://schemas.openxmlformats.org/markup-compatibility/2006">
              <mc:Choice xmlns:v="urn:schemas-microsoft-com:vml" Requires="v">
                <p:oleObj spid="_x0000_s149535" name="Equation" r:id="rId11" imgW="330200" imgH="139700" progId="Equation.3">
                  <p:embed/>
                </p:oleObj>
              </mc:Choice>
              <mc:Fallback>
                <p:oleObj name="Equation" r:id="rId11" imgW="330200" imgH="139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2362200"/>
                        <a:ext cx="5334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4" name="Rectangle 20"/>
          <p:cNvSpPr>
            <a:spLocks noChangeArrowheads="1"/>
          </p:cNvSpPr>
          <p:nvPr/>
        </p:nvSpPr>
        <p:spPr bwMode="auto">
          <a:xfrm>
            <a:off x="3505200" y="2286000"/>
            <a:ext cx="2979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matrix      , where              . </a:t>
            </a:r>
          </a:p>
        </p:txBody>
      </p:sp>
      <p:sp>
        <p:nvSpPr>
          <p:cNvPr id="21525"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1512" name="Object 13"/>
          <p:cNvGraphicFramePr>
            <a:graphicFrameLocks noChangeAspect="1"/>
          </p:cNvGraphicFramePr>
          <p:nvPr/>
        </p:nvGraphicFramePr>
        <p:xfrm>
          <a:off x="4267200" y="2286000"/>
          <a:ext cx="381000" cy="320675"/>
        </p:xfrm>
        <a:graphic>
          <a:graphicData uri="http://schemas.openxmlformats.org/presentationml/2006/ole">
            <mc:AlternateContent xmlns:mc="http://schemas.openxmlformats.org/markup-compatibility/2006">
              <mc:Choice xmlns:v="urn:schemas-microsoft-com:vml" Requires="v">
                <p:oleObj spid="_x0000_s149536" name="Equation" r:id="rId12" imgW="241195" imgH="203112" progId="Equation.3">
                  <p:embed/>
                </p:oleObj>
              </mc:Choice>
              <mc:Fallback>
                <p:oleObj name="Equation" r:id="rId12" imgW="241195" imgH="20311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67200" y="2286000"/>
                        <a:ext cx="3810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6"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1513" name="Object 15"/>
          <p:cNvGraphicFramePr>
            <a:graphicFrameLocks noChangeAspect="1"/>
          </p:cNvGraphicFramePr>
          <p:nvPr/>
        </p:nvGraphicFramePr>
        <p:xfrm>
          <a:off x="5486400" y="2344738"/>
          <a:ext cx="762000" cy="322262"/>
        </p:xfrm>
        <a:graphic>
          <a:graphicData uri="http://schemas.openxmlformats.org/presentationml/2006/ole">
            <mc:AlternateContent xmlns:mc="http://schemas.openxmlformats.org/markup-compatibility/2006">
              <mc:Choice xmlns:v="urn:schemas-microsoft-com:vml" Requires="v">
                <p:oleObj spid="_x0000_s149537" name="Equation" r:id="rId14" imgW="558558" imgH="241195" progId="Equation.3">
                  <p:embed/>
                </p:oleObj>
              </mc:Choice>
              <mc:Fallback>
                <p:oleObj name="Equation" r:id="rId14" imgW="558558" imgH="241195"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86400" y="2344738"/>
                        <a:ext cx="762000" cy="322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631560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itle 1"/>
          <p:cNvSpPr>
            <a:spLocks noGrp="1"/>
          </p:cNvSpPr>
          <p:nvPr>
            <p:ph type="title"/>
          </p:nvPr>
        </p:nvSpPr>
        <p:spPr/>
        <p:txBody>
          <a:bodyPr/>
          <a:lstStyle/>
          <a:p>
            <a:r>
              <a:rPr lang="en-US" smtClean="0"/>
              <a:t>Example 7</a:t>
            </a:r>
          </a:p>
        </p:txBody>
      </p:sp>
      <p:sp>
        <p:nvSpPr>
          <p:cNvPr id="22533" name="TextBox 3"/>
          <p:cNvSpPr txBox="1">
            <a:spLocks noChangeArrowheads="1"/>
          </p:cNvSpPr>
          <p:nvPr/>
        </p:nvSpPr>
        <p:spPr bwMode="auto">
          <a:xfrm>
            <a:off x="381000" y="1752600"/>
            <a:ext cx="3505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Given the matrix, </a:t>
            </a:r>
          </a:p>
        </p:txBody>
      </p:sp>
      <p:sp>
        <p:nvSpPr>
          <p:cNvPr id="2253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2530" name="Object 1"/>
          <p:cNvGraphicFramePr>
            <a:graphicFrameLocks noChangeAspect="1"/>
          </p:cNvGraphicFramePr>
          <p:nvPr/>
        </p:nvGraphicFramePr>
        <p:xfrm>
          <a:off x="1828800" y="2667000"/>
          <a:ext cx="2362200" cy="944563"/>
        </p:xfrm>
        <a:graphic>
          <a:graphicData uri="http://schemas.openxmlformats.org/presentationml/2006/ole">
            <mc:AlternateContent xmlns:mc="http://schemas.openxmlformats.org/markup-compatibility/2006">
              <mc:Choice xmlns:v="urn:schemas-microsoft-com:vml" Requires="v">
                <p:oleObj spid="_x0000_s150536" name="Equation" r:id="rId3" imgW="1143000" imgH="457200" progId="Equation.3">
                  <p:embed/>
                </p:oleObj>
              </mc:Choice>
              <mc:Fallback>
                <p:oleObj name="Equation" r:id="rId3" imgW="11430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67000"/>
                        <a:ext cx="2362200" cy="944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2531" name="Object 3"/>
          <p:cNvGraphicFramePr>
            <a:graphicFrameLocks noChangeAspect="1"/>
          </p:cNvGraphicFramePr>
          <p:nvPr/>
        </p:nvGraphicFramePr>
        <p:xfrm>
          <a:off x="1219200" y="4337050"/>
          <a:ext cx="609600" cy="387350"/>
        </p:xfrm>
        <a:graphic>
          <a:graphicData uri="http://schemas.openxmlformats.org/presentationml/2006/ole">
            <mc:AlternateContent xmlns:mc="http://schemas.openxmlformats.org/markup-compatibility/2006">
              <mc:Choice xmlns:v="urn:schemas-microsoft-com:vml" Requires="v">
                <p:oleObj spid="_x0000_s150537" name="Equation" r:id="rId5" imgW="317225" imgH="203024" progId="Equation.3">
                  <p:embed/>
                </p:oleObj>
              </mc:Choice>
              <mc:Fallback>
                <p:oleObj name="Equation" r:id="rId5" imgW="317225" imgH="2030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4337050"/>
                        <a:ext cx="609600"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6" name="TextBox 8"/>
          <p:cNvSpPr txBox="1">
            <a:spLocks noChangeArrowheads="1"/>
          </p:cNvSpPr>
          <p:nvPr/>
        </p:nvSpPr>
        <p:spPr bwMode="auto">
          <a:xfrm>
            <a:off x="609600" y="4337050"/>
            <a:ext cx="990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Find</a:t>
            </a:r>
          </a:p>
        </p:txBody>
      </p:sp>
    </p:spTree>
    <p:extLst>
      <p:ext uri="{BB962C8B-B14F-4D97-AF65-F5344CB8AC3E}">
        <p14:creationId xmlns:p14="http://schemas.microsoft.com/office/powerpoint/2010/main" val="10590355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Title 1"/>
          <p:cNvSpPr>
            <a:spLocks noGrp="1"/>
          </p:cNvSpPr>
          <p:nvPr>
            <p:ph type="title"/>
          </p:nvPr>
        </p:nvSpPr>
        <p:spPr/>
        <p:txBody>
          <a:bodyPr/>
          <a:lstStyle/>
          <a:p>
            <a:r>
              <a:rPr lang="en-US" smtClean="0"/>
              <a:t>Example (cont.)</a:t>
            </a:r>
          </a:p>
        </p:txBody>
      </p:sp>
      <p:sp>
        <p:nvSpPr>
          <p:cNvPr id="2355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3554" name="Object 1"/>
          <p:cNvGraphicFramePr>
            <a:graphicFrameLocks noChangeAspect="1"/>
          </p:cNvGraphicFramePr>
          <p:nvPr/>
        </p:nvGraphicFramePr>
        <p:xfrm>
          <a:off x="1752600" y="2884488"/>
          <a:ext cx="1943100" cy="685800"/>
        </p:xfrm>
        <a:graphic>
          <a:graphicData uri="http://schemas.openxmlformats.org/presentationml/2006/ole">
            <mc:AlternateContent xmlns:mc="http://schemas.openxmlformats.org/markup-compatibility/2006">
              <mc:Choice xmlns:v="urn:schemas-microsoft-com:vml" Requires="v">
                <p:oleObj spid="_x0000_s151563" name="Equation" r:id="rId3" imgW="1295400" imgH="457200" progId="Equation.3">
                  <p:embed/>
                </p:oleObj>
              </mc:Choice>
              <mc:Fallback>
                <p:oleObj name="Equation" r:id="rId3" imgW="12954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884488"/>
                        <a:ext cx="19431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3555" name="Object 3"/>
          <p:cNvGraphicFramePr>
            <a:graphicFrameLocks noChangeAspect="1"/>
          </p:cNvGraphicFramePr>
          <p:nvPr/>
        </p:nvGraphicFramePr>
        <p:xfrm>
          <a:off x="2209800" y="3646488"/>
          <a:ext cx="2540000" cy="762000"/>
        </p:xfrm>
        <a:graphic>
          <a:graphicData uri="http://schemas.openxmlformats.org/presentationml/2006/ole">
            <mc:AlternateContent xmlns:mc="http://schemas.openxmlformats.org/markup-compatibility/2006">
              <mc:Choice xmlns:v="urn:schemas-microsoft-com:vml" Requires="v">
                <p:oleObj spid="_x0000_s151564" name="Equation" r:id="rId5" imgW="1524000" imgH="457200" progId="Equation.3">
                  <p:embed/>
                </p:oleObj>
              </mc:Choice>
              <mc:Fallback>
                <p:oleObj name="Equation" r:id="rId5" imgW="15240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646488"/>
                        <a:ext cx="25400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60"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3556" name="Object 5"/>
          <p:cNvGraphicFramePr>
            <a:graphicFrameLocks noChangeAspect="1"/>
          </p:cNvGraphicFramePr>
          <p:nvPr/>
        </p:nvGraphicFramePr>
        <p:xfrm>
          <a:off x="2209800" y="4560888"/>
          <a:ext cx="1676400" cy="773112"/>
        </p:xfrm>
        <a:graphic>
          <a:graphicData uri="http://schemas.openxmlformats.org/presentationml/2006/ole">
            <mc:AlternateContent xmlns:mc="http://schemas.openxmlformats.org/markup-compatibility/2006">
              <mc:Choice xmlns:v="urn:schemas-microsoft-com:vml" Requires="v">
                <p:oleObj spid="_x0000_s151565" name="Equation" r:id="rId7" imgW="990600" imgH="457200" progId="Equation.3">
                  <p:embed/>
                </p:oleObj>
              </mc:Choice>
              <mc:Fallback>
                <p:oleObj name="Equation" r:id="rId7" imgW="9906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4560888"/>
                        <a:ext cx="1676400" cy="773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61" name="TextBox 9"/>
          <p:cNvSpPr txBox="1">
            <a:spLocks noChangeArrowheads="1"/>
          </p:cNvSpPr>
          <p:nvPr/>
        </p:nvSpPr>
        <p:spPr bwMode="auto">
          <a:xfrm>
            <a:off x="457200" y="1905000"/>
            <a:ext cx="830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The solution to the product of a scalar and a matrix by the following method,</a:t>
            </a:r>
          </a:p>
        </p:txBody>
      </p:sp>
    </p:spTree>
    <p:extLst>
      <p:ext uri="{BB962C8B-B14F-4D97-AF65-F5344CB8AC3E}">
        <p14:creationId xmlns:p14="http://schemas.microsoft.com/office/powerpoint/2010/main" val="4215937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Title 1"/>
          <p:cNvSpPr>
            <a:spLocks noGrp="1"/>
          </p:cNvSpPr>
          <p:nvPr>
            <p:ph type="title"/>
          </p:nvPr>
        </p:nvSpPr>
        <p:spPr/>
        <p:txBody>
          <a:bodyPr/>
          <a:lstStyle/>
          <a:p>
            <a:r>
              <a:rPr lang="en-US" smtClean="0"/>
              <a:t>Combining Linear Matrices</a:t>
            </a:r>
          </a:p>
        </p:txBody>
      </p:sp>
      <p:graphicFrame>
        <p:nvGraphicFramePr>
          <p:cNvPr id="24578" name="Object 4"/>
          <p:cNvGraphicFramePr>
            <a:graphicFrameLocks noChangeAspect="1"/>
          </p:cNvGraphicFramePr>
          <p:nvPr/>
        </p:nvGraphicFramePr>
        <p:xfrm>
          <a:off x="914400" y="1751013"/>
          <a:ext cx="1371600" cy="306387"/>
        </p:xfrm>
        <a:graphic>
          <a:graphicData uri="http://schemas.openxmlformats.org/presentationml/2006/ole">
            <mc:AlternateContent xmlns:mc="http://schemas.openxmlformats.org/markup-compatibility/2006">
              <mc:Choice xmlns:v="urn:schemas-microsoft-com:vml" Requires="v">
                <p:oleObj spid="_x0000_s152590" name="Equation" r:id="rId3" imgW="1193800" imgH="241300" progId="Equation.3">
                  <p:embed/>
                </p:oleObj>
              </mc:Choice>
              <mc:Fallback>
                <p:oleObj name="Equation" r:id="rId3" imgW="11938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751013"/>
                        <a:ext cx="1371600" cy="306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3"/>
          <p:cNvGraphicFramePr>
            <a:graphicFrameLocks noChangeAspect="1"/>
          </p:cNvGraphicFramePr>
          <p:nvPr/>
        </p:nvGraphicFramePr>
        <p:xfrm>
          <a:off x="5867400" y="1781175"/>
          <a:ext cx="838200" cy="276225"/>
        </p:xfrm>
        <a:graphic>
          <a:graphicData uri="http://schemas.openxmlformats.org/presentationml/2006/ole">
            <mc:AlternateContent xmlns:mc="http://schemas.openxmlformats.org/markup-compatibility/2006">
              <mc:Choice xmlns:v="urn:schemas-microsoft-com:vml" Requires="v">
                <p:oleObj spid="_x0000_s152591" name="Equation" r:id="rId5" imgW="812447" imgH="241195" progId="Equation.3">
                  <p:embed/>
                </p:oleObj>
              </mc:Choice>
              <mc:Fallback>
                <p:oleObj name="Equation" r:id="rId5" imgW="812447" imgH="241195"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1781175"/>
                        <a:ext cx="83820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2"/>
          <p:cNvGraphicFramePr>
            <a:graphicFrameLocks noChangeAspect="1"/>
          </p:cNvGraphicFramePr>
          <p:nvPr/>
        </p:nvGraphicFramePr>
        <p:xfrm>
          <a:off x="1263650" y="2057400"/>
          <a:ext cx="2546350" cy="333375"/>
        </p:xfrm>
        <a:graphic>
          <a:graphicData uri="http://schemas.openxmlformats.org/presentationml/2006/ole">
            <mc:AlternateContent xmlns:mc="http://schemas.openxmlformats.org/markup-compatibility/2006">
              <mc:Choice xmlns:v="urn:schemas-microsoft-com:vml" Requires="v">
                <p:oleObj spid="_x0000_s152592" name="Equation" r:id="rId7" imgW="2032000" imgH="241300" progId="Equation.3">
                  <p:embed/>
                </p:oleObj>
              </mc:Choice>
              <mc:Fallback>
                <p:oleObj name="Equation" r:id="rId7" imgW="2032000" imgH="2413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3650" y="2057400"/>
                        <a:ext cx="2546350"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1" name="Object 1"/>
          <p:cNvGraphicFramePr>
            <a:graphicFrameLocks noChangeAspect="1"/>
          </p:cNvGraphicFramePr>
          <p:nvPr/>
        </p:nvGraphicFramePr>
        <p:xfrm>
          <a:off x="685800" y="2514600"/>
          <a:ext cx="1700213" cy="342900"/>
        </p:xfrm>
        <a:graphic>
          <a:graphicData uri="http://schemas.openxmlformats.org/presentationml/2006/ole">
            <mc:AlternateContent xmlns:mc="http://schemas.openxmlformats.org/markup-compatibility/2006">
              <mc:Choice xmlns:v="urn:schemas-microsoft-com:vml" Requires="v">
                <p:oleObj spid="_x0000_s152593" name="Equation" r:id="rId9" imgW="1180588" imgH="241195" progId="Equation.3">
                  <p:embed/>
                </p:oleObj>
              </mc:Choice>
              <mc:Fallback>
                <p:oleObj name="Equation" r:id="rId9" imgW="1180588" imgH="241195"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 y="2514600"/>
                        <a:ext cx="170021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83" name="Rectangle 5"/>
          <p:cNvSpPr>
            <a:spLocks noChangeArrowheads="1"/>
          </p:cNvSpPr>
          <p:nvPr/>
        </p:nvSpPr>
        <p:spPr bwMode="auto">
          <a:xfrm>
            <a:off x="609600" y="170656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a:t>If</a:t>
            </a:r>
            <a:r>
              <a:rPr lang="en-US" sz="1200">
                <a:cs typeface="Times New Roman" pitchFamily="18" charset="0"/>
              </a:rPr>
              <a:t> </a:t>
            </a:r>
            <a:endParaRPr lang="en-US"/>
          </a:p>
        </p:txBody>
      </p:sp>
      <p:sp>
        <p:nvSpPr>
          <p:cNvPr id="24584" name="Rectangle 6"/>
          <p:cNvSpPr>
            <a:spLocks noChangeArrowheads="1"/>
          </p:cNvSpPr>
          <p:nvPr/>
        </p:nvSpPr>
        <p:spPr bwMode="auto">
          <a:xfrm>
            <a:off x="2209800" y="1716088"/>
            <a:ext cx="6019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sz="1200">
                <a:cs typeface="Times New Roman" pitchFamily="18" charset="0"/>
              </a:rPr>
              <a:t> </a:t>
            </a:r>
            <a:r>
              <a:rPr lang="en-US"/>
              <a:t>are matrices of the same size and                 are scalars, </a:t>
            </a:r>
          </a:p>
          <a:p>
            <a:pPr algn="just" eaLnBrk="0" hangingPunct="0"/>
            <a:endParaRPr lang="en-US"/>
          </a:p>
        </p:txBody>
      </p:sp>
      <p:sp>
        <p:nvSpPr>
          <p:cNvPr id="24585" name="Rectangle 7"/>
          <p:cNvSpPr>
            <a:spLocks noChangeArrowheads="1"/>
          </p:cNvSpPr>
          <p:nvPr/>
        </p:nvSpPr>
        <p:spPr bwMode="auto">
          <a:xfrm>
            <a:off x="152400" y="2057400"/>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457200" eaLnBrk="0" hangingPunct="0"/>
            <a:r>
              <a:rPr lang="en-US"/>
              <a:t>then </a:t>
            </a:r>
          </a:p>
        </p:txBody>
      </p:sp>
      <p:sp>
        <p:nvSpPr>
          <p:cNvPr id="24586" name="Rectangle 8"/>
          <p:cNvSpPr>
            <a:spLocks noChangeArrowheads="1"/>
          </p:cNvSpPr>
          <p:nvPr/>
        </p:nvSpPr>
        <p:spPr bwMode="auto">
          <a:xfrm>
            <a:off x="3886200" y="2057400"/>
            <a:ext cx="3581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just" eaLnBrk="0" hangingPunct="0"/>
            <a:r>
              <a:rPr lang="en-US"/>
              <a:t>is called a linear combination of </a:t>
            </a:r>
          </a:p>
        </p:txBody>
      </p:sp>
    </p:spTree>
    <p:extLst>
      <p:ext uri="{BB962C8B-B14F-4D97-AF65-F5344CB8AC3E}">
        <p14:creationId xmlns:p14="http://schemas.microsoft.com/office/powerpoint/2010/main" val="16779060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itle 1"/>
          <p:cNvSpPr>
            <a:spLocks noGrp="1"/>
          </p:cNvSpPr>
          <p:nvPr>
            <p:ph type="title"/>
          </p:nvPr>
        </p:nvSpPr>
        <p:spPr/>
        <p:txBody>
          <a:bodyPr/>
          <a:lstStyle/>
          <a:p>
            <a:r>
              <a:rPr lang="en-US" smtClean="0"/>
              <a:t>Example 8</a:t>
            </a:r>
          </a:p>
        </p:txBody>
      </p:sp>
      <p:sp>
        <p:nvSpPr>
          <p:cNvPr id="2560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5602" name="Object 1"/>
          <p:cNvGraphicFramePr>
            <a:graphicFrameLocks noChangeAspect="1"/>
          </p:cNvGraphicFramePr>
          <p:nvPr/>
        </p:nvGraphicFramePr>
        <p:xfrm>
          <a:off x="838200" y="2590800"/>
          <a:ext cx="7615238" cy="990600"/>
        </p:xfrm>
        <a:graphic>
          <a:graphicData uri="http://schemas.openxmlformats.org/presentationml/2006/ole">
            <mc:AlternateContent xmlns:mc="http://schemas.openxmlformats.org/markup-compatibility/2006">
              <mc:Choice xmlns:v="urn:schemas-microsoft-com:vml" Requires="v">
                <p:oleObj spid="_x0000_s153608" name="Equation" r:id="rId3" imgW="3517900" imgH="457200" progId="Equation.3">
                  <p:embed/>
                </p:oleObj>
              </mc:Choice>
              <mc:Fallback>
                <p:oleObj name="Equation" r:id="rId3" imgW="35179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590800"/>
                        <a:ext cx="7615238"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06" name="TextBox 5"/>
          <p:cNvSpPr txBox="1">
            <a:spLocks noChangeArrowheads="1"/>
          </p:cNvSpPr>
          <p:nvPr/>
        </p:nvSpPr>
        <p:spPr bwMode="auto">
          <a:xfrm>
            <a:off x="609600" y="19050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If</a:t>
            </a:r>
          </a:p>
        </p:txBody>
      </p:sp>
      <p:sp>
        <p:nvSpPr>
          <p:cNvPr id="25607" name="TextBox 6"/>
          <p:cNvSpPr txBox="1">
            <a:spLocks noChangeArrowheads="1"/>
          </p:cNvSpPr>
          <p:nvPr/>
        </p:nvSpPr>
        <p:spPr bwMode="auto">
          <a:xfrm>
            <a:off x="685800" y="4430713"/>
            <a:ext cx="1219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then find</a:t>
            </a:r>
          </a:p>
        </p:txBody>
      </p:sp>
      <p:sp>
        <p:nvSpPr>
          <p:cNvPr id="2560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5603" name="Object 3"/>
          <p:cNvGraphicFramePr>
            <a:graphicFrameLocks noChangeAspect="1"/>
          </p:cNvGraphicFramePr>
          <p:nvPr/>
        </p:nvGraphicFramePr>
        <p:xfrm>
          <a:off x="1524000" y="5105400"/>
          <a:ext cx="3133725" cy="533400"/>
        </p:xfrm>
        <a:graphic>
          <a:graphicData uri="http://schemas.openxmlformats.org/presentationml/2006/ole">
            <mc:AlternateContent xmlns:mc="http://schemas.openxmlformats.org/markup-compatibility/2006">
              <mc:Choice xmlns:v="urn:schemas-microsoft-com:vml" Requires="v">
                <p:oleObj spid="_x0000_s153609" name="Equation" r:id="rId5" imgW="1346200" imgH="228600" progId="Equation.3">
                  <p:embed/>
                </p:oleObj>
              </mc:Choice>
              <mc:Fallback>
                <p:oleObj name="Equation" r:id="rId5" imgW="13462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5105400"/>
                        <a:ext cx="313372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33431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Title 1"/>
          <p:cNvSpPr>
            <a:spLocks noGrp="1"/>
          </p:cNvSpPr>
          <p:nvPr>
            <p:ph type="title"/>
          </p:nvPr>
        </p:nvSpPr>
        <p:spPr/>
        <p:txBody>
          <a:bodyPr/>
          <a:lstStyle/>
          <a:p>
            <a:r>
              <a:rPr lang="en-US" smtClean="0"/>
              <a:t>Example 8 (cont.)</a:t>
            </a:r>
          </a:p>
        </p:txBody>
      </p:sp>
      <p:sp>
        <p:nvSpPr>
          <p:cNvPr id="2663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6626" name="Object 1"/>
          <p:cNvGraphicFramePr>
            <a:graphicFrameLocks noChangeAspect="1"/>
          </p:cNvGraphicFramePr>
          <p:nvPr/>
        </p:nvGraphicFramePr>
        <p:xfrm>
          <a:off x="838200" y="1752600"/>
          <a:ext cx="3581400" cy="609600"/>
        </p:xfrm>
        <a:graphic>
          <a:graphicData uri="http://schemas.openxmlformats.org/presentationml/2006/ole">
            <mc:AlternateContent xmlns:mc="http://schemas.openxmlformats.org/markup-compatibility/2006">
              <mc:Choice xmlns:v="urn:schemas-microsoft-com:vml" Requires="v">
                <p:oleObj spid="_x0000_s154638" name="Equation" r:id="rId3" imgW="1346200" imgH="228600" progId="Equation.3">
                  <p:embed/>
                </p:oleObj>
              </mc:Choice>
              <mc:Fallback>
                <p:oleObj name="Equation" r:id="rId3" imgW="13462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752600"/>
                        <a:ext cx="35814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2"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6627" name="Object 3"/>
          <p:cNvGraphicFramePr>
            <a:graphicFrameLocks noChangeAspect="1"/>
          </p:cNvGraphicFramePr>
          <p:nvPr/>
        </p:nvGraphicFramePr>
        <p:xfrm>
          <a:off x="1752600" y="2895600"/>
          <a:ext cx="4572000" cy="719138"/>
        </p:xfrm>
        <a:graphic>
          <a:graphicData uri="http://schemas.openxmlformats.org/presentationml/2006/ole">
            <mc:AlternateContent xmlns:mc="http://schemas.openxmlformats.org/markup-compatibility/2006">
              <mc:Choice xmlns:v="urn:schemas-microsoft-com:vml" Requires="v">
                <p:oleObj spid="_x0000_s154639" name="Equation" r:id="rId5" imgW="2908300" imgH="457200" progId="Equation.3">
                  <p:embed/>
                </p:oleObj>
              </mc:Choice>
              <mc:Fallback>
                <p:oleObj name="Equation" r:id="rId5" imgW="29083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2895600"/>
                        <a:ext cx="4572000" cy="719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3"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6628" name="Object 5"/>
          <p:cNvGraphicFramePr>
            <a:graphicFrameLocks noChangeAspect="1"/>
          </p:cNvGraphicFramePr>
          <p:nvPr/>
        </p:nvGraphicFramePr>
        <p:xfrm>
          <a:off x="1752600" y="4038600"/>
          <a:ext cx="4229100" cy="685800"/>
        </p:xfrm>
        <a:graphic>
          <a:graphicData uri="http://schemas.openxmlformats.org/presentationml/2006/ole">
            <mc:AlternateContent xmlns:mc="http://schemas.openxmlformats.org/markup-compatibility/2006">
              <mc:Choice xmlns:v="urn:schemas-microsoft-com:vml" Requires="v">
                <p:oleObj spid="_x0000_s154640" name="Equation" r:id="rId7" imgW="2819400" imgH="457200" progId="Equation.3">
                  <p:embed/>
                </p:oleObj>
              </mc:Choice>
              <mc:Fallback>
                <p:oleObj name="Equation" r:id="rId7" imgW="28194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4038600"/>
                        <a:ext cx="42291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4"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6629" name="Object 7"/>
          <p:cNvGraphicFramePr>
            <a:graphicFrameLocks noChangeAspect="1"/>
          </p:cNvGraphicFramePr>
          <p:nvPr/>
        </p:nvGraphicFramePr>
        <p:xfrm>
          <a:off x="1676400" y="5181600"/>
          <a:ext cx="2743200" cy="1020763"/>
        </p:xfrm>
        <a:graphic>
          <a:graphicData uri="http://schemas.openxmlformats.org/presentationml/2006/ole">
            <mc:AlternateContent xmlns:mc="http://schemas.openxmlformats.org/markup-compatibility/2006">
              <mc:Choice xmlns:v="urn:schemas-microsoft-com:vml" Requires="v">
                <p:oleObj spid="_x0000_s154641" name="Equation" r:id="rId9" imgW="1231900" imgH="457200" progId="Equation.3">
                  <p:embed/>
                </p:oleObj>
              </mc:Choice>
              <mc:Fallback>
                <p:oleObj name="Equation" r:id="rId9" imgW="1231900" imgH="457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76400" y="5181600"/>
                        <a:ext cx="2743200" cy="1020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819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smtClean="0"/>
              <a:t>Binary Matrix Operations</a:t>
            </a:r>
          </a:p>
        </p:txBody>
      </p:sp>
      <p:sp>
        <p:nvSpPr>
          <p:cNvPr id="37891" name="Rectangle 3"/>
          <p:cNvSpPr>
            <a:spLocks noChangeArrowheads="1"/>
          </p:cNvSpPr>
          <p:nvPr/>
        </p:nvSpPr>
        <p:spPr bwMode="auto">
          <a:xfrm>
            <a:off x="533400" y="1600200"/>
            <a:ext cx="3063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a:latin typeface="Times New Roman" pitchFamily="18" charset="0"/>
                <a:cs typeface="Times New Roman" pitchFamily="18" charset="0"/>
              </a:rPr>
              <a:t>Commutative law of addition</a:t>
            </a:r>
            <a:endParaRPr lang="en-US">
              <a:latin typeface="Times New Roman" pitchFamily="18" charset="0"/>
              <a:cs typeface="Times New Roman" pitchFamily="18" charset="0"/>
            </a:endParaRPr>
          </a:p>
        </p:txBody>
      </p:sp>
      <p:sp>
        <p:nvSpPr>
          <p:cNvPr id="37892" name="Rectangle 13"/>
          <p:cNvSpPr>
            <a:spLocks noChangeArrowheads="1"/>
          </p:cNvSpPr>
          <p:nvPr/>
        </p:nvSpPr>
        <p:spPr bwMode="auto">
          <a:xfrm>
            <a:off x="609600" y="2057400"/>
            <a:ext cx="36814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ts val="2600"/>
              </a:lnSpc>
            </a:pPr>
            <a:r>
              <a:rPr lang="en-US">
                <a:latin typeface="Times New Roman" pitchFamily="18" charset="0"/>
                <a:cs typeface="Times New Roman" pitchFamily="18" charset="0"/>
              </a:rPr>
              <a:t>If [</a:t>
            </a:r>
            <a:r>
              <a:rPr lang="en-US" i="1">
                <a:latin typeface="Times New Roman" pitchFamily="18" charset="0"/>
                <a:cs typeface="Times New Roman" pitchFamily="18" charset="0"/>
              </a:rPr>
              <a:t>A</a:t>
            </a:r>
            <a:r>
              <a:rPr lang="en-US">
                <a:latin typeface="Times New Roman" pitchFamily="18" charset="0"/>
                <a:cs typeface="Times New Roman" pitchFamily="18" charset="0"/>
              </a:rPr>
              <a:t>] and [</a:t>
            </a:r>
            <a:r>
              <a:rPr lang="en-US" i="1">
                <a:latin typeface="Times New Roman" pitchFamily="18" charset="0"/>
                <a:cs typeface="Times New Roman" pitchFamily="18" charset="0"/>
              </a:rPr>
              <a:t>B</a:t>
            </a:r>
            <a:r>
              <a:rPr lang="en-US">
                <a:latin typeface="Times New Roman" pitchFamily="18" charset="0"/>
                <a:cs typeface="Times New Roman" pitchFamily="18" charset="0"/>
              </a:rPr>
              <a:t>] are </a:t>
            </a:r>
            <a:r>
              <a:rPr lang="en-US" i="1">
                <a:latin typeface="Times New Roman" pitchFamily="18" charset="0"/>
                <a:cs typeface="Times New Roman" pitchFamily="18" charset="0"/>
              </a:rPr>
              <a:t>m×n </a:t>
            </a:r>
            <a:r>
              <a:rPr lang="en-US">
                <a:latin typeface="Times New Roman" pitchFamily="18" charset="0"/>
                <a:cs typeface="Times New Roman" pitchFamily="18" charset="0"/>
              </a:rPr>
              <a:t>matrices, then </a:t>
            </a:r>
          </a:p>
          <a:p>
            <a:pPr>
              <a:lnSpc>
                <a:spcPts val="2600"/>
              </a:lnSpc>
            </a:pPr>
            <a:r>
              <a:rPr lang="en-US">
                <a:latin typeface="Times New Roman" pitchFamily="18" charset="0"/>
                <a:cs typeface="Times New Roman" pitchFamily="18" charset="0"/>
              </a:rPr>
              <a:t>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 </a:t>
            </a:r>
          </a:p>
        </p:txBody>
      </p:sp>
      <p:sp>
        <p:nvSpPr>
          <p:cNvPr id="37893" name="Rectangle 14"/>
          <p:cNvSpPr>
            <a:spLocks noChangeArrowheads="1"/>
          </p:cNvSpPr>
          <p:nvPr/>
        </p:nvSpPr>
        <p:spPr bwMode="auto">
          <a:xfrm>
            <a:off x="609600" y="3048000"/>
            <a:ext cx="2819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a:latin typeface="Times New Roman" pitchFamily="18" charset="0"/>
                <a:cs typeface="Times New Roman" pitchFamily="18" charset="0"/>
              </a:rPr>
              <a:t>Associative law of addition</a:t>
            </a:r>
          </a:p>
        </p:txBody>
      </p:sp>
      <p:sp>
        <p:nvSpPr>
          <p:cNvPr id="37894" name="TextBox 15"/>
          <p:cNvSpPr txBox="1">
            <a:spLocks noChangeArrowheads="1"/>
          </p:cNvSpPr>
          <p:nvPr/>
        </p:nvSpPr>
        <p:spPr bwMode="auto">
          <a:xfrm>
            <a:off x="762000" y="3505200"/>
            <a:ext cx="74676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ts val="2600"/>
              </a:lnSpc>
            </a:pPr>
            <a:r>
              <a:rPr lang="en-US">
                <a:latin typeface="Times New Roman" pitchFamily="18" charset="0"/>
                <a:cs typeface="Times New Roman" pitchFamily="18" charset="0"/>
              </a:rPr>
              <a:t>If [</a:t>
            </a:r>
            <a:r>
              <a:rPr lang="en-US" i="1">
                <a:latin typeface="Times New Roman" pitchFamily="18" charset="0"/>
                <a:cs typeface="Times New Roman" pitchFamily="18" charset="0"/>
              </a:rPr>
              <a:t>A</a:t>
            </a:r>
            <a:r>
              <a:rPr lang="en-US">
                <a:latin typeface="Times New Roman" pitchFamily="18" charset="0"/>
                <a:cs typeface="Times New Roman" pitchFamily="18" charset="0"/>
              </a:rPr>
              <a:t>], [</a:t>
            </a:r>
            <a:r>
              <a:rPr lang="en-US" i="1">
                <a:latin typeface="Times New Roman" pitchFamily="18" charset="0"/>
                <a:cs typeface="Times New Roman" pitchFamily="18" charset="0"/>
              </a:rPr>
              <a:t>B</a:t>
            </a:r>
            <a:r>
              <a:rPr lang="en-US">
                <a:latin typeface="Times New Roman" pitchFamily="18" charset="0"/>
                <a:cs typeface="Times New Roman" pitchFamily="18" charset="0"/>
              </a:rPr>
              <a:t>] and [</a:t>
            </a:r>
            <a:r>
              <a:rPr lang="en-US" i="1">
                <a:latin typeface="Times New Roman" pitchFamily="18" charset="0"/>
                <a:cs typeface="Times New Roman" pitchFamily="18" charset="0"/>
              </a:rPr>
              <a:t>C</a:t>
            </a:r>
            <a:r>
              <a:rPr lang="en-US">
                <a:latin typeface="Times New Roman" pitchFamily="18" charset="0"/>
                <a:cs typeface="Times New Roman" pitchFamily="18" charset="0"/>
              </a:rPr>
              <a:t>] are </a:t>
            </a:r>
            <a:r>
              <a:rPr lang="en-US" i="1">
                <a:latin typeface="Times New Roman" pitchFamily="18" charset="0"/>
                <a:cs typeface="Times New Roman" pitchFamily="18" charset="0"/>
              </a:rPr>
              <a:t>m×n, n×p, </a:t>
            </a:r>
            <a:r>
              <a:rPr lang="en-US">
                <a:latin typeface="Times New Roman" pitchFamily="18" charset="0"/>
                <a:cs typeface="Times New Roman" pitchFamily="18" charset="0"/>
              </a:rPr>
              <a:t>and </a:t>
            </a:r>
            <a:r>
              <a:rPr lang="en-US" i="1">
                <a:latin typeface="Times New Roman" pitchFamily="18" charset="0"/>
                <a:cs typeface="Times New Roman" pitchFamily="18" charset="0"/>
              </a:rPr>
              <a:t>p×r </a:t>
            </a:r>
            <a:r>
              <a:rPr lang="en-US">
                <a:latin typeface="Times New Roman" pitchFamily="18" charset="0"/>
                <a:cs typeface="Times New Roman" pitchFamily="18" charset="0"/>
              </a:rPr>
              <a:t>size matrices, respectively, then</a:t>
            </a:r>
          </a:p>
          <a:p>
            <a:pPr eaLnBrk="1" hangingPunct="1">
              <a:lnSpc>
                <a:spcPts val="2600"/>
              </a:lnSpc>
            </a:pPr>
            <a:r>
              <a:rPr lang="en-US">
                <a:latin typeface="Times New Roman" pitchFamily="18" charset="0"/>
                <a:cs typeface="Times New Roman" pitchFamily="18" charset="0"/>
              </a:rPr>
              <a:t>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]+[C])=([</a:t>
            </a:r>
            <a:r>
              <a:rPr lang="en-US" i="1">
                <a:latin typeface="Times New Roman" pitchFamily="18" charset="0"/>
                <a:cs typeface="Times New Roman" pitchFamily="18" charset="0"/>
              </a:rPr>
              <a:t>A</a:t>
            </a:r>
            <a:r>
              <a:rPr lang="en-US">
                <a:latin typeface="Times New Roman" pitchFamily="18" charset="0"/>
                <a:cs typeface="Times New Roman" pitchFamily="18" charset="0"/>
              </a:rPr>
              <a:t>] +[</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 </a:t>
            </a:r>
          </a:p>
        </p:txBody>
      </p:sp>
      <p:sp>
        <p:nvSpPr>
          <p:cNvPr id="37895" name="Rectangle 16"/>
          <p:cNvSpPr>
            <a:spLocks noChangeArrowheads="1"/>
          </p:cNvSpPr>
          <p:nvPr/>
        </p:nvSpPr>
        <p:spPr bwMode="auto">
          <a:xfrm>
            <a:off x="609600" y="4648200"/>
            <a:ext cx="3384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b="1">
                <a:latin typeface="Times New Roman" pitchFamily="18" charset="0"/>
                <a:cs typeface="Times New Roman" pitchFamily="18" charset="0"/>
              </a:rPr>
              <a:t>Associative law of multiplication</a:t>
            </a:r>
          </a:p>
        </p:txBody>
      </p:sp>
      <p:sp>
        <p:nvSpPr>
          <p:cNvPr id="37896" name="TextBox 17"/>
          <p:cNvSpPr txBox="1">
            <a:spLocks noChangeArrowheads="1"/>
          </p:cNvSpPr>
          <p:nvPr/>
        </p:nvSpPr>
        <p:spPr bwMode="auto">
          <a:xfrm>
            <a:off x="685800" y="5029200"/>
            <a:ext cx="77724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ts val="2600"/>
              </a:lnSpc>
            </a:pPr>
            <a:r>
              <a:rPr lang="en-US">
                <a:latin typeface="Times New Roman" pitchFamily="18" charset="0"/>
                <a:cs typeface="Times New Roman" pitchFamily="18" charset="0"/>
              </a:rPr>
              <a:t>If [</a:t>
            </a:r>
            <a:r>
              <a:rPr lang="en-US" i="1">
                <a:latin typeface="Times New Roman" pitchFamily="18" charset="0"/>
                <a:cs typeface="Times New Roman" pitchFamily="18" charset="0"/>
              </a:rPr>
              <a:t>A</a:t>
            </a:r>
            <a:r>
              <a:rPr lang="en-US">
                <a:latin typeface="Times New Roman" pitchFamily="18" charset="0"/>
                <a:cs typeface="Times New Roman" pitchFamily="18" charset="0"/>
              </a:rPr>
              <a:t>], [</a:t>
            </a:r>
            <a:r>
              <a:rPr lang="en-US" i="1">
                <a:latin typeface="Times New Roman" pitchFamily="18" charset="0"/>
                <a:cs typeface="Times New Roman" pitchFamily="18" charset="0"/>
              </a:rPr>
              <a:t>B</a:t>
            </a:r>
            <a:r>
              <a:rPr lang="en-US">
                <a:latin typeface="Times New Roman" pitchFamily="18" charset="0"/>
                <a:cs typeface="Times New Roman" pitchFamily="18" charset="0"/>
              </a:rPr>
              <a:t>] and [</a:t>
            </a:r>
            <a:r>
              <a:rPr lang="en-US" i="1">
                <a:latin typeface="Times New Roman" pitchFamily="18" charset="0"/>
                <a:cs typeface="Times New Roman" pitchFamily="18" charset="0"/>
              </a:rPr>
              <a:t>C</a:t>
            </a:r>
            <a:r>
              <a:rPr lang="en-US">
                <a:latin typeface="Times New Roman" pitchFamily="18" charset="0"/>
                <a:cs typeface="Times New Roman" pitchFamily="18" charset="0"/>
              </a:rPr>
              <a:t>] are all </a:t>
            </a:r>
            <a:r>
              <a:rPr lang="en-US" i="1">
                <a:latin typeface="Times New Roman" pitchFamily="18" charset="0"/>
                <a:cs typeface="Times New Roman" pitchFamily="18" charset="0"/>
              </a:rPr>
              <a:t>m×n</a:t>
            </a:r>
            <a:r>
              <a:rPr lang="en-US">
                <a:latin typeface="Times New Roman" pitchFamily="18" charset="0"/>
                <a:cs typeface="Times New Roman" pitchFamily="18" charset="0"/>
              </a:rPr>
              <a:t>, </a:t>
            </a:r>
            <a:r>
              <a:rPr lang="en-US" i="1">
                <a:latin typeface="Times New Roman" pitchFamily="18" charset="0"/>
                <a:cs typeface="Times New Roman" pitchFamily="18" charset="0"/>
              </a:rPr>
              <a:t>n×p</a:t>
            </a:r>
            <a:r>
              <a:rPr lang="en-US">
                <a:latin typeface="Times New Roman" pitchFamily="18" charset="0"/>
                <a:cs typeface="Times New Roman" pitchFamily="18" charset="0"/>
              </a:rPr>
              <a:t> and </a:t>
            </a:r>
            <a:r>
              <a:rPr lang="en-US" i="1">
                <a:latin typeface="Times New Roman" pitchFamily="18" charset="0"/>
                <a:cs typeface="Times New Roman" pitchFamily="18" charset="0"/>
              </a:rPr>
              <a:t>p×r</a:t>
            </a:r>
            <a:r>
              <a:rPr lang="en-US">
                <a:latin typeface="Times New Roman" pitchFamily="18" charset="0"/>
                <a:cs typeface="Times New Roman" pitchFamily="18" charset="0"/>
              </a:rPr>
              <a:t> size matrices, respectively, then</a:t>
            </a:r>
          </a:p>
          <a:p>
            <a:pPr eaLnBrk="1" hangingPunct="1">
              <a:lnSpc>
                <a:spcPts val="2600"/>
              </a:lnSpc>
            </a:pPr>
            <a:r>
              <a:rPr lang="en-US">
                <a:latin typeface="Times New Roman" pitchFamily="18" charset="0"/>
                <a:cs typeface="Times New Roman" pitchFamily="18" charset="0"/>
              </a:rPr>
              <a:t>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a:t>
            </a:r>
          </a:p>
          <a:p>
            <a:pPr eaLnBrk="1" hangingPunct="1">
              <a:lnSpc>
                <a:spcPts val="2600"/>
              </a:lnSpc>
            </a:pPr>
            <a:r>
              <a:rPr lang="en-US">
                <a:latin typeface="Times New Roman" pitchFamily="18" charset="0"/>
                <a:cs typeface="Times New Roman" pitchFamily="18" charset="0"/>
              </a:rPr>
              <a:t>and the resulting matrix size on both sides of the equation is </a:t>
            </a:r>
            <a:r>
              <a:rPr lang="en-US" i="1">
                <a:latin typeface="Times New Roman" pitchFamily="18" charset="0"/>
                <a:cs typeface="Times New Roman" pitchFamily="18" charset="0"/>
              </a:rPr>
              <a:t>m×r</a:t>
            </a:r>
            <a:r>
              <a:rPr lang="en-US">
                <a:latin typeface="Times New Roman" pitchFamily="18" charset="0"/>
                <a:cs typeface="Times New Roman" pitchFamily="18" charset="0"/>
              </a:rPr>
              <a:t>.</a:t>
            </a:r>
          </a:p>
          <a:p>
            <a:pPr eaLnBrk="1" hangingPunct="1"/>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571790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smtClean="0"/>
              <a:t>Binary Matrix Operations</a:t>
            </a:r>
          </a:p>
        </p:txBody>
      </p:sp>
      <p:sp>
        <p:nvSpPr>
          <p:cNvPr id="38915" name="TextBox 3"/>
          <p:cNvSpPr txBox="1">
            <a:spLocks noChangeArrowheads="1"/>
          </p:cNvSpPr>
          <p:nvPr/>
        </p:nvSpPr>
        <p:spPr bwMode="auto">
          <a:xfrm>
            <a:off x="838200" y="2209800"/>
            <a:ext cx="6934200"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ts val="2600"/>
              </a:lnSpc>
            </a:pPr>
            <a:r>
              <a:rPr lang="en-US">
                <a:latin typeface="Times New Roman" pitchFamily="18" charset="0"/>
                <a:cs typeface="Times New Roman" pitchFamily="18" charset="0"/>
              </a:rPr>
              <a:t>If [</a:t>
            </a:r>
            <a:r>
              <a:rPr lang="en-US" i="1">
                <a:latin typeface="Times New Roman" pitchFamily="18" charset="0"/>
                <a:cs typeface="Times New Roman" pitchFamily="18" charset="0"/>
              </a:rPr>
              <a:t>A</a:t>
            </a:r>
            <a:r>
              <a:rPr lang="en-US">
                <a:latin typeface="Times New Roman" pitchFamily="18" charset="0"/>
                <a:cs typeface="Times New Roman" pitchFamily="18" charset="0"/>
              </a:rPr>
              <a:t>] and [</a:t>
            </a:r>
            <a:r>
              <a:rPr lang="en-US" i="1">
                <a:latin typeface="Times New Roman" pitchFamily="18" charset="0"/>
                <a:cs typeface="Times New Roman" pitchFamily="18" charset="0"/>
              </a:rPr>
              <a:t>B</a:t>
            </a:r>
            <a:r>
              <a:rPr lang="en-US">
                <a:latin typeface="Times New Roman" pitchFamily="18" charset="0"/>
                <a:cs typeface="Times New Roman" pitchFamily="18" charset="0"/>
              </a:rPr>
              <a:t>] are </a:t>
            </a:r>
            <a:r>
              <a:rPr lang="en-US" i="1">
                <a:latin typeface="Times New Roman" pitchFamily="18" charset="0"/>
                <a:cs typeface="Times New Roman" pitchFamily="18" charset="0"/>
              </a:rPr>
              <a:t>m×n</a:t>
            </a:r>
            <a:r>
              <a:rPr lang="en-US">
                <a:latin typeface="Times New Roman" pitchFamily="18" charset="0"/>
                <a:cs typeface="Times New Roman" pitchFamily="18" charset="0"/>
              </a:rPr>
              <a:t> matrices, and [</a:t>
            </a:r>
            <a:r>
              <a:rPr lang="en-US" i="1">
                <a:latin typeface="Times New Roman" pitchFamily="18" charset="0"/>
                <a:cs typeface="Times New Roman" pitchFamily="18" charset="0"/>
              </a:rPr>
              <a:t>C</a:t>
            </a:r>
            <a:r>
              <a:rPr lang="en-US">
                <a:latin typeface="Times New Roman" pitchFamily="18" charset="0"/>
                <a:cs typeface="Times New Roman" pitchFamily="18" charset="0"/>
              </a:rPr>
              <a:t>] and [</a:t>
            </a:r>
            <a:r>
              <a:rPr lang="en-US" i="1">
                <a:latin typeface="Times New Roman" pitchFamily="18" charset="0"/>
                <a:cs typeface="Times New Roman" pitchFamily="18" charset="0"/>
              </a:rPr>
              <a:t>D</a:t>
            </a:r>
            <a:r>
              <a:rPr lang="en-US">
                <a:latin typeface="Times New Roman" pitchFamily="18" charset="0"/>
                <a:cs typeface="Times New Roman" pitchFamily="18" charset="0"/>
              </a:rPr>
              <a:t>] are </a:t>
            </a:r>
            <a:r>
              <a:rPr lang="en-US" i="1">
                <a:latin typeface="Times New Roman" pitchFamily="18" charset="0"/>
                <a:cs typeface="Times New Roman" pitchFamily="18" charset="0"/>
              </a:rPr>
              <a:t>n×p</a:t>
            </a:r>
            <a:r>
              <a:rPr lang="en-US">
                <a:latin typeface="Times New Roman" pitchFamily="18" charset="0"/>
                <a:cs typeface="Times New Roman" pitchFamily="18" charset="0"/>
              </a:rPr>
              <a:t> size matrices</a:t>
            </a:r>
          </a:p>
          <a:p>
            <a:pPr eaLnBrk="1" hangingPunct="1">
              <a:lnSpc>
                <a:spcPts val="2600"/>
              </a:lnSpc>
            </a:pPr>
            <a:r>
              <a:rPr lang="en-US">
                <a:latin typeface="Times New Roman" pitchFamily="18" charset="0"/>
                <a:cs typeface="Times New Roman" pitchFamily="18" charset="0"/>
              </a:rPr>
              <a:t>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a:t>
            </a:r>
            <a:r>
              <a:rPr lang="en-US" i="1">
                <a:latin typeface="Times New Roman" pitchFamily="18" charset="0"/>
                <a:cs typeface="Times New Roman" pitchFamily="18" charset="0"/>
              </a:rPr>
              <a:t>D</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D</a:t>
            </a:r>
            <a:r>
              <a:rPr lang="en-US">
                <a:latin typeface="Times New Roman" pitchFamily="18" charset="0"/>
                <a:cs typeface="Times New Roman" pitchFamily="18" charset="0"/>
              </a:rPr>
              <a:t>]</a:t>
            </a:r>
          </a:p>
          <a:p>
            <a:pPr eaLnBrk="1" hangingPunct="1">
              <a:lnSpc>
                <a:spcPts val="2600"/>
              </a:lnSpc>
            </a:pPr>
            <a:r>
              <a:rPr lang="en-US">
                <a:latin typeface="Times New Roman" pitchFamily="18" charset="0"/>
                <a:cs typeface="Times New Roman" pitchFamily="18" charset="0"/>
              </a:rPr>
              <a:t>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C</a:t>
            </a:r>
            <a:r>
              <a:rPr lang="en-US">
                <a:latin typeface="Times New Roman" pitchFamily="18" charset="0"/>
                <a:cs typeface="Times New Roman" pitchFamily="18" charset="0"/>
              </a:rPr>
              <a:t>]</a:t>
            </a:r>
          </a:p>
          <a:p>
            <a:pPr eaLnBrk="1" hangingPunct="1">
              <a:lnSpc>
                <a:spcPts val="2600"/>
              </a:lnSpc>
            </a:pPr>
            <a:r>
              <a:rPr lang="en-US">
                <a:latin typeface="Times New Roman" pitchFamily="18" charset="0"/>
                <a:cs typeface="Times New Roman" pitchFamily="18" charset="0"/>
              </a:rPr>
              <a:t>and the resulting matrix size on both sides of the equation is </a:t>
            </a:r>
            <a:r>
              <a:rPr lang="en-US" i="1">
                <a:latin typeface="Times New Roman" pitchFamily="18" charset="0"/>
                <a:cs typeface="Times New Roman" pitchFamily="18" charset="0"/>
              </a:rPr>
              <a:t>m×r.</a:t>
            </a:r>
            <a:r>
              <a:rPr lang="en-US">
                <a:latin typeface="Times New Roman" pitchFamily="18" charset="0"/>
                <a:cs typeface="Times New Roman" pitchFamily="18" charset="0"/>
              </a:rPr>
              <a:t> </a:t>
            </a:r>
          </a:p>
        </p:txBody>
      </p:sp>
      <p:sp>
        <p:nvSpPr>
          <p:cNvPr id="38916" name="TextBox 4"/>
          <p:cNvSpPr txBox="1">
            <a:spLocks noChangeArrowheads="1"/>
          </p:cNvSpPr>
          <p:nvPr/>
        </p:nvSpPr>
        <p:spPr bwMode="auto">
          <a:xfrm>
            <a:off x="762000" y="1600200"/>
            <a:ext cx="251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b="1">
                <a:latin typeface="Times New Roman" pitchFamily="18" charset="0"/>
                <a:cs typeface="Times New Roman" pitchFamily="18" charset="0"/>
              </a:rPr>
              <a:t>Distributive Law</a:t>
            </a:r>
          </a:p>
        </p:txBody>
      </p:sp>
    </p:spTree>
    <p:extLst>
      <p:ext uri="{BB962C8B-B14F-4D97-AF65-F5344CB8AC3E}">
        <p14:creationId xmlns:p14="http://schemas.microsoft.com/office/powerpoint/2010/main" val="363791023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r>
              <a:rPr lang="en-US" smtClean="0"/>
              <a:t>Example 9</a:t>
            </a:r>
          </a:p>
        </p:txBody>
      </p:sp>
      <p:sp>
        <p:nvSpPr>
          <p:cNvPr id="27652" name="TextBox 3"/>
          <p:cNvSpPr txBox="1">
            <a:spLocks noChangeArrowheads="1"/>
          </p:cNvSpPr>
          <p:nvPr/>
        </p:nvSpPr>
        <p:spPr bwMode="auto">
          <a:xfrm>
            <a:off x="609600" y="1828800"/>
            <a:ext cx="716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atin typeface="Times New Roman" pitchFamily="18" charset="0"/>
                <a:cs typeface="Times New Roman" pitchFamily="18" charset="0"/>
              </a:rPr>
              <a:t>Illustrate the associative law of multiplication of matrices using</a:t>
            </a:r>
          </a:p>
        </p:txBody>
      </p:sp>
      <p:sp>
        <p:nvSpPr>
          <p:cNvPr id="2765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7650" name="Object 1"/>
          <p:cNvGraphicFramePr>
            <a:graphicFrameLocks noChangeAspect="1"/>
          </p:cNvGraphicFramePr>
          <p:nvPr/>
        </p:nvGraphicFramePr>
        <p:xfrm>
          <a:off x="1752600" y="3048000"/>
          <a:ext cx="5248275" cy="1371600"/>
        </p:xfrm>
        <a:graphic>
          <a:graphicData uri="http://schemas.openxmlformats.org/presentationml/2006/ole">
            <mc:AlternateContent xmlns:mc="http://schemas.openxmlformats.org/markup-compatibility/2006">
              <mc:Choice xmlns:v="urn:schemas-microsoft-com:vml" Requires="v">
                <p:oleObj spid="_x0000_s155653" name="Equation" r:id="rId3" imgW="2730500" imgH="711200" progId="Equation.3">
                  <p:embed/>
                </p:oleObj>
              </mc:Choice>
              <mc:Fallback>
                <p:oleObj name="Equation" r:id="rId3" imgW="2730500" imgH="71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3048000"/>
                        <a:ext cx="5248275"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969771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Title 1"/>
          <p:cNvSpPr>
            <a:spLocks noGrp="1"/>
          </p:cNvSpPr>
          <p:nvPr>
            <p:ph type="title"/>
          </p:nvPr>
        </p:nvSpPr>
        <p:spPr/>
        <p:txBody>
          <a:bodyPr/>
          <a:lstStyle/>
          <a:p>
            <a:r>
              <a:rPr lang="en-US" smtClean="0"/>
              <a:t>Example 9 (cont.)</a:t>
            </a:r>
          </a:p>
        </p:txBody>
      </p:sp>
      <p:sp>
        <p:nvSpPr>
          <p:cNvPr id="2868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8674" name="Object 1"/>
          <p:cNvGraphicFramePr>
            <a:graphicFrameLocks noChangeAspect="1"/>
          </p:cNvGraphicFramePr>
          <p:nvPr/>
        </p:nvGraphicFramePr>
        <p:xfrm>
          <a:off x="1143000" y="1600200"/>
          <a:ext cx="1143000" cy="400050"/>
        </p:xfrm>
        <a:graphic>
          <a:graphicData uri="http://schemas.openxmlformats.org/presentationml/2006/ole">
            <mc:AlternateContent xmlns:mc="http://schemas.openxmlformats.org/markup-compatibility/2006">
              <mc:Choice xmlns:v="urn:schemas-microsoft-com:vml" Requires="v">
                <p:oleObj spid="_x0000_s156689" name="Equation" r:id="rId3" imgW="571252" imgH="203112" progId="Equation.3">
                  <p:embed/>
                </p:oleObj>
              </mc:Choice>
              <mc:Fallback>
                <p:oleObj name="Equation" r:id="rId3" imgW="571252"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600200"/>
                        <a:ext cx="1143000"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1"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8675" name="Object 3"/>
          <p:cNvGraphicFramePr>
            <a:graphicFrameLocks noChangeAspect="1"/>
          </p:cNvGraphicFramePr>
          <p:nvPr/>
        </p:nvGraphicFramePr>
        <p:xfrm>
          <a:off x="2057400" y="2133600"/>
          <a:ext cx="1473200" cy="609600"/>
        </p:xfrm>
        <a:graphic>
          <a:graphicData uri="http://schemas.openxmlformats.org/presentationml/2006/ole">
            <mc:AlternateContent xmlns:mc="http://schemas.openxmlformats.org/markup-compatibility/2006">
              <mc:Choice xmlns:v="urn:schemas-microsoft-com:vml" Requires="v">
                <p:oleObj spid="_x0000_s156690" name="Equation" r:id="rId5" imgW="1104900" imgH="457200" progId="Equation.3">
                  <p:embed/>
                </p:oleObj>
              </mc:Choice>
              <mc:Fallback>
                <p:oleObj name="Equation" r:id="rId5" imgW="11049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2133600"/>
                        <a:ext cx="14732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8676" name="Object 5"/>
          <p:cNvGraphicFramePr>
            <a:graphicFrameLocks noChangeAspect="1"/>
          </p:cNvGraphicFramePr>
          <p:nvPr/>
        </p:nvGraphicFramePr>
        <p:xfrm>
          <a:off x="1981200" y="2743200"/>
          <a:ext cx="1143000" cy="652463"/>
        </p:xfrm>
        <a:graphic>
          <a:graphicData uri="http://schemas.openxmlformats.org/presentationml/2006/ole">
            <mc:AlternateContent xmlns:mc="http://schemas.openxmlformats.org/markup-compatibility/2006">
              <mc:Choice xmlns:v="urn:schemas-microsoft-com:vml" Requires="v">
                <p:oleObj spid="_x0000_s156691" name="Equation" r:id="rId7" imgW="800100" imgH="457200" progId="Equation.3">
                  <p:embed/>
                </p:oleObj>
              </mc:Choice>
              <mc:Fallback>
                <p:oleObj name="Equation" r:id="rId7" imgW="80010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2743200"/>
                        <a:ext cx="1143000" cy="652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3"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8677" name="Object 7"/>
          <p:cNvGraphicFramePr>
            <a:graphicFrameLocks noChangeAspect="1"/>
          </p:cNvGraphicFramePr>
          <p:nvPr/>
        </p:nvGraphicFramePr>
        <p:xfrm>
          <a:off x="1022350" y="3930650"/>
          <a:ext cx="2787650" cy="990600"/>
        </p:xfrm>
        <a:graphic>
          <a:graphicData uri="http://schemas.openxmlformats.org/presentationml/2006/ole">
            <mc:AlternateContent xmlns:mc="http://schemas.openxmlformats.org/markup-compatibility/2006">
              <mc:Choice xmlns:v="urn:schemas-microsoft-com:vml" Requires="v">
                <p:oleObj spid="_x0000_s156692" name="Equation" r:id="rId9" imgW="2006600" imgH="711200" progId="Equation.3">
                  <p:embed/>
                </p:oleObj>
              </mc:Choice>
              <mc:Fallback>
                <p:oleObj name="Equation" r:id="rId9" imgW="2006600" imgH="711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2350" y="3930650"/>
                        <a:ext cx="278765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4"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8678" name="Object 9"/>
          <p:cNvGraphicFramePr>
            <a:graphicFrameLocks noChangeAspect="1"/>
          </p:cNvGraphicFramePr>
          <p:nvPr/>
        </p:nvGraphicFramePr>
        <p:xfrm>
          <a:off x="2057400" y="4997450"/>
          <a:ext cx="1295400" cy="1022350"/>
        </p:xfrm>
        <a:graphic>
          <a:graphicData uri="http://schemas.openxmlformats.org/presentationml/2006/ole">
            <mc:AlternateContent xmlns:mc="http://schemas.openxmlformats.org/markup-compatibility/2006">
              <mc:Choice xmlns:v="urn:schemas-microsoft-com:vml" Requires="v">
                <p:oleObj spid="_x0000_s156693" name="Equation" r:id="rId11" imgW="901309" imgH="710891" progId="Equation.3">
                  <p:embed/>
                </p:oleObj>
              </mc:Choice>
              <mc:Fallback>
                <p:oleObj name="Equation" r:id="rId11" imgW="901309" imgH="710891"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7400" y="4997450"/>
                        <a:ext cx="1295400"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041085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Title 1"/>
          <p:cNvSpPr>
            <a:spLocks noGrp="1"/>
          </p:cNvSpPr>
          <p:nvPr>
            <p:ph type="title"/>
          </p:nvPr>
        </p:nvSpPr>
        <p:spPr/>
        <p:txBody>
          <a:bodyPr/>
          <a:lstStyle/>
          <a:p>
            <a:r>
              <a:rPr lang="en-US" smtClean="0"/>
              <a:t>Example 9 (cont.)</a:t>
            </a:r>
          </a:p>
        </p:txBody>
      </p:sp>
      <p:sp>
        <p:nvSpPr>
          <p:cNvPr id="2970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9698" name="Object 1"/>
          <p:cNvGraphicFramePr>
            <a:graphicFrameLocks noChangeAspect="1"/>
          </p:cNvGraphicFramePr>
          <p:nvPr/>
        </p:nvGraphicFramePr>
        <p:xfrm>
          <a:off x="838200" y="2217738"/>
          <a:ext cx="2376488" cy="1135062"/>
        </p:xfrm>
        <a:graphic>
          <a:graphicData uri="http://schemas.openxmlformats.org/presentationml/2006/ole">
            <mc:AlternateContent xmlns:mc="http://schemas.openxmlformats.org/markup-compatibility/2006">
              <mc:Choice xmlns:v="urn:schemas-microsoft-com:vml" Requires="v">
                <p:oleObj spid="_x0000_s157710" name="Equation" r:id="rId3" imgW="1497950" imgH="710891" progId="Equation.3">
                  <p:embed/>
                </p:oleObj>
              </mc:Choice>
              <mc:Fallback>
                <p:oleObj name="Equation" r:id="rId3" imgW="1497950" imgH="71089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217738"/>
                        <a:ext cx="2376488" cy="1135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9699" name="Object 3"/>
          <p:cNvGraphicFramePr>
            <a:graphicFrameLocks noChangeAspect="1"/>
          </p:cNvGraphicFramePr>
          <p:nvPr/>
        </p:nvGraphicFramePr>
        <p:xfrm>
          <a:off x="1600200" y="3695700"/>
          <a:ext cx="1447800" cy="1409700"/>
        </p:xfrm>
        <a:graphic>
          <a:graphicData uri="http://schemas.openxmlformats.org/presentationml/2006/ole">
            <mc:AlternateContent xmlns:mc="http://schemas.openxmlformats.org/markup-compatibility/2006">
              <mc:Choice xmlns:v="urn:schemas-microsoft-com:vml" Requires="v">
                <p:oleObj spid="_x0000_s157711" name="Equation" r:id="rId5" imgW="736600" imgH="711200" progId="Equation.3">
                  <p:embed/>
                </p:oleObj>
              </mc:Choice>
              <mc:Fallback>
                <p:oleObj name="Equation" r:id="rId5" imgW="736600" imgH="71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695700"/>
                        <a:ext cx="1447800" cy="1409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9700" name="Object 5"/>
          <p:cNvGraphicFramePr>
            <a:graphicFrameLocks noChangeAspect="1"/>
          </p:cNvGraphicFramePr>
          <p:nvPr/>
        </p:nvGraphicFramePr>
        <p:xfrm>
          <a:off x="5029200" y="2209800"/>
          <a:ext cx="2916238" cy="1066800"/>
        </p:xfrm>
        <a:graphic>
          <a:graphicData uri="http://schemas.openxmlformats.org/presentationml/2006/ole">
            <mc:AlternateContent xmlns:mc="http://schemas.openxmlformats.org/markup-compatibility/2006">
              <mc:Choice xmlns:v="urn:schemas-microsoft-com:vml" Requires="v">
                <p:oleObj spid="_x0000_s157712" name="Equation" r:id="rId7" imgW="1955800" imgH="711200" progId="Equation.3">
                  <p:embed/>
                </p:oleObj>
              </mc:Choice>
              <mc:Fallback>
                <p:oleObj name="Equation" r:id="rId7" imgW="1955800" imgH="71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200" y="2209800"/>
                        <a:ext cx="2916238"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6"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29701" name="Object 7"/>
          <p:cNvGraphicFramePr>
            <a:graphicFrameLocks noChangeAspect="1"/>
          </p:cNvGraphicFramePr>
          <p:nvPr/>
        </p:nvGraphicFramePr>
        <p:xfrm>
          <a:off x="6172200" y="3657600"/>
          <a:ext cx="1524000" cy="1203325"/>
        </p:xfrm>
        <a:graphic>
          <a:graphicData uri="http://schemas.openxmlformats.org/presentationml/2006/ole">
            <mc:AlternateContent xmlns:mc="http://schemas.openxmlformats.org/markup-compatibility/2006">
              <mc:Choice xmlns:v="urn:schemas-microsoft-com:vml" Requires="v">
                <p:oleObj spid="_x0000_s157713" name="Equation" r:id="rId9" imgW="901309" imgH="710891" progId="Equation.3">
                  <p:embed/>
                </p:oleObj>
              </mc:Choice>
              <mc:Fallback>
                <p:oleObj name="Equation" r:id="rId9" imgW="901309" imgH="710891"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72200" y="3657600"/>
                        <a:ext cx="1524000" cy="1203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5373414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smtClean="0"/>
              <a:t>Is [</a:t>
            </a:r>
            <a:r>
              <a:rPr lang="en-US" i="1" smtClean="0"/>
              <a:t>A</a:t>
            </a:r>
            <a:r>
              <a:rPr lang="en-US" smtClean="0"/>
              <a:t>][</a:t>
            </a:r>
            <a:r>
              <a:rPr lang="en-US" i="1" smtClean="0"/>
              <a:t>B</a:t>
            </a:r>
            <a:r>
              <a:rPr lang="en-US" smtClean="0"/>
              <a:t>]=[</a:t>
            </a:r>
            <a:r>
              <a:rPr lang="en-US" i="1" smtClean="0"/>
              <a:t>B</a:t>
            </a:r>
            <a:r>
              <a:rPr lang="en-US" smtClean="0"/>
              <a:t>][</a:t>
            </a:r>
            <a:r>
              <a:rPr lang="en-US" i="1" smtClean="0"/>
              <a:t>A</a:t>
            </a:r>
            <a:r>
              <a:rPr lang="en-US" smtClean="0"/>
              <a:t>]?</a:t>
            </a:r>
          </a:p>
        </p:txBody>
      </p:sp>
      <p:sp>
        <p:nvSpPr>
          <p:cNvPr id="39939" name="TextBox 3"/>
          <p:cNvSpPr txBox="1">
            <a:spLocks noChangeArrowheads="1"/>
          </p:cNvSpPr>
          <p:nvPr/>
        </p:nvSpPr>
        <p:spPr bwMode="auto">
          <a:xfrm>
            <a:off x="838200" y="2057400"/>
            <a:ext cx="7696200"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50000"/>
              </a:lnSpc>
            </a:pPr>
            <a:r>
              <a:rPr lang="en-US">
                <a:latin typeface="Times New Roman" pitchFamily="18" charset="0"/>
                <a:cs typeface="Times New Roman" pitchFamily="18" charset="0"/>
              </a:rPr>
              <a:t>If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 exists, number of columns of [</a:t>
            </a:r>
            <a:r>
              <a:rPr lang="en-US" i="1">
                <a:latin typeface="Times New Roman" pitchFamily="18" charset="0"/>
                <a:cs typeface="Times New Roman" pitchFamily="18" charset="0"/>
              </a:rPr>
              <a:t>A</a:t>
            </a:r>
            <a:r>
              <a:rPr lang="en-US">
                <a:latin typeface="Times New Roman" pitchFamily="18" charset="0"/>
                <a:cs typeface="Times New Roman" pitchFamily="18" charset="0"/>
              </a:rPr>
              <a:t>] has to be same as the number of rows of [</a:t>
            </a:r>
            <a:r>
              <a:rPr lang="en-US" i="1">
                <a:latin typeface="Times New Roman" pitchFamily="18" charset="0"/>
                <a:cs typeface="Times New Roman" pitchFamily="18" charset="0"/>
              </a:rPr>
              <a:t>B</a:t>
            </a:r>
            <a:r>
              <a:rPr lang="en-US">
                <a:latin typeface="Times New Roman" pitchFamily="18" charset="0"/>
                <a:cs typeface="Times New Roman" pitchFamily="18" charset="0"/>
              </a:rPr>
              <a:t>] and if [</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 exists, number of columns of [</a:t>
            </a:r>
            <a:r>
              <a:rPr lang="en-US" i="1">
                <a:latin typeface="Times New Roman" pitchFamily="18" charset="0"/>
                <a:cs typeface="Times New Roman" pitchFamily="18" charset="0"/>
              </a:rPr>
              <a:t>B</a:t>
            </a:r>
            <a:r>
              <a:rPr lang="en-US">
                <a:latin typeface="Times New Roman" pitchFamily="18" charset="0"/>
                <a:cs typeface="Times New Roman" pitchFamily="18" charset="0"/>
              </a:rPr>
              <a:t>] has to be same as the number of rows of [</a:t>
            </a:r>
            <a:r>
              <a:rPr lang="en-US" i="1">
                <a:latin typeface="Times New Roman" pitchFamily="18" charset="0"/>
                <a:cs typeface="Times New Roman" pitchFamily="18" charset="0"/>
              </a:rPr>
              <a:t>A</a:t>
            </a:r>
            <a:r>
              <a:rPr lang="en-US">
                <a:latin typeface="Times New Roman" pitchFamily="18" charset="0"/>
                <a:cs typeface="Times New Roman" pitchFamily="18" charset="0"/>
              </a:rPr>
              <a:t>]. </a:t>
            </a:r>
          </a:p>
          <a:p>
            <a:pPr eaLnBrk="1" hangingPunct="1">
              <a:lnSpc>
                <a:spcPct val="150000"/>
              </a:lnSpc>
            </a:pPr>
            <a:endParaRPr lang="en-US">
              <a:latin typeface="Times New Roman" pitchFamily="18" charset="0"/>
              <a:cs typeface="Times New Roman" pitchFamily="18" charset="0"/>
            </a:endParaRPr>
          </a:p>
          <a:p>
            <a:pPr eaLnBrk="1" hangingPunct="1">
              <a:lnSpc>
                <a:spcPct val="150000"/>
              </a:lnSpc>
            </a:pPr>
            <a:r>
              <a:rPr lang="en-US">
                <a:latin typeface="Times New Roman" pitchFamily="18" charset="0"/>
                <a:cs typeface="Times New Roman" pitchFamily="18" charset="0"/>
              </a:rPr>
              <a:t>Now for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 the resulting matrix from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 and [</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 has to be of the same size. This is only possible if [</a:t>
            </a:r>
            <a:r>
              <a:rPr lang="en-US" i="1">
                <a:latin typeface="Times New Roman" pitchFamily="18" charset="0"/>
                <a:cs typeface="Times New Roman" pitchFamily="18" charset="0"/>
              </a:rPr>
              <a:t>A</a:t>
            </a:r>
            <a:r>
              <a:rPr lang="en-US">
                <a:latin typeface="Times New Roman" pitchFamily="18" charset="0"/>
                <a:cs typeface="Times New Roman" pitchFamily="18" charset="0"/>
              </a:rPr>
              <a:t>] and [B] are square and are of the same size. Even then in general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p>
        </p:txBody>
      </p:sp>
    </p:spTree>
    <p:extLst>
      <p:ext uri="{BB962C8B-B14F-4D97-AF65-F5344CB8AC3E}">
        <p14:creationId xmlns:p14="http://schemas.microsoft.com/office/powerpoint/2010/main" val="299275835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itle 1"/>
          <p:cNvSpPr>
            <a:spLocks noGrp="1"/>
          </p:cNvSpPr>
          <p:nvPr>
            <p:ph type="title"/>
          </p:nvPr>
        </p:nvSpPr>
        <p:spPr/>
        <p:txBody>
          <a:bodyPr/>
          <a:lstStyle/>
          <a:p>
            <a:r>
              <a:rPr lang="en-US" smtClean="0"/>
              <a:t>Example 10</a:t>
            </a:r>
          </a:p>
        </p:txBody>
      </p:sp>
      <p:sp>
        <p:nvSpPr>
          <p:cNvPr id="30724" name="TextBox 3"/>
          <p:cNvSpPr txBox="1">
            <a:spLocks noChangeArrowheads="1"/>
          </p:cNvSpPr>
          <p:nvPr/>
        </p:nvSpPr>
        <p:spPr bwMode="auto">
          <a:xfrm>
            <a:off x="762000" y="1905000"/>
            <a:ext cx="3352800"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50000"/>
              </a:lnSpc>
            </a:pPr>
            <a:r>
              <a:rPr lang="en-US">
                <a:latin typeface="Times New Roman" pitchFamily="18" charset="0"/>
                <a:cs typeface="Times New Roman" pitchFamily="18" charset="0"/>
              </a:rPr>
              <a:t>Determine if </a:t>
            </a:r>
          </a:p>
          <a:p>
            <a:pPr eaLnBrk="1" hangingPunct="1">
              <a:lnSpc>
                <a:spcPct val="150000"/>
              </a:lnSpc>
            </a:pPr>
            <a:r>
              <a:rPr lang="en-US">
                <a:latin typeface="Times New Roman" pitchFamily="18" charset="0"/>
                <a:cs typeface="Times New Roman" pitchFamily="18" charset="0"/>
              </a:rPr>
              <a:t>	[</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B</a:t>
            </a:r>
            <a:r>
              <a:rPr lang="en-US">
                <a:latin typeface="Times New Roman" pitchFamily="18" charset="0"/>
                <a:cs typeface="Times New Roman" pitchFamily="18" charset="0"/>
              </a:rPr>
              <a:t>][</a:t>
            </a:r>
            <a:r>
              <a:rPr lang="en-US" i="1">
                <a:latin typeface="Times New Roman" pitchFamily="18" charset="0"/>
                <a:cs typeface="Times New Roman" pitchFamily="18" charset="0"/>
              </a:rPr>
              <a:t>A</a:t>
            </a:r>
            <a:r>
              <a:rPr lang="en-US">
                <a:latin typeface="Times New Roman" pitchFamily="18" charset="0"/>
                <a:cs typeface="Times New Roman" pitchFamily="18" charset="0"/>
              </a:rPr>
              <a:t>]</a:t>
            </a:r>
          </a:p>
          <a:p>
            <a:pPr eaLnBrk="1" hangingPunct="1">
              <a:lnSpc>
                <a:spcPct val="150000"/>
              </a:lnSpc>
            </a:pPr>
            <a:r>
              <a:rPr lang="en-US">
                <a:latin typeface="Times New Roman" pitchFamily="18" charset="0"/>
                <a:cs typeface="Times New Roman" pitchFamily="18" charset="0"/>
              </a:rPr>
              <a:t>for the following matrices</a:t>
            </a:r>
          </a:p>
        </p:txBody>
      </p:sp>
      <p:sp>
        <p:nvSpPr>
          <p:cNvPr id="3072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0722" name="Object 1"/>
          <p:cNvGraphicFramePr>
            <a:graphicFrameLocks noChangeAspect="1"/>
          </p:cNvGraphicFramePr>
          <p:nvPr/>
        </p:nvGraphicFramePr>
        <p:xfrm>
          <a:off x="1371600" y="4114800"/>
          <a:ext cx="6324600" cy="1541463"/>
        </p:xfrm>
        <a:graphic>
          <a:graphicData uri="http://schemas.openxmlformats.org/presentationml/2006/ole">
            <mc:AlternateContent xmlns:mc="http://schemas.openxmlformats.org/markup-compatibility/2006">
              <mc:Choice xmlns:v="urn:schemas-microsoft-com:vml" Requires="v">
                <p:oleObj spid="_x0000_s158725" name="Equation" r:id="rId3" imgW="1879600" imgH="457200" progId="Equation.3">
                  <p:embed/>
                </p:oleObj>
              </mc:Choice>
              <mc:Fallback>
                <p:oleObj name="Equation" r:id="rId3" imgW="187960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4114800"/>
                        <a:ext cx="6324600" cy="154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0335023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3" name="Title 1"/>
          <p:cNvSpPr>
            <a:spLocks noGrp="1"/>
          </p:cNvSpPr>
          <p:nvPr>
            <p:ph type="title"/>
          </p:nvPr>
        </p:nvSpPr>
        <p:spPr/>
        <p:txBody>
          <a:bodyPr/>
          <a:lstStyle/>
          <a:p>
            <a:r>
              <a:rPr lang="en-US" smtClean="0"/>
              <a:t>Example 10 (cont.)</a:t>
            </a:r>
          </a:p>
        </p:txBody>
      </p:sp>
      <p:sp>
        <p:nvSpPr>
          <p:cNvPr id="3175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1746" name="Object 1"/>
          <p:cNvGraphicFramePr>
            <a:graphicFrameLocks noChangeAspect="1"/>
          </p:cNvGraphicFramePr>
          <p:nvPr/>
        </p:nvGraphicFramePr>
        <p:xfrm>
          <a:off x="762000" y="2341563"/>
          <a:ext cx="852488" cy="381000"/>
        </p:xfrm>
        <a:graphic>
          <a:graphicData uri="http://schemas.openxmlformats.org/presentationml/2006/ole">
            <mc:AlternateContent xmlns:mc="http://schemas.openxmlformats.org/markup-compatibility/2006">
              <mc:Choice xmlns:v="urn:schemas-microsoft-com:vml" Requires="v">
                <p:oleObj spid="_x0000_s159767" name="Equation" r:id="rId3" imgW="444307" imgH="203112" progId="Equation.3">
                  <p:embed/>
                </p:oleObj>
              </mc:Choice>
              <mc:Fallback>
                <p:oleObj name="Equation" r:id="rId3" imgW="444307"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341563"/>
                        <a:ext cx="852488"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1747" name="Object 3"/>
          <p:cNvGraphicFramePr>
            <a:graphicFrameLocks noChangeAspect="1"/>
          </p:cNvGraphicFramePr>
          <p:nvPr/>
        </p:nvGraphicFramePr>
        <p:xfrm>
          <a:off x="1600200" y="2189163"/>
          <a:ext cx="1981200" cy="785812"/>
        </p:xfrm>
        <a:graphic>
          <a:graphicData uri="http://schemas.openxmlformats.org/presentationml/2006/ole">
            <mc:AlternateContent xmlns:mc="http://schemas.openxmlformats.org/markup-compatibility/2006">
              <mc:Choice xmlns:v="urn:schemas-microsoft-com:vml" Requires="v">
                <p:oleObj spid="_x0000_s159768" name="Equation" r:id="rId5" imgW="1155700" imgH="457200" progId="Equation.3">
                  <p:embed/>
                </p:oleObj>
              </mc:Choice>
              <mc:Fallback>
                <p:oleObj name="Equation" r:id="rId5" imgW="11557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2189163"/>
                        <a:ext cx="1981200"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1748" name="Object 5"/>
          <p:cNvGraphicFramePr>
            <a:graphicFrameLocks noChangeAspect="1"/>
          </p:cNvGraphicFramePr>
          <p:nvPr/>
        </p:nvGraphicFramePr>
        <p:xfrm>
          <a:off x="1600200" y="3255963"/>
          <a:ext cx="1676400" cy="914400"/>
        </p:xfrm>
        <a:graphic>
          <a:graphicData uri="http://schemas.openxmlformats.org/presentationml/2006/ole">
            <mc:AlternateContent xmlns:mc="http://schemas.openxmlformats.org/markup-compatibility/2006">
              <mc:Choice xmlns:v="urn:schemas-microsoft-com:vml" Requires="v">
                <p:oleObj spid="_x0000_s159769" name="Equation" r:id="rId7" imgW="838080" imgH="457200" progId="Equation.3">
                  <p:embed/>
                </p:oleObj>
              </mc:Choice>
              <mc:Fallback>
                <p:oleObj name="Equation" r:id="rId7" imgW="838080" imgH="457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3255963"/>
                        <a:ext cx="16764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7"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1749" name="Object 7"/>
          <p:cNvGraphicFramePr>
            <a:graphicFrameLocks noChangeAspect="1"/>
          </p:cNvGraphicFramePr>
          <p:nvPr/>
        </p:nvGraphicFramePr>
        <p:xfrm>
          <a:off x="4800600" y="2259013"/>
          <a:ext cx="914400" cy="407987"/>
        </p:xfrm>
        <a:graphic>
          <a:graphicData uri="http://schemas.openxmlformats.org/presentationml/2006/ole">
            <mc:AlternateContent xmlns:mc="http://schemas.openxmlformats.org/markup-compatibility/2006">
              <mc:Choice xmlns:v="urn:schemas-microsoft-com:vml" Requires="v">
                <p:oleObj spid="_x0000_s159770" name="Equation" r:id="rId9" imgW="444307" imgH="203112" progId="Equation.3">
                  <p:embed/>
                </p:oleObj>
              </mc:Choice>
              <mc:Fallback>
                <p:oleObj name="Equation" r:id="rId9" imgW="444307" imgH="2031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0600" y="2259013"/>
                        <a:ext cx="914400"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8"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1750" name="Object 9"/>
          <p:cNvGraphicFramePr>
            <a:graphicFrameLocks noChangeAspect="1"/>
          </p:cNvGraphicFramePr>
          <p:nvPr/>
        </p:nvGraphicFramePr>
        <p:xfrm>
          <a:off x="5715000" y="2078038"/>
          <a:ext cx="2060575" cy="817562"/>
        </p:xfrm>
        <a:graphic>
          <a:graphicData uri="http://schemas.openxmlformats.org/presentationml/2006/ole">
            <mc:AlternateContent xmlns:mc="http://schemas.openxmlformats.org/markup-compatibility/2006">
              <mc:Choice xmlns:v="urn:schemas-microsoft-com:vml" Requires="v">
                <p:oleObj spid="_x0000_s159771" name="Equation" r:id="rId11" imgW="1155700" imgH="457200" progId="Equation.3">
                  <p:embed/>
                </p:oleObj>
              </mc:Choice>
              <mc:Fallback>
                <p:oleObj name="Equation" r:id="rId11" imgW="1155700" imgH="4572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0" y="2078038"/>
                        <a:ext cx="2060575" cy="817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9"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1751" name="Object 11"/>
          <p:cNvGraphicFramePr>
            <a:graphicFrameLocks noChangeAspect="1"/>
          </p:cNvGraphicFramePr>
          <p:nvPr/>
        </p:nvGraphicFramePr>
        <p:xfrm>
          <a:off x="5715000" y="3235325"/>
          <a:ext cx="1773238" cy="955675"/>
        </p:xfrm>
        <a:graphic>
          <a:graphicData uri="http://schemas.openxmlformats.org/presentationml/2006/ole">
            <mc:AlternateContent xmlns:mc="http://schemas.openxmlformats.org/markup-compatibility/2006">
              <mc:Choice xmlns:v="urn:schemas-microsoft-com:vml" Requires="v">
                <p:oleObj spid="_x0000_s159772" name="Equation" r:id="rId13" imgW="850900" imgH="457200" progId="Equation.3">
                  <p:embed/>
                </p:oleObj>
              </mc:Choice>
              <mc:Fallback>
                <p:oleObj name="Equation" r:id="rId13" imgW="850900" imgH="4572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15000" y="3235325"/>
                        <a:ext cx="1773238" cy="955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60" name="Rectangle 1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aphicFrame>
        <p:nvGraphicFramePr>
          <p:cNvPr id="31752" name="Object 13"/>
          <p:cNvGraphicFramePr>
            <a:graphicFrameLocks noChangeAspect="1"/>
          </p:cNvGraphicFramePr>
          <p:nvPr/>
        </p:nvGraphicFramePr>
        <p:xfrm>
          <a:off x="1676400" y="5399088"/>
          <a:ext cx="2286000" cy="457200"/>
        </p:xfrm>
        <a:graphic>
          <a:graphicData uri="http://schemas.openxmlformats.org/presentationml/2006/ole">
            <mc:AlternateContent xmlns:mc="http://schemas.openxmlformats.org/markup-compatibility/2006">
              <mc:Choice xmlns:v="urn:schemas-microsoft-com:vml" Requires="v">
                <p:oleObj spid="_x0000_s159773" name="Equation" r:id="rId15" imgW="1002865" imgH="203112" progId="Equation.3">
                  <p:embed/>
                </p:oleObj>
              </mc:Choice>
              <mc:Fallback>
                <p:oleObj name="Equation" r:id="rId15" imgW="1002865" imgH="203112"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5399088"/>
                        <a:ext cx="22860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61" name="TextBox 17"/>
          <p:cNvSpPr txBox="1">
            <a:spLocks noChangeArrowheads="1"/>
          </p:cNvSpPr>
          <p:nvPr/>
        </p:nvSpPr>
        <p:spPr bwMode="auto">
          <a:xfrm>
            <a:off x="685800" y="5029200"/>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atin typeface="Times New Roman" pitchFamily="18" charset="0"/>
                <a:cs typeface="Times New Roman" pitchFamily="18" charset="0"/>
              </a:rPr>
              <a:t>Therefore</a:t>
            </a:r>
          </a:p>
        </p:txBody>
      </p:sp>
    </p:spTree>
    <p:extLst>
      <p:ext uri="{BB962C8B-B14F-4D97-AF65-F5344CB8AC3E}">
        <p14:creationId xmlns:p14="http://schemas.microsoft.com/office/powerpoint/2010/main" val="221199901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XPANDSHOWBAR" val="True"/>
  <p:tag name="ANSWERNOWTEXT" val="Answer Now"/>
  <p:tag name="RESPTABLESTYLE" val="-1"/>
  <p:tag name="ALLOWDUPLICATES" val="False"/>
  <p:tag name="AUTOADVANCE" val="False"/>
  <p:tag name="STDCHART" val="1"/>
  <p:tag name="SKIPREMAININGRACESLIDES" val="True"/>
  <p:tag name="BUBBLENAMEVISIBLE" val="True"/>
  <p:tag name="DEFAULTNUMTEAMS" val="5"/>
  <p:tag name="CUSTOMCELLBACKCOLOR2" val="-13395457"/>
  <p:tag name="DISPLAYNAME" val="True"/>
  <p:tag name="GRIDROTATIONINTERVAL" val="2"/>
  <p:tag name="POLLINGCYCLE" val="2"/>
  <p:tag name="INCLUDENONRESPONDERS" val="False"/>
  <p:tag name="ALLOWUSERFEEDBACK" val="True"/>
  <p:tag name="REALTIMEBACKUPPATH" val="(None)"/>
  <p:tag name="ADVANCEDSETTINGSVIEW" val="False"/>
  <p:tag name="FIBDISPLAYKEYWORDS" val="True"/>
  <p:tag name="PRRESPONSE4" val="7"/>
  <p:tag name="PRRESPONSE8" val="3"/>
  <p:tag name="TPVERSION" val="2008"/>
  <p:tag name="BULLETTYPE" val="3"/>
  <p:tag name="RESPCOUNTERFORMAT" val="0"/>
  <p:tag name="BACKUPSESSIONS" val="True"/>
  <p:tag name="ROTATIONINTERVAL" val="2"/>
  <p:tag name="RACEANIMATIONSPEED" val="3"/>
  <p:tag name="BUBBLESIZEVISIBLE" val="True"/>
  <p:tag name="CUSTOMCELLFORECOLOR" val="-16777216"/>
  <p:tag name="USESCHEMECOLORS" val="True"/>
  <p:tag name="AUTOSIZEGRID" val="True"/>
  <p:tag name="CHARTLABELS" val="1"/>
  <p:tag name="INCLUDEPPT" val="True"/>
  <p:tag name="ZEROBASED" val="False"/>
  <p:tag name="FIBNUMRESULTS" val="5"/>
  <p:tag name="PRRESPONSE3" val="8"/>
  <p:tag name="PRRESPONSE9" val="2"/>
  <p:tag name="SHOWBARVISIBLE" val="True"/>
  <p:tag name="RESPCOUNTERSTYLE" val="-1"/>
  <p:tag name="BACKUPMAINTENANCE" val="7"/>
  <p:tag name="RACEENDPOINTS" val="100"/>
  <p:tag name="MAXRESPONDERS" val="5"/>
  <p:tag name="CUSTOMCELLBACKCOLOR1" val="-657956"/>
  <p:tag name="DISPLAYDEVICEID" val="True"/>
  <p:tag name="CHARTCOLORS" val="0"/>
  <p:tag name="CORRECTPOINTVALUE" val="100"/>
  <p:tag name="CHARTSCALE" val="True"/>
  <p:tag name="PRRESPONSE2" val="9"/>
  <p:tag name="PRRESPONSE10" val="1"/>
  <p:tag name="ANSWERNOWSTYLE" val="-1"/>
  <p:tag name="NUMRESPONSES" val="1"/>
  <p:tag name="RACERSMAXDISPLAYED" val="5"/>
  <p:tag name="BUBBLEGROUPING" val="3"/>
  <p:tag name="DISPLAYDEVICENUMBER" val="True"/>
  <p:tag name="RESETCHARTS" val="True"/>
  <p:tag name="REALTIMEBACKUP" val="False"/>
  <p:tag name="PRRESPONSE1" val="10"/>
  <p:tag name="SHOWFLASHWARNING" val="True"/>
  <p:tag name="COUNTDOWNSECONDS" val="10"/>
  <p:tag name="AUTOUPDATEALIASES" val="True"/>
  <p:tag name="CUSTOMGRIDBACKCOLOR" val="-2830136"/>
  <p:tag name="GRIDSIZE" val="{Width=800, Height=600}"/>
  <p:tag name="INCORRECTPOINTVALUE" val="0"/>
  <p:tag name="PRRESPONSE5" val="6"/>
  <p:tag name="USESECONDARYMONITOR" val="True"/>
  <p:tag name="REVIEWONLY" val="False"/>
  <p:tag name="CUSTOMCELLBACKCOLOR3" val="-268652"/>
  <p:tag name="MULTIRESPDIVISOR" val="1"/>
  <p:tag name="FIBINCLUDEOTHER" val="True"/>
  <p:tag name="COUNTDOWNSTYLE" val="-1"/>
  <p:tag name="TEAMSINLEADERBOARD" val="5"/>
  <p:tag name="GRIDPOSITION" val="1"/>
  <p:tag name="PRRESPONSE6" val="5"/>
  <p:tag name="CHARTVALUEFORMAT" val="0%"/>
  <p:tag name="GRIDOPACITY" val="90"/>
  <p:tag name="PRRESPONSE7" val="4"/>
  <p:tag name="BUBBLEVALUEFORMAT" val="0.0"/>
  <p:tag name="FIBDISPLAYRESULTS" val="True"/>
  <p:tag name="CUSTOMCELLBACKCOLOR4" val="-8355712"/>
  <p:tag name="INPUTSOURCE" val="1"/>
  <p:tag name="POWERPOINTVERSION" val="12.0"/>
  <p:tag name="PARTICIPANTSINLEADERBOARD" val="5"/>
  <p:tag name="AUTOADJUSTPARTRANGE" val="True"/>
  <p:tag name="PARTLISTDEFAULT" val="1"/>
  <p:tag name="DELIMITERS" val="3.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1012</TotalTime>
  <Words>2181</Words>
  <Application>Microsoft Office PowerPoint</Application>
  <PresentationFormat>On-screen Show (4:3)</PresentationFormat>
  <Paragraphs>275</Paragraphs>
  <Slides>64</Slides>
  <Notes>12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2" baseType="lpstr">
      <vt:lpstr>Arial</vt:lpstr>
      <vt:lpstr>Calibri</vt:lpstr>
      <vt:lpstr>Constantia</vt:lpstr>
      <vt:lpstr>Corbel</vt:lpstr>
      <vt:lpstr>Times New Roman</vt:lpstr>
      <vt:lpstr>Wingdings 2</vt:lpstr>
      <vt:lpstr>Flow</vt:lpstr>
      <vt:lpstr>Equation</vt:lpstr>
      <vt:lpstr>Objectives</vt:lpstr>
      <vt:lpstr>What does a matrix look like?</vt:lpstr>
      <vt:lpstr>What is a matrix?</vt:lpstr>
      <vt:lpstr>What is a matrix?</vt:lpstr>
      <vt:lpstr>What is a matrix?</vt:lpstr>
      <vt:lpstr>What is a matrix?</vt:lpstr>
      <vt:lpstr>Special Types of Matrices</vt:lpstr>
      <vt:lpstr>What Is a Vector?</vt:lpstr>
      <vt:lpstr>Row Vector</vt:lpstr>
      <vt:lpstr>Column Vector</vt:lpstr>
      <vt:lpstr>Submatrix</vt:lpstr>
      <vt:lpstr>Square Matrix</vt:lpstr>
      <vt:lpstr>Example 4</vt:lpstr>
      <vt:lpstr>Upper Triangular Matrix</vt:lpstr>
      <vt:lpstr>Lower Triangular Matrix</vt:lpstr>
      <vt:lpstr>Diagonal Matrix</vt:lpstr>
      <vt:lpstr>Example 7</vt:lpstr>
      <vt:lpstr>Identity Matrix</vt:lpstr>
      <vt:lpstr>Zero Matrix</vt:lpstr>
      <vt:lpstr>Tridiagonal Matrix</vt:lpstr>
      <vt:lpstr>Non-square Matrix</vt:lpstr>
      <vt:lpstr>Example 11</vt:lpstr>
      <vt:lpstr>Diagonally Dominant Matrix</vt:lpstr>
      <vt:lpstr>Example 12</vt:lpstr>
      <vt:lpstr>Example 12 (cont.)</vt:lpstr>
      <vt:lpstr>Example 12 (cont.)</vt:lpstr>
      <vt:lpstr>Example 13</vt:lpstr>
      <vt:lpstr>Key Terms:</vt:lpstr>
      <vt:lpstr>PowerPoint Presentation</vt:lpstr>
      <vt:lpstr>Objectives</vt:lpstr>
      <vt:lpstr>Matrix Addition</vt:lpstr>
      <vt:lpstr>Example 1</vt:lpstr>
      <vt:lpstr>Example 1 (cont.)</vt:lpstr>
      <vt:lpstr>Example 2</vt:lpstr>
      <vt:lpstr>Example 2 (cont.)</vt:lpstr>
      <vt:lpstr>Example 2 (cont.)</vt:lpstr>
      <vt:lpstr>Matrix Subtraction</vt:lpstr>
      <vt:lpstr>Example 3</vt:lpstr>
      <vt:lpstr>Example 3 (cont.)</vt:lpstr>
      <vt:lpstr>Example 4</vt:lpstr>
      <vt:lpstr>Example 4 (cont.)</vt:lpstr>
      <vt:lpstr>Example 4 (cont.)</vt:lpstr>
      <vt:lpstr>Matrix Multiplication</vt:lpstr>
      <vt:lpstr>Matrix Multiplication</vt:lpstr>
      <vt:lpstr>Example 5</vt:lpstr>
      <vt:lpstr>Example 5 (cont.)</vt:lpstr>
      <vt:lpstr>Example 5 (cont.)</vt:lpstr>
      <vt:lpstr>Example 6</vt:lpstr>
      <vt:lpstr>Example 6 (cont.)</vt:lpstr>
      <vt:lpstr>Example 6 (cont.)</vt:lpstr>
      <vt:lpstr>Scalar Product Of a Constant And a Matrix</vt:lpstr>
      <vt:lpstr>Example 7</vt:lpstr>
      <vt:lpstr>Example (cont.)</vt:lpstr>
      <vt:lpstr>Combining Linear Matrices</vt:lpstr>
      <vt:lpstr>Example 8</vt:lpstr>
      <vt:lpstr>Example 8 (cont.)</vt:lpstr>
      <vt:lpstr>Binary Matrix Operations</vt:lpstr>
      <vt:lpstr>Binary Matrix Operations</vt:lpstr>
      <vt:lpstr>Example 9</vt:lpstr>
      <vt:lpstr>Example 9 (cont.)</vt:lpstr>
      <vt:lpstr>Example 9 (cont.)</vt:lpstr>
      <vt:lpstr>Is [A][B]=[B][A]?</vt:lpstr>
      <vt:lpstr>Example 10</vt:lpstr>
      <vt:lpstr>Example 10 (cont.)</vt:lpstr>
    </vt:vector>
  </TitlesOfParts>
  <Company>Engineering Computing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Putting AudioVisual Lectures on YouTube</dc:title>
  <dc:creator>Autar K Kaw</dc:creator>
  <cp:lastModifiedBy>DELL</cp:lastModifiedBy>
  <cp:revision>144</cp:revision>
  <dcterms:created xsi:type="dcterms:W3CDTF">2010-03-25T21:52:13Z</dcterms:created>
  <dcterms:modified xsi:type="dcterms:W3CDTF">2026-02-11T08:34:40Z</dcterms:modified>
</cp:coreProperties>
</file>